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6">
  <p:sldMasterIdLst>
    <p:sldMasterId id="2147483674" r:id="rId1"/>
    <p:sldMasterId id="2147483695" r:id="rId2"/>
    <p:sldMasterId id="2147483707" r:id="rId3"/>
  </p:sldMasterIdLst>
  <p:notesMasterIdLst>
    <p:notesMasterId r:id="rId23"/>
  </p:notesMasterIdLst>
  <p:sldIdLst>
    <p:sldId id="417" r:id="rId4"/>
    <p:sldId id="423" r:id="rId5"/>
    <p:sldId id="421" r:id="rId6"/>
    <p:sldId id="372" r:id="rId7"/>
    <p:sldId id="410" r:id="rId8"/>
    <p:sldId id="360" r:id="rId9"/>
    <p:sldId id="363" r:id="rId10"/>
    <p:sldId id="425" r:id="rId11"/>
    <p:sldId id="361" r:id="rId12"/>
    <p:sldId id="422" r:id="rId13"/>
    <p:sldId id="424" r:id="rId14"/>
    <p:sldId id="375" r:id="rId15"/>
    <p:sldId id="356" r:id="rId16"/>
    <p:sldId id="357" r:id="rId17"/>
    <p:sldId id="366" r:id="rId18"/>
    <p:sldId id="377" r:id="rId19"/>
    <p:sldId id="395" r:id="rId20"/>
    <p:sldId id="397" r:id="rId21"/>
    <p:sldId id="419" r:id="rId22"/>
  </p:sldIdLst>
  <p:sldSz cx="9144000" cy="6858000" type="screen4x3"/>
  <p:notesSz cx="6781800" cy="9926638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Bar-On" initials="DB" lastIdx="5" clrIdx="0">
    <p:extLst>
      <p:ext uri="{19B8F6BF-5375-455C-9EA6-DF929625EA0E}">
        <p15:presenceInfo xmlns:p15="http://schemas.microsoft.com/office/powerpoint/2012/main" userId="S-1-5-21-875234899-1626871297-367356602-11803" providerId="AD"/>
      </p:ext>
    </p:extLst>
  </p:cmAuthor>
  <p:cmAuthor id="2" name="David Bar-on" initials="DBo" lastIdx="7" clrIdx="1">
    <p:extLst>
      <p:ext uri="{19B8F6BF-5375-455C-9EA6-DF929625EA0E}">
        <p15:presenceInfo xmlns:p15="http://schemas.microsoft.com/office/powerpoint/2012/main" userId="S::dudyb@technion.ac.il::4f8ef7cd-8581-4879-baa9-cc749f29c0f4" providerId="AD"/>
      </p:ext>
    </p:extLst>
  </p:cmAuthor>
  <p:cmAuthor id="3" name="Eyal Lev" initials="EL" lastIdx="4" clrIdx="2">
    <p:extLst>
      <p:ext uri="{19B8F6BF-5375-455C-9EA6-DF929625EA0E}">
        <p15:presenceInfo xmlns:p15="http://schemas.microsoft.com/office/powerpoint/2012/main" userId="Eyal Le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3333CC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886" autoAdjust="0"/>
    <p:restoredTop sz="94591" autoAdjust="0"/>
  </p:normalViewPr>
  <p:slideViewPr>
    <p:cSldViewPr>
      <p:cViewPr varScale="1">
        <p:scale>
          <a:sx n="111" d="100"/>
          <a:sy n="111" d="100"/>
        </p:scale>
        <p:origin x="175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43338" y="0"/>
            <a:ext cx="29384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384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4875"/>
            <a:ext cx="54260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43338" y="9428163"/>
            <a:ext cx="293846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9428163"/>
            <a:ext cx="293846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B0EA2CB-9693-432C-B07B-7C2E2F27AEF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646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he-IL">
              <a:latin typeface="Arial" charset="0"/>
              <a:cs typeface="Arial" charset="0"/>
            </a:endParaRPr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16A97C-5D5A-4DB2-BFAB-881B8CB015BB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768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99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6EC113-5EF6-48E9-9CE4-D869B359D9CF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F391A-EBEF-4E17-8774-1E7237B3506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2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>
            <a:lvl1pPr marL="342900" indent="-3429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</a:defRPr>
            </a:lvl1pPr>
            <a:lvl2pPr marL="7429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2pPr>
            <a:lvl3pPr marL="12001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3pPr>
            <a:lvl4pPr marL="16573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4pPr>
            <a:lvl5pPr marL="21145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33C76-4298-43FB-B1BD-0F0829E2ADDB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7" name="Group 164"/>
          <p:cNvGrpSpPr>
            <a:grpSpLocks/>
          </p:cNvGrpSpPr>
          <p:nvPr userDrawn="1"/>
        </p:nvGrpSpPr>
        <p:grpSpPr bwMode="auto">
          <a:xfrm>
            <a:off x="7071932" y="137319"/>
            <a:ext cx="1895475" cy="792162"/>
            <a:chOff x="3467" y="348"/>
            <a:chExt cx="831" cy="380"/>
          </a:xfrm>
        </p:grpSpPr>
        <p:sp>
          <p:nvSpPr>
            <p:cNvPr id="8" name="Freeform 110"/>
            <p:cNvSpPr>
              <a:spLocks/>
            </p:cNvSpPr>
            <p:nvPr/>
          </p:nvSpPr>
          <p:spPr bwMode="auto">
            <a:xfrm flipV="1">
              <a:off x="3467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2857 w 27"/>
                <a:gd name="T3" fmla="*/ 56651 h 50"/>
                <a:gd name="T4" fmla="*/ 11276 w 27"/>
                <a:gd name="T5" fmla="*/ 56651 h 50"/>
                <a:gd name="T6" fmla="*/ 11276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276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111"/>
            <p:cNvSpPr>
              <a:spLocks/>
            </p:cNvSpPr>
            <p:nvPr/>
          </p:nvSpPr>
          <p:spPr bwMode="auto">
            <a:xfrm flipV="1">
              <a:off x="3511" y="363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608 w 34"/>
                <a:gd name="T3" fmla="*/ 58838 h 38"/>
                <a:gd name="T4" fmla="*/ 10140 w 34"/>
                <a:gd name="T5" fmla="*/ 50732 h 38"/>
                <a:gd name="T6" fmla="*/ 1 w 34"/>
                <a:gd name="T7" fmla="*/ 58838 h 38"/>
                <a:gd name="T8" fmla="*/ 0 w 34"/>
                <a:gd name="T9" fmla="*/ 54814 h 38"/>
                <a:gd name="T10" fmla="*/ 1 w 34"/>
                <a:gd name="T11" fmla="*/ 50732 h 38"/>
                <a:gd name="T12" fmla="*/ 3304 w 34"/>
                <a:gd name="T13" fmla="*/ 46622 h 38"/>
                <a:gd name="T14" fmla="*/ 4373 w 34"/>
                <a:gd name="T15" fmla="*/ 40842 h 38"/>
                <a:gd name="T16" fmla="*/ 4373 w 34"/>
                <a:gd name="T17" fmla="*/ 37800 h 38"/>
                <a:gd name="T18" fmla="*/ 1 w 34"/>
                <a:gd name="T19" fmla="*/ 0 h 38"/>
                <a:gd name="T20" fmla="*/ 2496 w 34"/>
                <a:gd name="T21" fmla="*/ 0 h 38"/>
                <a:gd name="T22" fmla="*/ 10948 w 34"/>
                <a:gd name="T23" fmla="*/ 10068 h 38"/>
                <a:gd name="T24" fmla="*/ 13421 w 34"/>
                <a:gd name="T25" fmla="*/ 39899 h 38"/>
                <a:gd name="T26" fmla="*/ 20224 w 34"/>
                <a:gd name="T27" fmla="*/ 51197 h 38"/>
                <a:gd name="T28" fmla="*/ 27883 w 34"/>
                <a:gd name="T29" fmla="*/ 30812 h 38"/>
                <a:gd name="T30" fmla="*/ 17763 w 34"/>
                <a:gd name="T31" fmla="*/ 7502 h 38"/>
                <a:gd name="T32" fmla="*/ 12335 w 34"/>
                <a:gd name="T33" fmla="*/ 1 h 38"/>
                <a:gd name="T34" fmla="*/ 17763 w 34"/>
                <a:gd name="T35" fmla="*/ 0 h 38"/>
                <a:gd name="T36" fmla="*/ 37852 w 34"/>
                <a:gd name="T37" fmla="*/ 3081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4"/>
                <a:gd name="T58" fmla="*/ 0 h 38"/>
                <a:gd name="T59" fmla="*/ 34 w 34"/>
                <a:gd name="T60" fmla="*/ 38 h 3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4" h="38">
                  <a:moveTo>
                    <a:pt x="34" y="20"/>
                  </a:moveTo>
                  <a:cubicBezTo>
                    <a:pt x="34" y="31"/>
                    <a:pt x="28" y="38"/>
                    <a:pt x="20" y="38"/>
                  </a:cubicBezTo>
                  <a:cubicBezTo>
                    <a:pt x="14" y="38"/>
                    <a:pt x="12" y="36"/>
                    <a:pt x="9" y="32"/>
                  </a:cubicBezTo>
                  <a:cubicBezTo>
                    <a:pt x="7" y="34"/>
                    <a:pt x="3" y="37"/>
                    <a:pt x="1" y="38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34"/>
                    <a:pt x="1" y="33"/>
                    <a:pt x="1" y="32"/>
                  </a:cubicBezTo>
                  <a:lnTo>
                    <a:pt x="3" y="30"/>
                  </a:lnTo>
                  <a:cubicBezTo>
                    <a:pt x="4" y="28"/>
                    <a:pt x="4" y="28"/>
                    <a:pt x="4" y="26"/>
                  </a:cubicBezTo>
                  <a:cubicBezTo>
                    <a:pt x="4" y="25"/>
                    <a:pt x="4" y="25"/>
                    <a:pt x="4" y="24"/>
                  </a:cubicBezTo>
                  <a:lnTo>
                    <a:pt x="1" y="0"/>
                  </a:ln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9" y="3"/>
                    <a:pt x="10" y="7"/>
                  </a:cubicBezTo>
                  <a:lnTo>
                    <a:pt x="12" y="25"/>
                  </a:lnTo>
                  <a:cubicBezTo>
                    <a:pt x="13" y="30"/>
                    <a:pt x="15" y="33"/>
                    <a:pt x="18" y="33"/>
                  </a:cubicBezTo>
                  <a:cubicBezTo>
                    <a:pt x="22" y="33"/>
                    <a:pt x="25" y="29"/>
                    <a:pt x="25" y="20"/>
                  </a:cubicBezTo>
                  <a:cubicBezTo>
                    <a:pt x="25" y="10"/>
                    <a:pt x="20" y="5"/>
                    <a:pt x="16" y="5"/>
                  </a:cubicBezTo>
                  <a:cubicBezTo>
                    <a:pt x="13" y="5"/>
                    <a:pt x="12" y="4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26" y="0"/>
                    <a:pt x="34" y="7"/>
                    <a:pt x="34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Freeform 112"/>
            <p:cNvSpPr>
              <a:spLocks noEditPoints="1"/>
            </p:cNvSpPr>
            <p:nvPr/>
          </p:nvSpPr>
          <p:spPr bwMode="auto">
            <a:xfrm flipV="1">
              <a:off x="3566" y="362"/>
              <a:ext cx="46" cy="52"/>
            </a:xfrm>
            <a:custGeom>
              <a:avLst/>
              <a:gdLst>
                <a:gd name="T0" fmla="*/ 20471 w 35"/>
                <a:gd name="T1" fmla="*/ 33173 h 39"/>
                <a:gd name="T2" fmla="*/ 20471 w 35"/>
                <a:gd name="T3" fmla="*/ 50975 h 39"/>
                <a:gd name="T4" fmla="*/ 11851 w 35"/>
                <a:gd name="T5" fmla="*/ 39909 h 39"/>
                <a:gd name="T6" fmla="*/ 11851 w 35"/>
                <a:gd name="T7" fmla="*/ 18660 h 39"/>
                <a:gd name="T8" fmla="*/ 20471 w 35"/>
                <a:gd name="T9" fmla="*/ 33173 h 39"/>
                <a:gd name="T10" fmla="*/ 32433 w 35"/>
                <a:gd name="T11" fmla="*/ 31956 h 39"/>
                <a:gd name="T12" fmla="*/ 32433 w 35"/>
                <a:gd name="T13" fmla="*/ 50975 h 39"/>
                <a:gd name="T14" fmla="*/ 24228 w 35"/>
                <a:gd name="T15" fmla="*/ 39909 h 39"/>
                <a:gd name="T16" fmla="*/ 24228 w 35"/>
                <a:gd name="T17" fmla="*/ 30476 h 39"/>
                <a:gd name="T18" fmla="*/ 11508 w 35"/>
                <a:gd name="T19" fmla="*/ 6540 h 39"/>
                <a:gd name="T20" fmla="*/ 9894 w 35"/>
                <a:gd name="T21" fmla="*/ 6540 h 39"/>
                <a:gd name="T22" fmla="*/ 7528 w 35"/>
                <a:gd name="T23" fmla="*/ 51785 h 39"/>
                <a:gd name="T24" fmla="*/ 0 w 35"/>
                <a:gd name="T25" fmla="*/ 39909 h 39"/>
                <a:gd name="T26" fmla="*/ 0 w 35"/>
                <a:gd name="T27" fmla="*/ 38839 h 39"/>
                <a:gd name="T28" fmla="*/ 3857 w 35"/>
                <a:gd name="T29" fmla="*/ 0 h 39"/>
                <a:gd name="T30" fmla="*/ 8756 w 35"/>
                <a:gd name="T31" fmla="*/ 0 h 39"/>
                <a:gd name="T32" fmla="*/ 32433 w 35"/>
                <a:gd name="T33" fmla="*/ 31956 h 3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5"/>
                <a:gd name="T52" fmla="*/ 0 h 39"/>
                <a:gd name="T53" fmla="*/ 35 w 35"/>
                <a:gd name="T54" fmla="*/ 39 h 3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5" h="39">
                  <a:moveTo>
                    <a:pt x="22" y="25"/>
                  </a:moveTo>
                  <a:lnTo>
                    <a:pt x="22" y="38"/>
                  </a:lnTo>
                  <a:cubicBezTo>
                    <a:pt x="17" y="38"/>
                    <a:pt x="13" y="36"/>
                    <a:pt x="13" y="30"/>
                  </a:cubicBezTo>
                  <a:lnTo>
                    <a:pt x="13" y="14"/>
                  </a:lnTo>
                  <a:cubicBezTo>
                    <a:pt x="18" y="15"/>
                    <a:pt x="22" y="18"/>
                    <a:pt x="22" y="25"/>
                  </a:cubicBezTo>
                  <a:close/>
                  <a:moveTo>
                    <a:pt x="35" y="24"/>
                  </a:moveTo>
                  <a:lnTo>
                    <a:pt x="35" y="38"/>
                  </a:lnTo>
                  <a:cubicBezTo>
                    <a:pt x="30" y="38"/>
                    <a:pt x="26" y="36"/>
                    <a:pt x="26" y="30"/>
                  </a:cubicBezTo>
                  <a:lnTo>
                    <a:pt x="26" y="23"/>
                  </a:lnTo>
                  <a:cubicBezTo>
                    <a:pt x="26" y="12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9"/>
                  </a:lnTo>
                  <a:cubicBezTo>
                    <a:pt x="2" y="38"/>
                    <a:pt x="0" y="34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4" y="0"/>
                    <a:pt x="35" y="10"/>
                    <a:pt x="35" y="24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Freeform 113"/>
            <p:cNvSpPr>
              <a:spLocks/>
            </p:cNvSpPr>
            <p:nvPr/>
          </p:nvSpPr>
          <p:spPr bwMode="auto">
            <a:xfrm flipV="1">
              <a:off x="3623" y="363"/>
              <a:ext cx="38" cy="52"/>
            </a:xfrm>
            <a:custGeom>
              <a:avLst/>
              <a:gdLst>
                <a:gd name="T0" fmla="*/ 25097 w 29"/>
                <a:gd name="T1" fmla="*/ 11276 h 39"/>
                <a:gd name="T2" fmla="*/ 25097 w 29"/>
                <a:gd name="T3" fmla="*/ 29129 h 39"/>
                <a:gd name="T4" fmla="*/ 9216 w 29"/>
                <a:gd name="T5" fmla="*/ 51785 h 39"/>
                <a:gd name="T6" fmla="*/ 0 w 29"/>
                <a:gd name="T7" fmla="*/ 48997 h 39"/>
                <a:gd name="T8" fmla="*/ 0 w 29"/>
                <a:gd name="T9" fmla="*/ 1 h 39"/>
                <a:gd name="T10" fmla="*/ 6497 w 29"/>
                <a:gd name="T11" fmla="*/ 11276 h 39"/>
                <a:gd name="T12" fmla="*/ 6497 w 29"/>
                <a:gd name="T13" fmla="*/ 45179 h 39"/>
                <a:gd name="T14" fmla="*/ 8513 w 29"/>
                <a:gd name="T15" fmla="*/ 45179 h 39"/>
                <a:gd name="T16" fmla="*/ 18514 w 29"/>
                <a:gd name="T17" fmla="*/ 29129 h 39"/>
                <a:gd name="T18" fmla="*/ 18514 w 29"/>
                <a:gd name="T19" fmla="*/ 0 h 39"/>
                <a:gd name="T20" fmla="*/ 25097 w 29"/>
                <a:gd name="T21" fmla="*/ 11276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"/>
                <a:gd name="T34" fmla="*/ 0 h 39"/>
                <a:gd name="T35" fmla="*/ 29 w 29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3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lnTo>
                    <a:pt x="0" y="1"/>
                  </a:lnTo>
                  <a:cubicBezTo>
                    <a:pt x="5" y="1"/>
                    <a:pt x="8" y="2"/>
                    <a:pt x="8" y="8"/>
                  </a:cubicBezTo>
                  <a:lnTo>
                    <a:pt x="8" y="34"/>
                  </a:lnTo>
                  <a:cubicBezTo>
                    <a:pt x="9" y="34"/>
                    <a:pt x="9" y="34"/>
                    <a:pt x="10" y="34"/>
                  </a:cubicBezTo>
                  <a:cubicBezTo>
                    <a:pt x="14" y="34"/>
                    <a:pt x="21" y="31"/>
                    <a:pt x="21" y="22"/>
                  </a:cubicBezTo>
                  <a:lnTo>
                    <a:pt x="21" y="0"/>
                  </a:lnTo>
                  <a:cubicBezTo>
                    <a:pt x="24" y="0"/>
                    <a:pt x="29" y="3"/>
                    <a:pt x="2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114"/>
            <p:cNvSpPr>
              <a:spLocks/>
            </p:cNvSpPr>
            <p:nvPr/>
          </p:nvSpPr>
          <p:spPr bwMode="auto">
            <a:xfrm flipV="1">
              <a:off x="3689" y="363"/>
              <a:ext cx="47" cy="52"/>
            </a:xfrm>
            <a:custGeom>
              <a:avLst/>
              <a:gdLst>
                <a:gd name="T0" fmla="*/ 55463 w 35"/>
                <a:gd name="T1" fmla="*/ 11627 h 39"/>
                <a:gd name="T2" fmla="*/ 55463 w 35"/>
                <a:gd name="T3" fmla="*/ 29129 h 39"/>
                <a:gd name="T4" fmla="*/ 27469 w 35"/>
                <a:gd name="T5" fmla="*/ 51785 h 39"/>
                <a:gd name="T6" fmla="*/ 4188 w 35"/>
                <a:gd name="T7" fmla="*/ 47519 h 39"/>
                <a:gd name="T8" fmla="*/ 9561 w 35"/>
                <a:gd name="T9" fmla="*/ 44231 h 39"/>
                <a:gd name="T10" fmla="*/ 9561 w 35"/>
                <a:gd name="T11" fmla="*/ 44231 h 39"/>
                <a:gd name="T12" fmla="*/ 9561 w 35"/>
                <a:gd name="T13" fmla="*/ 11276 h 39"/>
                <a:gd name="T14" fmla="*/ 5624 w 35"/>
                <a:gd name="T15" fmla="*/ 6540 h 39"/>
                <a:gd name="T16" fmla="*/ 4188 w 35"/>
                <a:gd name="T17" fmla="*/ 6540 h 39"/>
                <a:gd name="T18" fmla="*/ 4188 w 35"/>
                <a:gd name="T19" fmla="*/ 6540 h 39"/>
                <a:gd name="T20" fmla="*/ 0 w 35"/>
                <a:gd name="T21" fmla="*/ 2759 h 39"/>
                <a:gd name="T22" fmla="*/ 7552 w 35"/>
                <a:gd name="T23" fmla="*/ 0 h 39"/>
                <a:gd name="T24" fmla="*/ 23152 w 35"/>
                <a:gd name="T25" fmla="*/ 12857 h 39"/>
                <a:gd name="T26" fmla="*/ 23152 w 35"/>
                <a:gd name="T27" fmla="*/ 45179 h 39"/>
                <a:gd name="T28" fmla="*/ 24557 w 35"/>
                <a:gd name="T29" fmla="*/ 45179 h 39"/>
                <a:gd name="T30" fmla="*/ 41749 w 35"/>
                <a:gd name="T31" fmla="*/ 29129 h 39"/>
                <a:gd name="T32" fmla="*/ 41749 w 35"/>
                <a:gd name="T33" fmla="*/ 0 h 39"/>
                <a:gd name="T34" fmla="*/ 55463 w 35"/>
                <a:gd name="T35" fmla="*/ 11627 h 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5"/>
                <a:gd name="T55" fmla="*/ 0 h 39"/>
                <a:gd name="T56" fmla="*/ 35 w 35"/>
                <a:gd name="T57" fmla="*/ 39 h 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5" h="39">
                  <a:moveTo>
                    <a:pt x="35" y="9"/>
                  </a:moveTo>
                  <a:lnTo>
                    <a:pt x="35" y="22"/>
                  </a:lnTo>
                  <a:cubicBezTo>
                    <a:pt x="35" y="33"/>
                    <a:pt x="27" y="39"/>
                    <a:pt x="17" y="39"/>
                  </a:cubicBezTo>
                  <a:cubicBezTo>
                    <a:pt x="12" y="39"/>
                    <a:pt x="6" y="38"/>
                    <a:pt x="3" y="36"/>
                  </a:cubicBezTo>
                  <a:cubicBezTo>
                    <a:pt x="3" y="34"/>
                    <a:pt x="5" y="33"/>
                    <a:pt x="6" y="33"/>
                  </a:cubicBezTo>
                  <a:lnTo>
                    <a:pt x="6" y="8"/>
                  </a:lnTo>
                  <a:cubicBezTo>
                    <a:pt x="6" y="6"/>
                    <a:pt x="5" y="5"/>
                    <a:pt x="4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1" y="0"/>
                    <a:pt x="15" y="3"/>
                    <a:pt x="15" y="10"/>
                  </a:cubicBezTo>
                  <a:lnTo>
                    <a:pt x="15" y="34"/>
                  </a:lnTo>
                  <a:cubicBezTo>
                    <a:pt x="15" y="34"/>
                    <a:pt x="15" y="34"/>
                    <a:pt x="16" y="34"/>
                  </a:cubicBezTo>
                  <a:cubicBezTo>
                    <a:pt x="20" y="34"/>
                    <a:pt x="27" y="31"/>
                    <a:pt x="27" y="22"/>
                  </a:cubicBezTo>
                  <a:lnTo>
                    <a:pt x="27" y="0"/>
                  </a:lnTo>
                  <a:cubicBezTo>
                    <a:pt x="32" y="0"/>
                    <a:pt x="35" y="3"/>
                    <a:pt x="35" y="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15"/>
            <p:cNvSpPr>
              <a:spLocks noEditPoints="1"/>
            </p:cNvSpPr>
            <p:nvPr/>
          </p:nvSpPr>
          <p:spPr bwMode="auto">
            <a:xfrm flipV="1">
              <a:off x="3745" y="364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067 w 34"/>
                <a:gd name="T3" fmla="*/ 58838 h 38"/>
                <a:gd name="T4" fmla="*/ 0 w 34"/>
                <a:gd name="T5" fmla="*/ 58838 h 38"/>
                <a:gd name="T6" fmla="*/ 5788 w 34"/>
                <a:gd name="T7" fmla="*/ 51197 h 38"/>
                <a:gd name="T8" fmla="*/ 9320 w 34"/>
                <a:gd name="T9" fmla="*/ 51197 h 38"/>
                <a:gd name="T10" fmla="*/ 1 w 34"/>
                <a:gd name="T11" fmla="*/ 30812 h 38"/>
                <a:gd name="T12" fmla="*/ 19178 w 34"/>
                <a:gd name="T13" fmla="*/ 0 h 38"/>
                <a:gd name="T14" fmla="*/ 37852 w 34"/>
                <a:gd name="T15" fmla="*/ 30812 h 38"/>
                <a:gd name="T16" fmla="*/ 27883 w 34"/>
                <a:gd name="T17" fmla="*/ 30812 h 38"/>
                <a:gd name="T18" fmla="*/ 19178 w 34"/>
                <a:gd name="T19" fmla="*/ 7502 h 38"/>
                <a:gd name="T20" fmla="*/ 10948 w 34"/>
                <a:gd name="T21" fmla="*/ 30812 h 38"/>
                <a:gd name="T22" fmla="*/ 19178 w 34"/>
                <a:gd name="T23" fmla="*/ 53549 h 38"/>
                <a:gd name="T24" fmla="*/ 27883 w 34"/>
                <a:gd name="T25" fmla="*/ 30812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4"/>
                <a:gd name="T40" fmla="*/ 0 h 38"/>
                <a:gd name="T41" fmla="*/ 34 w 34"/>
                <a:gd name="T42" fmla="*/ 38 h 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4" h="38">
                  <a:moveTo>
                    <a:pt x="34" y="20"/>
                  </a:moveTo>
                  <a:cubicBezTo>
                    <a:pt x="34" y="30"/>
                    <a:pt x="28" y="38"/>
                    <a:pt x="19" y="38"/>
                  </a:cubicBezTo>
                  <a:lnTo>
                    <a:pt x="0" y="38"/>
                  </a:lnTo>
                  <a:cubicBezTo>
                    <a:pt x="0" y="36"/>
                    <a:pt x="2" y="33"/>
                    <a:pt x="5" y="33"/>
                  </a:cubicBezTo>
                  <a:lnTo>
                    <a:pt x="8" y="33"/>
                  </a:lnTo>
                  <a:cubicBezTo>
                    <a:pt x="4" y="32"/>
                    <a:pt x="1" y="27"/>
                    <a:pt x="1" y="20"/>
                  </a:cubicBezTo>
                  <a:cubicBezTo>
                    <a:pt x="1" y="9"/>
                    <a:pt x="8" y="0"/>
                    <a:pt x="17" y="0"/>
                  </a:cubicBezTo>
                  <a:cubicBezTo>
                    <a:pt x="26" y="0"/>
                    <a:pt x="34" y="8"/>
                    <a:pt x="34" y="20"/>
                  </a:cubicBezTo>
                  <a:close/>
                  <a:moveTo>
                    <a:pt x="25" y="20"/>
                  </a:moveTo>
                  <a:cubicBezTo>
                    <a:pt x="25" y="11"/>
                    <a:pt x="21" y="5"/>
                    <a:pt x="17" y="5"/>
                  </a:cubicBezTo>
                  <a:cubicBezTo>
                    <a:pt x="13" y="5"/>
                    <a:pt x="10" y="11"/>
                    <a:pt x="10" y="20"/>
                  </a:cubicBezTo>
                  <a:cubicBezTo>
                    <a:pt x="10" y="28"/>
                    <a:pt x="13" y="34"/>
                    <a:pt x="17" y="34"/>
                  </a:cubicBezTo>
                  <a:cubicBezTo>
                    <a:pt x="21" y="34"/>
                    <a:pt x="25" y="28"/>
                    <a:pt x="25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16"/>
            <p:cNvSpPr>
              <a:spLocks/>
            </p:cNvSpPr>
            <p:nvPr/>
          </p:nvSpPr>
          <p:spPr bwMode="auto">
            <a:xfrm flipV="1">
              <a:off x="3797" y="364"/>
              <a:ext cx="40" cy="51"/>
            </a:xfrm>
            <a:custGeom>
              <a:avLst/>
              <a:gdLst>
                <a:gd name="T0" fmla="*/ 39909 w 30"/>
                <a:gd name="T1" fmla="*/ 58838 h 38"/>
                <a:gd name="T2" fmla="*/ 0 w 30"/>
                <a:gd name="T3" fmla="*/ 58838 h 38"/>
                <a:gd name="T4" fmla="*/ 4905 w 30"/>
                <a:gd name="T5" fmla="*/ 51197 h 38"/>
                <a:gd name="T6" fmla="*/ 23967 w 30"/>
                <a:gd name="T7" fmla="*/ 51197 h 38"/>
                <a:gd name="T8" fmla="*/ 17143 w 30"/>
                <a:gd name="T9" fmla="*/ 41353 h 38"/>
                <a:gd name="T10" fmla="*/ 17143 w 30"/>
                <a:gd name="T11" fmla="*/ 0 h 38"/>
                <a:gd name="T12" fmla="*/ 27561 w 30"/>
                <a:gd name="T13" fmla="*/ 12746 h 38"/>
                <a:gd name="T14" fmla="*/ 27561 w 30"/>
                <a:gd name="T15" fmla="*/ 43840 h 38"/>
                <a:gd name="T16" fmla="*/ 35233 w 30"/>
                <a:gd name="T17" fmla="*/ 51197 h 38"/>
                <a:gd name="T18" fmla="*/ 35233 w 30"/>
                <a:gd name="T19" fmla="*/ 51197 h 38"/>
                <a:gd name="T20" fmla="*/ 39909 w 30"/>
                <a:gd name="T21" fmla="*/ 58838 h 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38"/>
                <a:gd name="T35" fmla="*/ 30 w 30"/>
                <a:gd name="T36" fmla="*/ 38 h 3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38">
                  <a:moveTo>
                    <a:pt x="30" y="38"/>
                  </a:moveTo>
                  <a:lnTo>
                    <a:pt x="0" y="38"/>
                  </a:lnTo>
                  <a:cubicBezTo>
                    <a:pt x="0" y="37"/>
                    <a:pt x="1" y="33"/>
                    <a:pt x="4" y="33"/>
                  </a:cubicBezTo>
                  <a:lnTo>
                    <a:pt x="18" y="33"/>
                  </a:lnTo>
                  <a:cubicBezTo>
                    <a:pt x="16" y="32"/>
                    <a:pt x="13" y="30"/>
                    <a:pt x="13" y="27"/>
                  </a:cubicBezTo>
                  <a:lnTo>
                    <a:pt x="13" y="0"/>
                  </a:lnTo>
                  <a:cubicBezTo>
                    <a:pt x="17" y="0"/>
                    <a:pt x="21" y="3"/>
                    <a:pt x="21" y="8"/>
                  </a:cubicBezTo>
                  <a:lnTo>
                    <a:pt x="21" y="28"/>
                  </a:lnTo>
                  <a:cubicBezTo>
                    <a:pt x="21" y="31"/>
                    <a:pt x="24" y="33"/>
                    <a:pt x="26" y="33"/>
                  </a:cubicBezTo>
                  <a:cubicBezTo>
                    <a:pt x="29" y="33"/>
                    <a:pt x="30" y="36"/>
                    <a:pt x="30" y="3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17"/>
            <p:cNvSpPr>
              <a:spLocks/>
            </p:cNvSpPr>
            <p:nvPr/>
          </p:nvSpPr>
          <p:spPr bwMode="auto">
            <a:xfrm flipV="1">
              <a:off x="3843" y="363"/>
              <a:ext cx="23" cy="49"/>
            </a:xfrm>
            <a:custGeom>
              <a:avLst/>
              <a:gdLst>
                <a:gd name="T0" fmla="*/ 32534 w 17"/>
                <a:gd name="T1" fmla="*/ 7110 h 37"/>
                <a:gd name="T2" fmla="*/ 32534 w 17"/>
                <a:gd name="T3" fmla="*/ 28963 h 37"/>
                <a:gd name="T4" fmla="*/ 9352 w 17"/>
                <a:gd name="T5" fmla="*/ 41657 h 37"/>
                <a:gd name="T6" fmla="*/ 0 w 17"/>
                <a:gd name="T7" fmla="*/ 41486 h 37"/>
                <a:gd name="T8" fmla="*/ 6912 w 17"/>
                <a:gd name="T9" fmla="*/ 35859 h 37"/>
                <a:gd name="T10" fmla="*/ 15590 w 17"/>
                <a:gd name="T11" fmla="*/ 28963 h 37"/>
                <a:gd name="T12" fmla="*/ 15590 w 17"/>
                <a:gd name="T13" fmla="*/ 5831 h 37"/>
                <a:gd name="T14" fmla="*/ 6912 w 17"/>
                <a:gd name="T15" fmla="*/ 5831 h 37"/>
                <a:gd name="T16" fmla="*/ 0 w 17"/>
                <a:gd name="T17" fmla="*/ 0 h 37"/>
                <a:gd name="T18" fmla="*/ 21092 w 17"/>
                <a:gd name="T19" fmla="*/ 0 h 37"/>
                <a:gd name="T20" fmla="*/ 32534 w 17"/>
                <a:gd name="T21" fmla="*/ 7110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"/>
                <a:gd name="T34" fmla="*/ 0 h 37"/>
                <a:gd name="T35" fmla="*/ 17 w 17"/>
                <a:gd name="T36" fmla="*/ 37 h 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" h="37">
                  <a:moveTo>
                    <a:pt x="17" y="6"/>
                  </a:moveTo>
                  <a:lnTo>
                    <a:pt x="17" y="26"/>
                  </a:lnTo>
                  <a:cubicBezTo>
                    <a:pt x="17" y="33"/>
                    <a:pt x="11" y="37"/>
                    <a:pt x="5" y="37"/>
                  </a:cubicBezTo>
                  <a:cubicBezTo>
                    <a:pt x="4" y="37"/>
                    <a:pt x="1" y="37"/>
                    <a:pt x="0" y="36"/>
                  </a:cubicBezTo>
                  <a:cubicBezTo>
                    <a:pt x="1" y="34"/>
                    <a:pt x="3" y="32"/>
                    <a:pt x="4" y="32"/>
                  </a:cubicBezTo>
                  <a:cubicBezTo>
                    <a:pt x="6" y="32"/>
                    <a:pt x="8" y="29"/>
                    <a:pt x="8" y="26"/>
                  </a:cubicBezTo>
                  <a:lnTo>
                    <a:pt x="8" y="5"/>
                  </a:lnTo>
                  <a:lnTo>
                    <a:pt x="4" y="5"/>
                  </a:lnTo>
                  <a:cubicBezTo>
                    <a:pt x="2" y="5"/>
                    <a:pt x="0" y="2"/>
                    <a:pt x="0" y="0"/>
                  </a:cubicBezTo>
                  <a:lnTo>
                    <a:pt x="11" y="0"/>
                  </a:lnTo>
                  <a:cubicBezTo>
                    <a:pt x="15" y="0"/>
                    <a:pt x="17" y="3"/>
                    <a:pt x="17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18"/>
            <p:cNvSpPr>
              <a:spLocks noEditPoints="1"/>
            </p:cNvSpPr>
            <p:nvPr/>
          </p:nvSpPr>
          <p:spPr bwMode="auto">
            <a:xfrm flipV="1">
              <a:off x="3875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555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0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119"/>
            <p:cNvSpPr>
              <a:spLocks/>
            </p:cNvSpPr>
            <p:nvPr/>
          </p:nvSpPr>
          <p:spPr bwMode="auto">
            <a:xfrm flipV="1">
              <a:off x="3923" y="348"/>
              <a:ext cx="35" cy="67"/>
            </a:xfrm>
            <a:custGeom>
              <a:avLst/>
              <a:gdLst>
                <a:gd name="T0" fmla="*/ 43370 w 26"/>
                <a:gd name="T1" fmla="*/ 42277 h 50"/>
                <a:gd name="T2" fmla="*/ 29465 w 26"/>
                <a:gd name="T3" fmla="*/ 56651 h 50"/>
                <a:gd name="T4" fmla="*/ 13728 w 26"/>
                <a:gd name="T5" fmla="*/ 56651 h 50"/>
                <a:gd name="T6" fmla="*/ 13728 w 26"/>
                <a:gd name="T7" fmla="*/ 75707 h 50"/>
                <a:gd name="T8" fmla="*/ 0 w 26"/>
                <a:gd name="T9" fmla="*/ 62185 h 50"/>
                <a:gd name="T10" fmla="*/ 0 w 26"/>
                <a:gd name="T11" fmla="*/ 49560 h 50"/>
                <a:gd name="T12" fmla="*/ 18480 w 26"/>
                <a:gd name="T13" fmla="*/ 49560 h 50"/>
                <a:gd name="T14" fmla="*/ 29786 w 26"/>
                <a:gd name="T15" fmla="*/ 39135 h 50"/>
                <a:gd name="T16" fmla="*/ 13728 w 26"/>
                <a:gd name="T17" fmla="*/ 9786 h 50"/>
                <a:gd name="T18" fmla="*/ 6320 w 26"/>
                <a:gd name="T19" fmla="*/ 0 h 50"/>
                <a:gd name="T20" fmla="*/ 43370 w 26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"/>
                <a:gd name="T34" fmla="*/ 0 h 50"/>
                <a:gd name="T35" fmla="*/ 26 w 26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" h="50">
                  <a:moveTo>
                    <a:pt x="26" y="28"/>
                  </a:moveTo>
                  <a:cubicBezTo>
                    <a:pt x="26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5" y="6"/>
                    <a:pt x="4" y="4"/>
                    <a:pt x="4" y="0"/>
                  </a:cubicBezTo>
                  <a:cubicBezTo>
                    <a:pt x="12" y="1"/>
                    <a:pt x="26" y="11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 120"/>
            <p:cNvSpPr>
              <a:spLocks noEditPoints="1"/>
            </p:cNvSpPr>
            <p:nvPr/>
          </p:nvSpPr>
          <p:spPr bwMode="auto">
            <a:xfrm flipV="1">
              <a:off x="3990" y="363"/>
              <a:ext cx="40" cy="52"/>
            </a:xfrm>
            <a:custGeom>
              <a:avLst/>
              <a:gdLst>
                <a:gd name="T0" fmla="*/ 39909 w 30"/>
                <a:gd name="T1" fmla="*/ 11276 h 39"/>
                <a:gd name="T2" fmla="*/ 39909 w 30"/>
                <a:gd name="T3" fmla="*/ 29129 h 39"/>
                <a:gd name="T4" fmla="*/ 15035 w 30"/>
                <a:gd name="T5" fmla="*/ 51785 h 39"/>
                <a:gd name="T6" fmla="*/ 0 w 30"/>
                <a:gd name="T7" fmla="*/ 48997 h 39"/>
                <a:gd name="T8" fmla="*/ 4905 w 30"/>
                <a:gd name="T9" fmla="*/ 44231 h 39"/>
                <a:gd name="T10" fmla="*/ 6540 w 30"/>
                <a:gd name="T11" fmla="*/ 44231 h 39"/>
                <a:gd name="T12" fmla="*/ 12857 w 30"/>
                <a:gd name="T13" fmla="*/ 45179 h 39"/>
                <a:gd name="T14" fmla="*/ 27561 w 30"/>
                <a:gd name="T15" fmla="*/ 27561 h 39"/>
                <a:gd name="T16" fmla="*/ 27561 w 30"/>
                <a:gd name="T17" fmla="*/ 0 h 39"/>
                <a:gd name="T18" fmla="*/ 39909 w 30"/>
                <a:gd name="T19" fmla="*/ 11276 h 39"/>
                <a:gd name="T20" fmla="*/ 12857 w 30"/>
                <a:gd name="T21" fmla="*/ 11276 h 39"/>
                <a:gd name="T22" fmla="*/ 12857 w 30"/>
                <a:gd name="T23" fmla="*/ 23967 h 39"/>
                <a:gd name="T24" fmla="*/ 8457 w 30"/>
                <a:gd name="T25" fmla="*/ 30476 h 39"/>
                <a:gd name="T26" fmla="*/ 2759 w 30"/>
                <a:gd name="T27" fmla="*/ 23967 h 39"/>
                <a:gd name="T28" fmla="*/ 2759 w 30"/>
                <a:gd name="T29" fmla="*/ 0 h 39"/>
                <a:gd name="T30" fmla="*/ 12857 w 30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"/>
                <a:gd name="T49" fmla="*/ 0 h 39"/>
                <a:gd name="T50" fmla="*/ 30 w 30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" h="39">
                  <a:moveTo>
                    <a:pt x="30" y="8"/>
                  </a:moveTo>
                  <a:lnTo>
                    <a:pt x="30" y="22"/>
                  </a:lnTo>
                  <a:cubicBezTo>
                    <a:pt x="30" y="32"/>
                    <a:pt x="22" y="39"/>
                    <a:pt x="11" y="39"/>
                  </a:cubicBezTo>
                  <a:cubicBezTo>
                    <a:pt x="7" y="39"/>
                    <a:pt x="3" y="38"/>
                    <a:pt x="0" y="37"/>
                  </a:cubicBezTo>
                  <a:cubicBezTo>
                    <a:pt x="1" y="35"/>
                    <a:pt x="3" y="33"/>
                    <a:pt x="4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4"/>
                    <a:pt x="8" y="34"/>
                    <a:pt x="10" y="34"/>
                  </a:cubicBezTo>
                  <a:cubicBezTo>
                    <a:pt x="18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6" y="0"/>
                    <a:pt x="30" y="3"/>
                    <a:pt x="30" y="8"/>
                  </a:cubicBezTo>
                  <a:close/>
                  <a:moveTo>
                    <a:pt x="10" y="8"/>
                  </a:moveTo>
                  <a:lnTo>
                    <a:pt x="10" y="18"/>
                  </a:lnTo>
                  <a:cubicBezTo>
                    <a:pt x="10" y="21"/>
                    <a:pt x="8" y="23"/>
                    <a:pt x="6" y="23"/>
                  </a:cubicBezTo>
                  <a:cubicBezTo>
                    <a:pt x="4" y="23"/>
                    <a:pt x="2" y="21"/>
                    <a:pt x="2" y="18"/>
                  </a:cubicBezTo>
                  <a:lnTo>
                    <a:pt x="2" y="0"/>
                  </a:lnTo>
                  <a:cubicBezTo>
                    <a:pt x="6" y="0"/>
                    <a:pt x="10" y="3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Freeform 121"/>
            <p:cNvSpPr>
              <a:spLocks/>
            </p:cNvSpPr>
            <p:nvPr/>
          </p:nvSpPr>
          <p:spPr bwMode="auto">
            <a:xfrm flipV="1">
              <a:off x="4039" y="363"/>
              <a:ext cx="42" cy="51"/>
            </a:xfrm>
            <a:custGeom>
              <a:avLst/>
              <a:gdLst>
                <a:gd name="T0" fmla="*/ 28215 w 32"/>
                <a:gd name="T1" fmla="*/ 36619 h 38"/>
                <a:gd name="T2" fmla="*/ 16295 w 32"/>
                <a:gd name="T3" fmla="*/ 58838 h 38"/>
                <a:gd name="T4" fmla="*/ 9459 w 32"/>
                <a:gd name="T5" fmla="*/ 55500 h 38"/>
                <a:gd name="T6" fmla="*/ 13578 w 32"/>
                <a:gd name="T7" fmla="*/ 51197 h 38"/>
                <a:gd name="T8" fmla="*/ 14645 w 32"/>
                <a:gd name="T9" fmla="*/ 51197 h 38"/>
                <a:gd name="T10" fmla="*/ 15281 w 32"/>
                <a:gd name="T11" fmla="*/ 51197 h 38"/>
                <a:gd name="T12" fmla="*/ 20181 w 32"/>
                <a:gd name="T13" fmla="*/ 34738 h 38"/>
                <a:gd name="T14" fmla="*/ 11158 w 32"/>
                <a:gd name="T15" fmla="*/ 7502 h 38"/>
                <a:gd name="T16" fmla="*/ 9459 w 32"/>
                <a:gd name="T17" fmla="*/ 7502 h 38"/>
                <a:gd name="T18" fmla="*/ 7207 w 32"/>
                <a:gd name="T19" fmla="*/ 58838 h 38"/>
                <a:gd name="T20" fmla="*/ 0 w 32"/>
                <a:gd name="T21" fmla="*/ 49147 h 38"/>
                <a:gd name="T22" fmla="*/ 0 w 32"/>
                <a:gd name="T23" fmla="*/ 46622 h 38"/>
                <a:gd name="T24" fmla="*/ 3760 w 32"/>
                <a:gd name="T25" fmla="*/ 0 h 38"/>
                <a:gd name="T26" fmla="*/ 8501 w 32"/>
                <a:gd name="T27" fmla="*/ 0 h 38"/>
                <a:gd name="T28" fmla="*/ 28215 w 32"/>
                <a:gd name="T29" fmla="*/ 36619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38"/>
                <a:gd name="T47" fmla="*/ 32 w 32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38">
                  <a:moveTo>
                    <a:pt x="32" y="23"/>
                  </a:moveTo>
                  <a:cubicBezTo>
                    <a:pt x="32" y="32"/>
                    <a:pt x="26" y="38"/>
                    <a:pt x="18" y="38"/>
                  </a:cubicBezTo>
                  <a:cubicBezTo>
                    <a:pt x="17" y="38"/>
                    <a:pt x="13" y="38"/>
                    <a:pt x="11" y="36"/>
                  </a:cubicBezTo>
                  <a:cubicBezTo>
                    <a:pt x="12" y="34"/>
                    <a:pt x="13" y="33"/>
                    <a:pt x="15" y="33"/>
                  </a:cubicBezTo>
                  <a:cubicBezTo>
                    <a:pt x="15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3"/>
                  </a:cubicBezTo>
                  <a:cubicBezTo>
                    <a:pt x="20" y="33"/>
                    <a:pt x="23" y="29"/>
                    <a:pt x="23" y="22"/>
                  </a:cubicBezTo>
                  <a:cubicBezTo>
                    <a:pt x="23" y="13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8"/>
                  </a:lnTo>
                  <a:cubicBezTo>
                    <a:pt x="3" y="38"/>
                    <a:pt x="0" y="34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5" y="0"/>
                    <a:pt x="32" y="11"/>
                    <a:pt x="32" y="2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Freeform 122"/>
            <p:cNvSpPr>
              <a:spLocks/>
            </p:cNvSpPr>
            <p:nvPr/>
          </p:nvSpPr>
          <p:spPr bwMode="auto">
            <a:xfrm flipV="1">
              <a:off x="4089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3967 w 27"/>
                <a:gd name="T3" fmla="*/ 56651 h 50"/>
                <a:gd name="T4" fmla="*/ 11627 w 27"/>
                <a:gd name="T5" fmla="*/ 56651 h 50"/>
                <a:gd name="T6" fmla="*/ 11627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627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8" y="38"/>
                  </a:cubicBezTo>
                  <a:lnTo>
                    <a:pt x="9" y="38"/>
                  </a:lnTo>
                  <a:lnTo>
                    <a:pt x="9" y="50"/>
                  </a:lnTo>
                  <a:cubicBezTo>
                    <a:pt x="5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4" y="33"/>
                    <a:pt x="18" y="33"/>
                    <a:pt x="18" y="26"/>
                  </a:cubicBezTo>
                  <a:cubicBezTo>
                    <a:pt x="18" y="17"/>
                    <a:pt x="13" y="10"/>
                    <a:pt x="9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123"/>
            <p:cNvSpPr>
              <a:spLocks/>
            </p:cNvSpPr>
            <p:nvPr/>
          </p:nvSpPr>
          <p:spPr bwMode="auto">
            <a:xfrm flipV="1">
              <a:off x="4134" y="363"/>
              <a:ext cx="12" cy="52"/>
            </a:xfrm>
            <a:custGeom>
              <a:avLst/>
              <a:gdLst>
                <a:gd name="T0" fmla="*/ 11627 w 9"/>
                <a:gd name="T1" fmla="*/ 11276 h 39"/>
                <a:gd name="T2" fmla="*/ 11627 w 9"/>
                <a:gd name="T3" fmla="*/ 45179 h 39"/>
                <a:gd name="T4" fmla="*/ 6540 w 9"/>
                <a:gd name="T5" fmla="*/ 51785 h 39"/>
                <a:gd name="T6" fmla="*/ 0 w 9"/>
                <a:gd name="T7" fmla="*/ 45179 h 39"/>
                <a:gd name="T8" fmla="*/ 0 w 9"/>
                <a:gd name="T9" fmla="*/ 0 h 39"/>
                <a:gd name="T10" fmla="*/ 11627 w 9"/>
                <a:gd name="T11" fmla="*/ 11276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39"/>
                <a:gd name="T20" fmla="*/ 9 w 9"/>
                <a:gd name="T21" fmla="*/ 39 h 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39">
                  <a:moveTo>
                    <a:pt x="9" y="8"/>
                  </a:moveTo>
                  <a:lnTo>
                    <a:pt x="9" y="34"/>
                  </a:lnTo>
                  <a:cubicBezTo>
                    <a:pt x="9" y="37"/>
                    <a:pt x="7" y="39"/>
                    <a:pt x="5" y="39"/>
                  </a:cubicBezTo>
                  <a:cubicBezTo>
                    <a:pt x="2" y="39"/>
                    <a:pt x="0" y="37"/>
                    <a:pt x="0" y="34"/>
                  </a:cubicBezTo>
                  <a:lnTo>
                    <a:pt x="0" y="0"/>
                  </a:lnTo>
                  <a:cubicBezTo>
                    <a:pt x="6" y="0"/>
                    <a:pt x="9" y="5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124"/>
            <p:cNvSpPr>
              <a:spLocks/>
            </p:cNvSpPr>
            <p:nvPr/>
          </p:nvSpPr>
          <p:spPr bwMode="auto">
            <a:xfrm flipV="1">
              <a:off x="4154" y="364"/>
              <a:ext cx="46" cy="66"/>
            </a:xfrm>
            <a:custGeom>
              <a:avLst/>
              <a:gdLst>
                <a:gd name="T0" fmla="*/ 64729 w 34"/>
                <a:gd name="T1" fmla="*/ 59488 h 49"/>
                <a:gd name="T2" fmla="*/ 36761 w 34"/>
                <a:gd name="T3" fmla="*/ 84254 h 49"/>
                <a:gd name="T4" fmla="*/ 0 w 34"/>
                <a:gd name="T5" fmla="*/ 84254 h 49"/>
                <a:gd name="T6" fmla="*/ 9352 w 34"/>
                <a:gd name="T7" fmla="*/ 74395 h 49"/>
                <a:gd name="T8" fmla="*/ 15590 w 34"/>
                <a:gd name="T9" fmla="*/ 74395 h 49"/>
                <a:gd name="T10" fmla="*/ 5109 w 34"/>
                <a:gd name="T11" fmla="*/ 55233 h 49"/>
                <a:gd name="T12" fmla="*/ 5109 w 34"/>
                <a:gd name="T13" fmla="*/ 0 h 49"/>
                <a:gd name="T14" fmla="*/ 21092 w 34"/>
                <a:gd name="T15" fmla="*/ 13977 h 49"/>
                <a:gd name="T16" fmla="*/ 21092 w 34"/>
                <a:gd name="T17" fmla="*/ 58799 h 49"/>
                <a:gd name="T18" fmla="*/ 32534 w 34"/>
                <a:gd name="T19" fmla="*/ 74395 h 49"/>
                <a:gd name="T20" fmla="*/ 47843 w 34"/>
                <a:gd name="T21" fmla="*/ 58799 h 49"/>
                <a:gd name="T22" fmla="*/ 32916 w 34"/>
                <a:gd name="T23" fmla="*/ 32789 h 49"/>
                <a:gd name="T24" fmla="*/ 27171 w 34"/>
                <a:gd name="T25" fmla="*/ 22304 h 49"/>
                <a:gd name="T26" fmla="*/ 27171 w 34"/>
                <a:gd name="T27" fmla="*/ 22304 h 49"/>
                <a:gd name="T28" fmla="*/ 64729 w 34"/>
                <a:gd name="T29" fmla="*/ 59488 h 4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"/>
                <a:gd name="T46" fmla="*/ 0 h 49"/>
                <a:gd name="T47" fmla="*/ 34 w 34"/>
                <a:gd name="T48" fmla="*/ 49 h 4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" h="49">
                  <a:moveTo>
                    <a:pt x="34" y="35"/>
                  </a:moveTo>
                  <a:cubicBezTo>
                    <a:pt x="34" y="43"/>
                    <a:pt x="28" y="49"/>
                    <a:pt x="19" y="49"/>
                  </a:cubicBezTo>
                  <a:lnTo>
                    <a:pt x="0" y="49"/>
                  </a:lnTo>
                  <a:cubicBezTo>
                    <a:pt x="0" y="47"/>
                    <a:pt x="2" y="44"/>
                    <a:pt x="5" y="44"/>
                  </a:cubicBezTo>
                  <a:lnTo>
                    <a:pt x="8" y="44"/>
                  </a:lnTo>
                  <a:cubicBezTo>
                    <a:pt x="5" y="43"/>
                    <a:pt x="3" y="39"/>
                    <a:pt x="3" y="33"/>
                  </a:cubicBezTo>
                  <a:lnTo>
                    <a:pt x="3" y="0"/>
                  </a:lnTo>
                  <a:cubicBezTo>
                    <a:pt x="8" y="0"/>
                    <a:pt x="11" y="4"/>
                    <a:pt x="11" y="8"/>
                  </a:cubicBezTo>
                  <a:lnTo>
                    <a:pt x="11" y="34"/>
                  </a:lnTo>
                  <a:cubicBezTo>
                    <a:pt x="11" y="42"/>
                    <a:pt x="14" y="44"/>
                    <a:pt x="17" y="44"/>
                  </a:cubicBezTo>
                  <a:cubicBezTo>
                    <a:pt x="21" y="44"/>
                    <a:pt x="25" y="41"/>
                    <a:pt x="25" y="34"/>
                  </a:cubicBezTo>
                  <a:cubicBezTo>
                    <a:pt x="25" y="25"/>
                    <a:pt x="21" y="21"/>
                    <a:pt x="18" y="19"/>
                  </a:cubicBezTo>
                  <a:cubicBezTo>
                    <a:pt x="15" y="18"/>
                    <a:pt x="14" y="16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3" y="14"/>
                    <a:pt x="34" y="22"/>
                    <a:pt x="34" y="3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3" name="Freeform 125"/>
            <p:cNvSpPr>
              <a:spLocks/>
            </p:cNvSpPr>
            <p:nvPr/>
          </p:nvSpPr>
          <p:spPr bwMode="auto">
            <a:xfrm flipV="1">
              <a:off x="4209" y="363"/>
              <a:ext cx="41" cy="51"/>
            </a:xfrm>
            <a:custGeom>
              <a:avLst/>
              <a:gdLst>
                <a:gd name="T0" fmla="*/ 33320 w 31"/>
                <a:gd name="T1" fmla="*/ 30812 h 38"/>
                <a:gd name="T2" fmla="*/ 15995 w 31"/>
                <a:gd name="T3" fmla="*/ 58838 h 38"/>
                <a:gd name="T4" fmla="*/ 0 w 31"/>
                <a:gd name="T5" fmla="*/ 36619 h 38"/>
                <a:gd name="T6" fmla="*/ 9144 w 31"/>
                <a:gd name="T7" fmla="*/ 18135 h 38"/>
                <a:gd name="T8" fmla="*/ 10015 w 31"/>
                <a:gd name="T9" fmla="*/ 18135 h 38"/>
                <a:gd name="T10" fmla="*/ 13349 w 31"/>
                <a:gd name="T11" fmla="*/ 22958 h 38"/>
                <a:gd name="T12" fmla="*/ 9144 w 31"/>
                <a:gd name="T13" fmla="*/ 37800 h 38"/>
                <a:gd name="T14" fmla="*/ 15995 w 31"/>
                <a:gd name="T15" fmla="*/ 51197 h 38"/>
                <a:gd name="T16" fmla="*/ 23350 w 31"/>
                <a:gd name="T17" fmla="*/ 30812 h 38"/>
                <a:gd name="T18" fmla="*/ 13246 w 31"/>
                <a:gd name="T19" fmla="*/ 7502 h 38"/>
                <a:gd name="T20" fmla="*/ 7572 w 31"/>
                <a:gd name="T21" fmla="*/ 9497 h 38"/>
                <a:gd name="T22" fmla="*/ 6914 w 31"/>
                <a:gd name="T23" fmla="*/ 9497 h 38"/>
                <a:gd name="T24" fmla="*/ 2475 w 31"/>
                <a:gd name="T25" fmla="*/ 4165 h 38"/>
                <a:gd name="T26" fmla="*/ 13349 w 31"/>
                <a:gd name="T27" fmla="*/ 0 h 38"/>
                <a:gd name="T28" fmla="*/ 33320 w 31"/>
                <a:gd name="T29" fmla="*/ 30812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"/>
                <a:gd name="T46" fmla="*/ 0 h 38"/>
                <a:gd name="T47" fmla="*/ 31 w 31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" h="38">
                  <a:moveTo>
                    <a:pt x="31" y="20"/>
                  </a:moveTo>
                  <a:cubicBezTo>
                    <a:pt x="31" y="31"/>
                    <a:pt x="26" y="38"/>
                    <a:pt x="15" y="38"/>
                  </a:cubicBezTo>
                  <a:cubicBezTo>
                    <a:pt x="5" y="38"/>
                    <a:pt x="0" y="32"/>
                    <a:pt x="0" y="23"/>
                  </a:cubicBezTo>
                  <a:cubicBezTo>
                    <a:pt x="0" y="18"/>
                    <a:pt x="4" y="13"/>
                    <a:pt x="8" y="12"/>
                  </a:cubicBezTo>
                  <a:cubicBezTo>
                    <a:pt x="8" y="12"/>
                    <a:pt x="8" y="12"/>
                    <a:pt x="9" y="12"/>
                  </a:cubicBezTo>
                  <a:cubicBezTo>
                    <a:pt x="10" y="12"/>
                    <a:pt x="12" y="13"/>
                    <a:pt x="13" y="15"/>
                  </a:cubicBezTo>
                  <a:cubicBezTo>
                    <a:pt x="10" y="16"/>
                    <a:pt x="8" y="19"/>
                    <a:pt x="8" y="24"/>
                  </a:cubicBezTo>
                  <a:cubicBezTo>
                    <a:pt x="8" y="31"/>
                    <a:pt x="11" y="33"/>
                    <a:pt x="15" y="33"/>
                  </a:cubicBezTo>
                  <a:cubicBezTo>
                    <a:pt x="18" y="33"/>
                    <a:pt x="22" y="29"/>
                    <a:pt x="22" y="20"/>
                  </a:cubicBezTo>
                  <a:cubicBezTo>
                    <a:pt x="22" y="11"/>
                    <a:pt x="18" y="5"/>
                    <a:pt x="12" y="5"/>
                  </a:cubicBezTo>
                  <a:cubicBezTo>
                    <a:pt x="10" y="5"/>
                    <a:pt x="9" y="5"/>
                    <a:pt x="7" y="6"/>
                  </a:cubicBezTo>
                  <a:cubicBezTo>
                    <a:pt x="7" y="6"/>
                    <a:pt x="7" y="6"/>
                    <a:pt x="6" y="6"/>
                  </a:cubicBezTo>
                  <a:cubicBezTo>
                    <a:pt x="5" y="6"/>
                    <a:pt x="3" y="5"/>
                    <a:pt x="2" y="3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3" y="0"/>
                    <a:pt x="31" y="7"/>
                    <a:pt x="31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4" name="Freeform 126"/>
            <p:cNvSpPr>
              <a:spLocks noEditPoints="1"/>
            </p:cNvSpPr>
            <p:nvPr/>
          </p:nvSpPr>
          <p:spPr bwMode="auto">
            <a:xfrm flipV="1">
              <a:off x="4259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797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27"/>
            <p:cNvSpPr>
              <a:spLocks/>
            </p:cNvSpPr>
            <p:nvPr/>
          </p:nvSpPr>
          <p:spPr bwMode="auto">
            <a:xfrm flipV="1">
              <a:off x="376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8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8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28"/>
            <p:cNvSpPr>
              <a:spLocks/>
            </p:cNvSpPr>
            <p:nvPr/>
          </p:nvSpPr>
          <p:spPr bwMode="auto">
            <a:xfrm flipV="1">
              <a:off x="3810" y="675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8559 w 22"/>
                <a:gd name="T5" fmla="*/ 33320 h 31"/>
                <a:gd name="T6" fmla="*/ 0 w 22"/>
                <a:gd name="T7" fmla="*/ 30882 h 31"/>
                <a:gd name="T8" fmla="*/ 2353 w 22"/>
                <a:gd name="T9" fmla="*/ 30644 h 31"/>
                <a:gd name="T10" fmla="*/ 3102 w 22"/>
                <a:gd name="T11" fmla="*/ 30644 h 31"/>
                <a:gd name="T12" fmla="*/ 7105 w 22"/>
                <a:gd name="T13" fmla="*/ 30882 h 31"/>
                <a:gd name="T14" fmla="*/ 16671 w 22"/>
                <a:gd name="T15" fmla="*/ 17655 h 31"/>
                <a:gd name="T16" fmla="*/ 16671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6" y="31"/>
                    <a:pt x="8" y="31"/>
                  </a:cubicBezTo>
                  <a:cubicBezTo>
                    <a:pt x="5" y="31"/>
                    <a:pt x="1" y="30"/>
                    <a:pt x="0" y="29"/>
                  </a:cubicBezTo>
                  <a:cubicBezTo>
                    <a:pt x="0" y="28"/>
                    <a:pt x="1" y="28"/>
                    <a:pt x="2" y="28"/>
                  </a:cubicBezTo>
                  <a:cubicBezTo>
                    <a:pt x="2" y="28"/>
                    <a:pt x="3" y="28"/>
                    <a:pt x="3" y="28"/>
                  </a:cubicBezTo>
                  <a:cubicBezTo>
                    <a:pt x="4" y="28"/>
                    <a:pt x="5" y="29"/>
                    <a:pt x="7" y="29"/>
                  </a:cubicBezTo>
                  <a:cubicBezTo>
                    <a:pt x="14" y="29"/>
                    <a:pt x="17" y="24"/>
                    <a:pt x="17" y="17"/>
                  </a:cubicBezTo>
                  <a:lnTo>
                    <a:pt x="17" y="0"/>
                  </a:lnTo>
                  <a:cubicBezTo>
                    <a:pt x="19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29"/>
            <p:cNvSpPr>
              <a:spLocks/>
            </p:cNvSpPr>
            <p:nvPr/>
          </p:nvSpPr>
          <p:spPr bwMode="auto">
            <a:xfrm flipV="1">
              <a:off x="3850" y="675"/>
              <a:ext cx="5" cy="41"/>
            </a:xfrm>
            <a:custGeom>
              <a:avLst/>
              <a:gdLst>
                <a:gd name="T0" fmla="*/ 890 w 4"/>
                <a:gd name="T1" fmla="*/ 5725 h 31"/>
                <a:gd name="T2" fmla="*/ 890 w 4"/>
                <a:gd name="T3" fmla="*/ 30644 h 31"/>
                <a:gd name="T4" fmla="*/ 570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89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8" name="Freeform 130"/>
            <p:cNvSpPr>
              <a:spLocks noEditPoints="1"/>
            </p:cNvSpPr>
            <p:nvPr/>
          </p:nvSpPr>
          <p:spPr bwMode="auto">
            <a:xfrm flipV="1">
              <a:off x="3866" y="675"/>
              <a:ext cx="37" cy="41"/>
            </a:xfrm>
            <a:custGeom>
              <a:avLst/>
              <a:gdLst>
                <a:gd name="T0" fmla="*/ 17274 w 28"/>
                <a:gd name="T1" fmla="*/ 19881 h 31"/>
                <a:gd name="T2" fmla="*/ 17274 w 28"/>
                <a:gd name="T3" fmla="*/ 33320 h 31"/>
                <a:gd name="T4" fmla="*/ 13072 w 28"/>
                <a:gd name="T5" fmla="*/ 27979 h 31"/>
                <a:gd name="T6" fmla="*/ 13072 w 28"/>
                <a:gd name="T7" fmla="*/ 13246 h 31"/>
                <a:gd name="T8" fmla="*/ 17274 w 28"/>
                <a:gd name="T9" fmla="*/ 19881 h 31"/>
                <a:gd name="T10" fmla="*/ 30163 w 28"/>
                <a:gd name="T11" fmla="*/ 21155 h 31"/>
                <a:gd name="T12" fmla="*/ 30163 w 28"/>
                <a:gd name="T13" fmla="*/ 33320 h 31"/>
                <a:gd name="T14" fmla="*/ 25876 w 28"/>
                <a:gd name="T15" fmla="*/ 27979 h 31"/>
                <a:gd name="T16" fmla="*/ 25876 w 28"/>
                <a:gd name="T17" fmla="*/ 20762 h 31"/>
                <a:gd name="T18" fmla="*/ 8900 w 28"/>
                <a:gd name="T19" fmla="*/ 3273 h 31"/>
                <a:gd name="T20" fmla="*/ 7486 w 28"/>
                <a:gd name="T21" fmla="*/ 3273 h 31"/>
                <a:gd name="T22" fmla="*/ 4287 w 28"/>
                <a:gd name="T23" fmla="*/ 33320 h 31"/>
                <a:gd name="T24" fmla="*/ 0 w 28"/>
                <a:gd name="T25" fmla="*/ 27459 h 31"/>
                <a:gd name="T26" fmla="*/ 0 w 28"/>
                <a:gd name="T27" fmla="*/ 26294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21155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4" y="29"/>
                    <a:pt x="24" y="26"/>
                  </a:cubicBezTo>
                  <a:lnTo>
                    <a:pt x="24" y="19"/>
                  </a:lnTo>
                  <a:cubicBezTo>
                    <a:pt x="24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5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Freeform 131"/>
            <p:cNvSpPr>
              <a:spLocks/>
            </p:cNvSpPr>
            <p:nvPr/>
          </p:nvSpPr>
          <p:spPr bwMode="auto">
            <a:xfrm flipV="1">
              <a:off x="3912" y="675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1453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7" y="37"/>
                  </a:lnTo>
                  <a:cubicBezTo>
                    <a:pt x="5" y="36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132"/>
            <p:cNvSpPr>
              <a:spLocks/>
            </p:cNvSpPr>
            <p:nvPr/>
          </p:nvSpPr>
          <p:spPr bwMode="auto">
            <a:xfrm flipV="1">
              <a:off x="395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7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7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133"/>
            <p:cNvSpPr>
              <a:spLocks noEditPoints="1"/>
            </p:cNvSpPr>
            <p:nvPr/>
          </p:nvSpPr>
          <p:spPr bwMode="auto">
            <a:xfrm flipV="1">
              <a:off x="3768" y="581"/>
              <a:ext cx="33" cy="40"/>
            </a:xfrm>
            <a:custGeom>
              <a:avLst/>
              <a:gdLst>
                <a:gd name="T0" fmla="*/ 26316 w 25"/>
                <a:gd name="T1" fmla="*/ 3679 h 30"/>
                <a:gd name="T2" fmla="*/ 26316 w 25"/>
                <a:gd name="T3" fmla="*/ 20671 h 30"/>
                <a:gd name="T4" fmla="*/ 9651 w 25"/>
                <a:gd name="T5" fmla="*/ 39909 h 30"/>
                <a:gd name="T6" fmla="*/ 0 w 25"/>
                <a:gd name="T7" fmla="*/ 36748 h 30"/>
                <a:gd name="T8" fmla="*/ 0 w 25"/>
                <a:gd name="T9" fmla="*/ 0 h 30"/>
                <a:gd name="T10" fmla="*/ 22196 w 25"/>
                <a:gd name="T11" fmla="*/ 0 h 30"/>
                <a:gd name="T12" fmla="*/ 26316 w 25"/>
                <a:gd name="T13" fmla="*/ 3679 h 30"/>
                <a:gd name="T14" fmla="*/ 20188 w 25"/>
                <a:gd name="T15" fmla="*/ 3679 h 30"/>
                <a:gd name="T16" fmla="*/ 4196 w 25"/>
                <a:gd name="T17" fmla="*/ 3679 h 30"/>
                <a:gd name="T18" fmla="*/ 4196 w 25"/>
                <a:gd name="T19" fmla="*/ 35639 h 30"/>
                <a:gd name="T20" fmla="*/ 8777 w 25"/>
                <a:gd name="T21" fmla="*/ 36748 h 30"/>
                <a:gd name="T22" fmla="*/ 20188 w 25"/>
                <a:gd name="T23" fmla="*/ 20671 h 30"/>
                <a:gd name="T24" fmla="*/ 20188 w 25"/>
                <a:gd name="T25" fmla="*/ 3679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30"/>
                <a:gd name="T41" fmla="*/ 25 w 25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30">
                  <a:moveTo>
                    <a:pt x="25" y="3"/>
                  </a:moveTo>
                  <a:lnTo>
                    <a:pt x="25" y="16"/>
                  </a:lnTo>
                  <a:cubicBezTo>
                    <a:pt x="25" y="25"/>
                    <a:pt x="18" y="30"/>
                    <a:pt x="9" y="30"/>
                  </a:cubicBezTo>
                  <a:cubicBezTo>
                    <a:pt x="5" y="30"/>
                    <a:pt x="1" y="29"/>
                    <a:pt x="0" y="28"/>
                  </a:cubicBezTo>
                  <a:lnTo>
                    <a:pt x="0" y="0"/>
                  </a:lnTo>
                  <a:lnTo>
                    <a:pt x="21" y="0"/>
                  </a:lnTo>
                  <a:cubicBezTo>
                    <a:pt x="22" y="0"/>
                    <a:pt x="24" y="1"/>
                    <a:pt x="25" y="3"/>
                  </a:cubicBezTo>
                  <a:close/>
                  <a:moveTo>
                    <a:pt x="20" y="3"/>
                  </a:moveTo>
                  <a:lnTo>
                    <a:pt x="4" y="3"/>
                  </a:lnTo>
                  <a:lnTo>
                    <a:pt x="4" y="27"/>
                  </a:lnTo>
                  <a:cubicBezTo>
                    <a:pt x="5" y="28"/>
                    <a:pt x="7" y="28"/>
                    <a:pt x="8" y="28"/>
                  </a:cubicBezTo>
                  <a:cubicBezTo>
                    <a:pt x="14" y="28"/>
                    <a:pt x="20" y="24"/>
                    <a:pt x="20" y="1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134"/>
            <p:cNvSpPr>
              <a:spLocks/>
            </p:cNvSpPr>
            <p:nvPr/>
          </p:nvSpPr>
          <p:spPr bwMode="auto">
            <a:xfrm flipV="1">
              <a:off x="3812" y="581"/>
              <a:ext cx="5" cy="24"/>
            </a:xfrm>
            <a:custGeom>
              <a:avLst/>
              <a:gdLst>
                <a:gd name="T0" fmla="*/ 890 w 4"/>
                <a:gd name="T1" fmla="*/ 6540 h 18"/>
                <a:gd name="T2" fmla="*/ 890 w 4"/>
                <a:gd name="T3" fmla="*/ 20047 h 18"/>
                <a:gd name="T4" fmla="*/ 570 w 4"/>
                <a:gd name="T5" fmla="*/ 23967 h 18"/>
                <a:gd name="T6" fmla="*/ 0 w 4"/>
                <a:gd name="T7" fmla="*/ 20047 h 18"/>
                <a:gd name="T8" fmla="*/ 0 w 4"/>
                <a:gd name="T9" fmla="*/ 0 h 18"/>
                <a:gd name="T10" fmla="*/ 890 w 4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18"/>
                <a:gd name="T20" fmla="*/ 4 w 4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18">
                  <a:moveTo>
                    <a:pt x="4" y="5"/>
                  </a:moveTo>
                  <a:lnTo>
                    <a:pt x="4" y="15"/>
                  </a:lnTo>
                  <a:cubicBezTo>
                    <a:pt x="4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135"/>
            <p:cNvSpPr>
              <a:spLocks/>
            </p:cNvSpPr>
            <p:nvPr/>
          </p:nvSpPr>
          <p:spPr bwMode="auto">
            <a:xfrm flipV="1">
              <a:off x="3825" y="581"/>
              <a:ext cx="34" cy="40"/>
            </a:xfrm>
            <a:custGeom>
              <a:avLst/>
              <a:gdLst>
                <a:gd name="T0" fmla="*/ 21143 w 26"/>
                <a:gd name="T1" fmla="*/ 2759 h 30"/>
                <a:gd name="T2" fmla="*/ 19995 w 26"/>
                <a:gd name="T3" fmla="*/ 2759 h 30"/>
                <a:gd name="T4" fmla="*/ 18722 w 26"/>
                <a:gd name="T5" fmla="*/ 3679 h 30"/>
                <a:gd name="T6" fmla="*/ 18722 w 26"/>
                <a:gd name="T7" fmla="*/ 22857 h 30"/>
                <a:gd name="T8" fmla="*/ 7458 w 26"/>
                <a:gd name="T9" fmla="*/ 39909 h 30"/>
                <a:gd name="T10" fmla="*/ 1 w 26"/>
                <a:gd name="T11" fmla="*/ 36748 h 30"/>
                <a:gd name="T12" fmla="*/ 2550 w 26"/>
                <a:gd name="T13" fmla="*/ 35639 h 30"/>
                <a:gd name="T14" fmla="*/ 3335 w 26"/>
                <a:gd name="T15" fmla="*/ 35639 h 30"/>
                <a:gd name="T16" fmla="*/ 6191 w 26"/>
                <a:gd name="T17" fmla="*/ 36748 h 30"/>
                <a:gd name="T18" fmla="*/ 15290 w 26"/>
                <a:gd name="T19" fmla="*/ 20671 h 30"/>
                <a:gd name="T20" fmla="*/ 15290 w 26"/>
                <a:gd name="T21" fmla="*/ 2759 h 30"/>
                <a:gd name="T22" fmla="*/ 2550 w 26"/>
                <a:gd name="T23" fmla="*/ 2759 h 30"/>
                <a:gd name="T24" fmla="*/ 0 w 26"/>
                <a:gd name="T25" fmla="*/ 0 h 30"/>
                <a:gd name="T26" fmla="*/ 19995 w 26"/>
                <a:gd name="T27" fmla="*/ 0 h 30"/>
                <a:gd name="T28" fmla="*/ 21143 w 26"/>
                <a:gd name="T29" fmla="*/ 2759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0"/>
                <a:gd name="T47" fmla="*/ 26 w 26"/>
                <a:gd name="T48" fmla="*/ 30 h 3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0">
                  <a:moveTo>
                    <a:pt x="26" y="2"/>
                  </a:moveTo>
                  <a:lnTo>
                    <a:pt x="24" y="2"/>
                  </a:lnTo>
                  <a:cubicBezTo>
                    <a:pt x="23" y="2"/>
                    <a:pt x="23" y="3"/>
                    <a:pt x="23" y="3"/>
                  </a:cubicBezTo>
                  <a:lnTo>
                    <a:pt x="23" y="17"/>
                  </a:lnTo>
                  <a:cubicBezTo>
                    <a:pt x="23" y="26"/>
                    <a:pt x="17" y="30"/>
                    <a:pt x="9" y="30"/>
                  </a:cubicBezTo>
                  <a:cubicBezTo>
                    <a:pt x="6" y="30"/>
                    <a:pt x="3" y="29"/>
                    <a:pt x="1" y="28"/>
                  </a:cubicBezTo>
                  <a:cubicBezTo>
                    <a:pt x="1" y="27"/>
                    <a:pt x="2" y="27"/>
                    <a:pt x="3" y="27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5" y="27"/>
                    <a:pt x="7" y="28"/>
                    <a:pt x="8" y="28"/>
                  </a:cubicBezTo>
                  <a:cubicBezTo>
                    <a:pt x="15" y="28"/>
                    <a:pt x="18" y="23"/>
                    <a:pt x="18" y="16"/>
                  </a:cubicBezTo>
                  <a:lnTo>
                    <a:pt x="18" y="2"/>
                  </a:lnTo>
                  <a:lnTo>
                    <a:pt x="3" y="2"/>
                  </a:lnTo>
                  <a:cubicBezTo>
                    <a:pt x="2" y="2"/>
                    <a:pt x="0" y="2"/>
                    <a:pt x="0" y="0"/>
                  </a:cubicBezTo>
                  <a:lnTo>
                    <a:pt x="24" y="0"/>
                  </a:lnTo>
                  <a:cubicBezTo>
                    <a:pt x="25" y="0"/>
                    <a:pt x="26" y="1"/>
                    <a:pt x="26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Freeform 136"/>
            <p:cNvSpPr>
              <a:spLocks noEditPoints="1"/>
            </p:cNvSpPr>
            <p:nvPr/>
          </p:nvSpPr>
          <p:spPr bwMode="auto">
            <a:xfrm flipV="1">
              <a:off x="3867" y="581"/>
              <a:ext cx="37" cy="42"/>
            </a:xfrm>
            <a:custGeom>
              <a:avLst/>
              <a:gdLst>
                <a:gd name="T0" fmla="*/ 17274 w 28"/>
                <a:gd name="T1" fmla="*/ 35961 h 31"/>
                <a:gd name="T2" fmla="*/ 17274 w 28"/>
                <a:gd name="T3" fmla="*/ 61353 h 31"/>
                <a:gd name="T4" fmla="*/ 13072 w 28"/>
                <a:gd name="T5" fmla="*/ 51245 h 31"/>
                <a:gd name="T6" fmla="*/ 13072 w 28"/>
                <a:gd name="T7" fmla="*/ 24413 h 31"/>
                <a:gd name="T8" fmla="*/ 17274 w 28"/>
                <a:gd name="T9" fmla="*/ 35961 h 31"/>
                <a:gd name="T10" fmla="*/ 30163 w 28"/>
                <a:gd name="T11" fmla="*/ 39970 h 31"/>
                <a:gd name="T12" fmla="*/ 30163 w 28"/>
                <a:gd name="T13" fmla="*/ 61353 h 31"/>
                <a:gd name="T14" fmla="*/ 24544 w 28"/>
                <a:gd name="T15" fmla="*/ 51245 h 31"/>
                <a:gd name="T16" fmla="*/ 24544 w 28"/>
                <a:gd name="T17" fmla="*/ 37824 h 31"/>
                <a:gd name="T18" fmla="*/ 8900 w 28"/>
                <a:gd name="T19" fmla="*/ 5348 h 31"/>
                <a:gd name="T20" fmla="*/ 7486 w 28"/>
                <a:gd name="T21" fmla="*/ 5348 h 31"/>
                <a:gd name="T22" fmla="*/ 4287 w 28"/>
                <a:gd name="T23" fmla="*/ 61353 h 31"/>
                <a:gd name="T24" fmla="*/ 0 w 28"/>
                <a:gd name="T25" fmla="*/ 51245 h 31"/>
                <a:gd name="T26" fmla="*/ 0 w 28"/>
                <a:gd name="T27" fmla="*/ 48721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39970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3" y="29"/>
                    <a:pt x="23" y="26"/>
                  </a:cubicBezTo>
                  <a:lnTo>
                    <a:pt x="23" y="19"/>
                  </a:lnTo>
                  <a:cubicBezTo>
                    <a:pt x="23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Freeform 137"/>
            <p:cNvSpPr>
              <a:spLocks/>
            </p:cNvSpPr>
            <p:nvPr/>
          </p:nvSpPr>
          <p:spPr bwMode="auto">
            <a:xfrm flipV="1">
              <a:off x="3915" y="581"/>
              <a:ext cx="32" cy="42"/>
            </a:xfrm>
            <a:custGeom>
              <a:avLst/>
              <a:gdLst>
                <a:gd name="T0" fmla="*/ 31956 w 24"/>
                <a:gd name="T1" fmla="*/ 9817 h 31"/>
                <a:gd name="T2" fmla="*/ 31956 w 24"/>
                <a:gd name="T3" fmla="*/ 35961 h 31"/>
                <a:gd name="T4" fmla="*/ 11627 w 24"/>
                <a:gd name="T5" fmla="*/ 61353 h 31"/>
                <a:gd name="T6" fmla="*/ 0 w 24"/>
                <a:gd name="T7" fmla="*/ 57711 h 31"/>
                <a:gd name="T8" fmla="*/ 0 w 24"/>
                <a:gd name="T9" fmla="*/ 0 h 31"/>
                <a:gd name="T10" fmla="*/ 4905 w 24"/>
                <a:gd name="T11" fmla="*/ 9817 h 31"/>
                <a:gd name="T12" fmla="*/ 4905 w 24"/>
                <a:gd name="T13" fmla="*/ 54779 h 31"/>
                <a:gd name="T14" fmla="*/ 11276 w 24"/>
                <a:gd name="T15" fmla="*/ 57711 h 31"/>
                <a:gd name="T16" fmla="*/ 24880 w 24"/>
                <a:gd name="T17" fmla="*/ 33424 h 31"/>
                <a:gd name="T18" fmla="*/ 24880 w 24"/>
                <a:gd name="T19" fmla="*/ 0 h 31"/>
                <a:gd name="T20" fmla="*/ 31956 w 24"/>
                <a:gd name="T21" fmla="*/ 981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31"/>
                <a:gd name="T35" fmla="*/ 24 w 24"/>
                <a:gd name="T36" fmla="*/ 31 h 3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7" y="31"/>
                    <a:pt x="9" y="31"/>
                  </a:cubicBezTo>
                  <a:cubicBezTo>
                    <a:pt x="5" y="31"/>
                    <a:pt x="2" y="30"/>
                    <a:pt x="0" y="29"/>
                  </a:cubicBezTo>
                  <a:lnTo>
                    <a:pt x="0" y="0"/>
                  </a:lnTo>
                  <a:cubicBezTo>
                    <a:pt x="2" y="0"/>
                    <a:pt x="4" y="1"/>
                    <a:pt x="4" y="5"/>
                  </a:cubicBezTo>
                  <a:lnTo>
                    <a:pt x="4" y="28"/>
                  </a:ln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9" y="24"/>
                    <a:pt x="19" y="17"/>
                  </a:cubicBezTo>
                  <a:lnTo>
                    <a:pt x="19" y="0"/>
                  </a:lnTo>
                  <a:cubicBezTo>
                    <a:pt x="22" y="0"/>
                    <a:pt x="24" y="2"/>
                    <a:pt x="2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6" name="Freeform 138"/>
            <p:cNvSpPr>
              <a:spLocks/>
            </p:cNvSpPr>
            <p:nvPr/>
          </p:nvSpPr>
          <p:spPr bwMode="auto">
            <a:xfrm flipV="1">
              <a:off x="3956" y="581"/>
              <a:ext cx="36" cy="42"/>
            </a:xfrm>
            <a:custGeom>
              <a:avLst/>
              <a:gdLst>
                <a:gd name="T0" fmla="*/ 35639 w 27"/>
                <a:gd name="T1" fmla="*/ 33076 h 31"/>
                <a:gd name="T2" fmla="*/ 20047 w 27"/>
                <a:gd name="T3" fmla="*/ 61353 h 31"/>
                <a:gd name="T4" fmla="*/ 8457 w 27"/>
                <a:gd name="T5" fmla="*/ 51245 h 31"/>
                <a:gd name="T6" fmla="*/ 0 w 27"/>
                <a:gd name="T7" fmla="*/ 61353 h 31"/>
                <a:gd name="T8" fmla="*/ 0 w 27"/>
                <a:gd name="T9" fmla="*/ 60714 h 31"/>
                <a:gd name="T10" fmla="*/ 1 w 27"/>
                <a:gd name="T11" fmla="*/ 54153 h 31"/>
                <a:gd name="T12" fmla="*/ 2759 w 27"/>
                <a:gd name="T13" fmla="*/ 51245 h 31"/>
                <a:gd name="T14" fmla="*/ 3679 w 27"/>
                <a:gd name="T15" fmla="*/ 44813 h 31"/>
                <a:gd name="T16" fmla="*/ 2759 w 27"/>
                <a:gd name="T17" fmla="*/ 39970 h 31"/>
                <a:gd name="T18" fmla="*/ 0 w 27"/>
                <a:gd name="T19" fmla="*/ 0 h 31"/>
                <a:gd name="T20" fmla="*/ 1 w 27"/>
                <a:gd name="T21" fmla="*/ 0 h 31"/>
                <a:gd name="T22" fmla="*/ 6540 w 27"/>
                <a:gd name="T23" fmla="*/ 9817 h 31"/>
                <a:gd name="T24" fmla="*/ 8720 w 27"/>
                <a:gd name="T25" fmla="*/ 40432 h 31"/>
                <a:gd name="T26" fmla="*/ 18660 w 27"/>
                <a:gd name="T27" fmla="*/ 54779 h 31"/>
                <a:gd name="T28" fmla="*/ 29129 w 27"/>
                <a:gd name="T29" fmla="*/ 33076 h 31"/>
                <a:gd name="T30" fmla="*/ 15503 w 27"/>
                <a:gd name="T31" fmla="*/ 5348 h 31"/>
                <a:gd name="T32" fmla="*/ 11627 w 27"/>
                <a:gd name="T33" fmla="*/ 5348 h 31"/>
                <a:gd name="T34" fmla="*/ 8720 w 27"/>
                <a:gd name="T35" fmla="*/ 1 h 31"/>
                <a:gd name="T36" fmla="*/ 17143 w 27"/>
                <a:gd name="T37" fmla="*/ 0 h 31"/>
                <a:gd name="T38" fmla="*/ 17143 w 27"/>
                <a:gd name="T39" fmla="*/ 0 h 31"/>
                <a:gd name="T40" fmla="*/ 35639 w 27"/>
                <a:gd name="T41" fmla="*/ 33076 h 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7"/>
                <a:gd name="T64" fmla="*/ 0 h 31"/>
                <a:gd name="T65" fmla="*/ 27 w 27"/>
                <a:gd name="T66" fmla="*/ 31 h 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7" h="31">
                  <a:moveTo>
                    <a:pt x="27" y="16"/>
                  </a:moveTo>
                  <a:cubicBezTo>
                    <a:pt x="27" y="25"/>
                    <a:pt x="22" y="31"/>
                    <a:pt x="15" y="31"/>
                  </a:cubicBezTo>
                  <a:cubicBezTo>
                    <a:pt x="11" y="31"/>
                    <a:pt x="8" y="29"/>
                    <a:pt x="6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29"/>
                    <a:pt x="0" y="28"/>
                    <a:pt x="1" y="27"/>
                  </a:cubicBezTo>
                  <a:lnTo>
                    <a:pt x="2" y="26"/>
                  </a:lnTo>
                  <a:cubicBezTo>
                    <a:pt x="3" y="25"/>
                    <a:pt x="3" y="24"/>
                    <a:pt x="3" y="22"/>
                  </a:cubicBezTo>
                  <a:cubicBezTo>
                    <a:pt x="3" y="22"/>
                    <a:pt x="3" y="21"/>
                    <a:pt x="2" y="20"/>
                  </a:cubicBezTo>
                  <a:lnTo>
                    <a:pt x="0" y="0"/>
                  </a:lnTo>
                  <a:cubicBezTo>
                    <a:pt x="0" y="0"/>
                    <a:pt x="1" y="0"/>
                    <a:pt x="1" y="0"/>
                  </a:cubicBezTo>
                  <a:cubicBezTo>
                    <a:pt x="3" y="0"/>
                    <a:pt x="4" y="2"/>
                    <a:pt x="5" y="5"/>
                  </a:cubicBezTo>
                  <a:lnTo>
                    <a:pt x="7" y="21"/>
                  </a:lnTo>
                  <a:cubicBezTo>
                    <a:pt x="8" y="26"/>
                    <a:pt x="11" y="28"/>
                    <a:pt x="14" y="28"/>
                  </a:cubicBezTo>
                  <a:cubicBezTo>
                    <a:pt x="19" y="28"/>
                    <a:pt x="22" y="24"/>
                    <a:pt x="22" y="16"/>
                  </a:cubicBezTo>
                  <a:cubicBezTo>
                    <a:pt x="22" y="9"/>
                    <a:pt x="18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9" y="3"/>
                    <a:pt x="8" y="3"/>
                    <a:pt x="7" y="1"/>
                  </a:cubicBezTo>
                  <a:cubicBezTo>
                    <a:pt x="8" y="1"/>
                    <a:pt x="1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7" y="6"/>
                    <a:pt x="27" y="1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7" name="Freeform 139"/>
            <p:cNvSpPr>
              <a:spLocks noEditPoints="1"/>
            </p:cNvSpPr>
            <p:nvPr/>
          </p:nvSpPr>
          <p:spPr bwMode="auto">
            <a:xfrm flipV="1">
              <a:off x="3653" y="488"/>
              <a:ext cx="32" cy="41"/>
            </a:xfrm>
            <a:custGeom>
              <a:avLst/>
              <a:gdLst>
                <a:gd name="T0" fmla="*/ 31956 w 24"/>
                <a:gd name="T1" fmla="*/ 5725 h 31"/>
                <a:gd name="T2" fmla="*/ 31956 w 24"/>
                <a:gd name="T3" fmla="*/ 19881 h 31"/>
                <a:gd name="T4" fmla="*/ 11627 w 24"/>
                <a:gd name="T5" fmla="*/ 33320 h 31"/>
                <a:gd name="T6" fmla="*/ 0 w 24"/>
                <a:gd name="T7" fmla="*/ 30882 h 31"/>
                <a:gd name="T8" fmla="*/ 3679 w 24"/>
                <a:gd name="T9" fmla="*/ 30644 h 31"/>
                <a:gd name="T10" fmla="*/ 4905 w 24"/>
                <a:gd name="T11" fmla="*/ 30644 h 31"/>
                <a:gd name="T12" fmla="*/ 11276 w 24"/>
                <a:gd name="T13" fmla="*/ 30882 h 31"/>
                <a:gd name="T14" fmla="*/ 26729 w 24"/>
                <a:gd name="T15" fmla="*/ 17655 h 31"/>
                <a:gd name="T16" fmla="*/ 26729 w 24"/>
                <a:gd name="T17" fmla="*/ 0 h 31"/>
                <a:gd name="T18" fmla="*/ 31956 w 24"/>
                <a:gd name="T19" fmla="*/ 5725 h 31"/>
                <a:gd name="T20" fmla="*/ 6540 w 24"/>
                <a:gd name="T21" fmla="*/ 5725 h 31"/>
                <a:gd name="T22" fmla="*/ 6540 w 24"/>
                <a:gd name="T23" fmla="*/ 15995 h 31"/>
                <a:gd name="T24" fmla="*/ 3679 w 24"/>
                <a:gd name="T25" fmla="*/ 19881 h 31"/>
                <a:gd name="T26" fmla="*/ 1 w 24"/>
                <a:gd name="T27" fmla="*/ 15995 h 31"/>
                <a:gd name="T28" fmla="*/ 1 w 24"/>
                <a:gd name="T29" fmla="*/ 0 h 31"/>
                <a:gd name="T30" fmla="*/ 6540 w 24"/>
                <a:gd name="T31" fmla="*/ 5725 h 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"/>
                <a:gd name="T49" fmla="*/ 0 h 31"/>
                <a:gd name="T50" fmla="*/ 24 w 24"/>
                <a:gd name="T51" fmla="*/ 31 h 3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8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5" y="29"/>
                    <a:pt x="7" y="29"/>
                    <a:pt x="8" y="29"/>
                  </a:cubicBezTo>
                  <a:cubicBezTo>
                    <a:pt x="15" y="29"/>
                    <a:pt x="20" y="24"/>
                    <a:pt x="20" y="17"/>
                  </a:cubicBezTo>
                  <a:lnTo>
                    <a:pt x="20" y="0"/>
                  </a:lnTo>
                  <a:cubicBezTo>
                    <a:pt x="22" y="0"/>
                    <a:pt x="24" y="2"/>
                    <a:pt x="24" y="5"/>
                  </a:cubicBezTo>
                  <a:close/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4" y="18"/>
                    <a:pt x="3" y="18"/>
                  </a:cubicBezTo>
                  <a:cubicBezTo>
                    <a:pt x="2" y="18"/>
                    <a:pt x="1" y="17"/>
                    <a:pt x="1" y="15"/>
                  </a:cubicBezTo>
                  <a:lnTo>
                    <a:pt x="1" y="0"/>
                  </a:lnTo>
                  <a:cubicBezTo>
                    <a:pt x="3" y="0"/>
                    <a:pt x="5" y="1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8" name="Freeform 140"/>
            <p:cNvSpPr>
              <a:spLocks/>
            </p:cNvSpPr>
            <p:nvPr/>
          </p:nvSpPr>
          <p:spPr bwMode="auto">
            <a:xfrm flipV="1">
              <a:off x="3694" y="488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3728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8" y="37"/>
                  </a:lnTo>
                  <a:cubicBezTo>
                    <a:pt x="5" y="37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9" name="Freeform 141"/>
            <p:cNvSpPr>
              <a:spLocks/>
            </p:cNvSpPr>
            <p:nvPr/>
          </p:nvSpPr>
          <p:spPr bwMode="auto">
            <a:xfrm flipV="1">
              <a:off x="3740" y="488"/>
              <a:ext cx="6" cy="24"/>
            </a:xfrm>
            <a:custGeom>
              <a:avLst/>
              <a:gdLst>
                <a:gd name="T0" fmla="*/ 446 w 5"/>
                <a:gd name="T1" fmla="*/ 6540 h 18"/>
                <a:gd name="T2" fmla="*/ 446 w 5"/>
                <a:gd name="T3" fmla="*/ 20047 h 18"/>
                <a:gd name="T4" fmla="*/ 2 w 5"/>
                <a:gd name="T5" fmla="*/ 23967 h 18"/>
                <a:gd name="T6" fmla="*/ 0 w 5"/>
                <a:gd name="T7" fmla="*/ 20047 h 18"/>
                <a:gd name="T8" fmla="*/ 0 w 5"/>
                <a:gd name="T9" fmla="*/ 0 h 18"/>
                <a:gd name="T10" fmla="*/ 446 w 5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"/>
                <a:gd name="T19" fmla="*/ 0 h 18"/>
                <a:gd name="T20" fmla="*/ 5 w 5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" h="18"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5" y="3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0" name="Freeform 142"/>
            <p:cNvSpPr>
              <a:spLocks/>
            </p:cNvSpPr>
            <p:nvPr/>
          </p:nvSpPr>
          <p:spPr bwMode="auto">
            <a:xfrm flipV="1">
              <a:off x="3754" y="488"/>
              <a:ext cx="16" cy="40"/>
            </a:xfrm>
            <a:custGeom>
              <a:avLst/>
              <a:gdLst>
                <a:gd name="T0" fmla="*/ 15503 w 12"/>
                <a:gd name="T1" fmla="*/ 3679 h 30"/>
                <a:gd name="T2" fmla="*/ 15503 w 12"/>
                <a:gd name="T3" fmla="*/ 27561 h 30"/>
                <a:gd name="T4" fmla="*/ 4905 w 12"/>
                <a:gd name="T5" fmla="*/ 39909 h 30"/>
                <a:gd name="T6" fmla="*/ 1 w 12"/>
                <a:gd name="T7" fmla="*/ 38839 h 30"/>
                <a:gd name="T8" fmla="*/ 3679 w 12"/>
                <a:gd name="T9" fmla="*/ 36748 h 30"/>
                <a:gd name="T10" fmla="*/ 4905 w 12"/>
                <a:gd name="T11" fmla="*/ 36748 h 30"/>
                <a:gd name="T12" fmla="*/ 11276 w 12"/>
                <a:gd name="T13" fmla="*/ 30476 h 30"/>
                <a:gd name="T14" fmla="*/ 11276 w 12"/>
                <a:gd name="T15" fmla="*/ 3679 h 30"/>
                <a:gd name="T16" fmla="*/ 3679 w 12"/>
                <a:gd name="T17" fmla="*/ 3679 h 30"/>
                <a:gd name="T18" fmla="*/ 0 w 12"/>
                <a:gd name="T19" fmla="*/ 0 h 30"/>
                <a:gd name="T20" fmla="*/ 11627 w 12"/>
                <a:gd name="T21" fmla="*/ 0 h 30"/>
                <a:gd name="T22" fmla="*/ 15503 w 12"/>
                <a:gd name="T23" fmla="*/ 3679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"/>
                <a:gd name="T37" fmla="*/ 0 h 30"/>
                <a:gd name="T38" fmla="*/ 12 w 12"/>
                <a:gd name="T39" fmla="*/ 30 h 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" h="30">
                  <a:moveTo>
                    <a:pt x="12" y="3"/>
                  </a:moveTo>
                  <a:lnTo>
                    <a:pt x="12" y="21"/>
                  </a:lnTo>
                  <a:cubicBezTo>
                    <a:pt x="12" y="26"/>
                    <a:pt x="9" y="30"/>
                    <a:pt x="4" y="30"/>
                  </a:cubicBezTo>
                  <a:cubicBezTo>
                    <a:pt x="4" y="30"/>
                    <a:pt x="2" y="30"/>
                    <a:pt x="1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6" y="28"/>
                    <a:pt x="8" y="26"/>
                    <a:pt x="8" y="23"/>
                  </a:cubicBezTo>
                  <a:lnTo>
                    <a:pt x="8" y="3"/>
                  </a:lnTo>
                  <a:lnTo>
                    <a:pt x="3" y="3"/>
                  </a:lnTo>
                  <a:cubicBezTo>
                    <a:pt x="1" y="3"/>
                    <a:pt x="0" y="2"/>
                    <a:pt x="0" y="0"/>
                  </a:cubicBezTo>
                  <a:lnTo>
                    <a:pt x="9" y="0"/>
                  </a:lnTo>
                  <a:cubicBezTo>
                    <a:pt x="11" y="1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Freeform 143"/>
            <p:cNvSpPr>
              <a:spLocks/>
            </p:cNvSpPr>
            <p:nvPr/>
          </p:nvSpPr>
          <p:spPr bwMode="auto">
            <a:xfrm flipV="1">
              <a:off x="3782" y="488"/>
              <a:ext cx="6" cy="41"/>
            </a:xfrm>
            <a:custGeom>
              <a:avLst/>
              <a:gdLst>
                <a:gd name="T0" fmla="*/ 92170 w 4"/>
                <a:gd name="T1" fmla="*/ 5725 h 31"/>
                <a:gd name="T2" fmla="*/ 92170 w 4"/>
                <a:gd name="T3" fmla="*/ 30644 h 31"/>
                <a:gd name="T4" fmla="*/ 40965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9217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2" name="Freeform 144"/>
            <p:cNvSpPr>
              <a:spLocks/>
            </p:cNvSpPr>
            <p:nvPr/>
          </p:nvSpPr>
          <p:spPr bwMode="auto">
            <a:xfrm flipV="1">
              <a:off x="3796" y="488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9366 w 22"/>
                <a:gd name="T5" fmla="*/ 33320 h 31"/>
                <a:gd name="T6" fmla="*/ 0 w 22"/>
                <a:gd name="T7" fmla="*/ 30882 h 31"/>
                <a:gd name="T8" fmla="*/ 3102 w 22"/>
                <a:gd name="T9" fmla="*/ 30644 h 31"/>
                <a:gd name="T10" fmla="*/ 4089 w 22"/>
                <a:gd name="T11" fmla="*/ 30644 h 31"/>
                <a:gd name="T12" fmla="*/ 8559 w 22"/>
                <a:gd name="T13" fmla="*/ 30882 h 31"/>
                <a:gd name="T14" fmla="*/ 18059 w 22"/>
                <a:gd name="T15" fmla="*/ 17655 h 31"/>
                <a:gd name="T16" fmla="*/ 18059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7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8" y="24"/>
                    <a:pt x="18" y="17"/>
                  </a:cubicBezTo>
                  <a:lnTo>
                    <a:pt x="18" y="0"/>
                  </a:lnTo>
                  <a:cubicBezTo>
                    <a:pt x="20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3" name="Freeform 145"/>
            <p:cNvSpPr>
              <a:spLocks/>
            </p:cNvSpPr>
            <p:nvPr/>
          </p:nvSpPr>
          <p:spPr bwMode="auto">
            <a:xfrm flipV="1">
              <a:off x="3835" y="488"/>
              <a:ext cx="35" cy="41"/>
            </a:xfrm>
            <a:custGeom>
              <a:avLst/>
              <a:gdLst>
                <a:gd name="T0" fmla="*/ 43370 w 26"/>
                <a:gd name="T1" fmla="*/ 20762 h 31"/>
                <a:gd name="T2" fmla="*/ 23933 w 26"/>
                <a:gd name="T3" fmla="*/ 33320 h 31"/>
                <a:gd name="T4" fmla="*/ 13728 w 26"/>
                <a:gd name="T5" fmla="*/ 30882 h 31"/>
                <a:gd name="T6" fmla="*/ 16437 w 26"/>
                <a:gd name="T7" fmla="*/ 30644 h 31"/>
                <a:gd name="T8" fmla="*/ 20755 w 26"/>
                <a:gd name="T9" fmla="*/ 30644 h 31"/>
                <a:gd name="T10" fmla="*/ 22127 w 26"/>
                <a:gd name="T11" fmla="*/ 30882 h 31"/>
                <a:gd name="T12" fmla="*/ 35390 w 26"/>
                <a:gd name="T13" fmla="*/ 20762 h 31"/>
                <a:gd name="T14" fmla="*/ 13728 w 26"/>
                <a:gd name="T15" fmla="*/ 3273 h 31"/>
                <a:gd name="T16" fmla="*/ 11453 w 26"/>
                <a:gd name="T17" fmla="*/ 3273 h 31"/>
                <a:gd name="T18" fmla="*/ 6320 w 26"/>
                <a:gd name="T19" fmla="*/ 33320 h 31"/>
                <a:gd name="T20" fmla="*/ 0 w 26"/>
                <a:gd name="T21" fmla="*/ 27979 h 31"/>
                <a:gd name="T22" fmla="*/ 0 w 26"/>
                <a:gd name="T23" fmla="*/ 26294 h 31"/>
                <a:gd name="T24" fmla="*/ 4695 w 26"/>
                <a:gd name="T25" fmla="*/ 1 h 31"/>
                <a:gd name="T26" fmla="*/ 11453 w 26"/>
                <a:gd name="T27" fmla="*/ 0 h 31"/>
                <a:gd name="T28" fmla="*/ 43370 w 26"/>
                <a:gd name="T29" fmla="*/ 20762 h 3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1"/>
                <a:gd name="T47" fmla="*/ 26 w 26"/>
                <a:gd name="T48" fmla="*/ 31 h 3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1">
                  <a:moveTo>
                    <a:pt x="26" y="19"/>
                  </a:moveTo>
                  <a:cubicBezTo>
                    <a:pt x="26" y="27"/>
                    <a:pt x="21" y="31"/>
                    <a:pt x="14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7" y="29"/>
                    <a:pt x="21" y="25"/>
                    <a:pt x="21" y="19"/>
                  </a:cubicBezTo>
                  <a:cubicBezTo>
                    <a:pt x="21" y="11"/>
                    <a:pt x="15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6" y="10"/>
                    <a:pt x="26" y="1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4" name="Freeform 146"/>
            <p:cNvSpPr>
              <a:spLocks/>
            </p:cNvSpPr>
            <p:nvPr/>
          </p:nvSpPr>
          <p:spPr bwMode="auto">
            <a:xfrm flipV="1">
              <a:off x="3876" y="488"/>
              <a:ext cx="36" cy="53"/>
            </a:xfrm>
            <a:custGeom>
              <a:avLst/>
              <a:gdLst>
                <a:gd name="T0" fmla="*/ 35639 w 27"/>
                <a:gd name="T1" fmla="*/ 31650 h 40"/>
                <a:gd name="T2" fmla="*/ 20047 w 27"/>
                <a:gd name="T3" fmla="*/ 45273 h 40"/>
                <a:gd name="T4" fmla="*/ 0 w 27"/>
                <a:gd name="T5" fmla="*/ 45273 h 40"/>
                <a:gd name="T6" fmla="*/ 4905 w 27"/>
                <a:gd name="T7" fmla="*/ 41936 h 40"/>
                <a:gd name="T8" fmla="*/ 11276 w 27"/>
                <a:gd name="T9" fmla="*/ 41936 h 40"/>
                <a:gd name="T10" fmla="*/ 2759 w 27"/>
                <a:gd name="T11" fmla="*/ 29117 h 40"/>
                <a:gd name="T12" fmla="*/ 2759 w 27"/>
                <a:gd name="T13" fmla="*/ 0 h 40"/>
                <a:gd name="T14" fmla="*/ 8720 w 27"/>
                <a:gd name="T15" fmla="*/ 5849 h 40"/>
                <a:gd name="T16" fmla="*/ 8720 w 27"/>
                <a:gd name="T17" fmla="*/ 31617 h 40"/>
                <a:gd name="T18" fmla="*/ 18660 w 27"/>
                <a:gd name="T19" fmla="*/ 41936 h 40"/>
                <a:gd name="T20" fmla="*/ 30476 w 27"/>
                <a:gd name="T21" fmla="*/ 31617 h 40"/>
                <a:gd name="T22" fmla="*/ 20047 w 27"/>
                <a:gd name="T23" fmla="*/ 16124 h 40"/>
                <a:gd name="T24" fmla="*/ 15035 w 27"/>
                <a:gd name="T25" fmla="*/ 11085 h 40"/>
                <a:gd name="T26" fmla="*/ 35639 w 27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"/>
                <a:gd name="T43" fmla="*/ 0 h 40"/>
                <a:gd name="T44" fmla="*/ 27 w 27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" h="40">
                  <a:moveTo>
                    <a:pt x="27" y="28"/>
                  </a:moveTo>
                  <a:cubicBezTo>
                    <a:pt x="27" y="34"/>
                    <a:pt x="23" y="40"/>
                    <a:pt x="15" y="40"/>
                  </a:cubicBezTo>
                  <a:lnTo>
                    <a:pt x="0" y="40"/>
                  </a:lnTo>
                  <a:cubicBezTo>
                    <a:pt x="1" y="38"/>
                    <a:pt x="2" y="37"/>
                    <a:pt x="4" y="37"/>
                  </a:cubicBezTo>
                  <a:lnTo>
                    <a:pt x="8" y="37"/>
                  </a:lnTo>
                  <a:cubicBezTo>
                    <a:pt x="6" y="37"/>
                    <a:pt x="2" y="32"/>
                    <a:pt x="2" y="26"/>
                  </a:cubicBezTo>
                  <a:lnTo>
                    <a:pt x="2" y="0"/>
                  </a:lnTo>
                  <a:cubicBezTo>
                    <a:pt x="6" y="0"/>
                    <a:pt x="7" y="3"/>
                    <a:pt x="7" y="5"/>
                  </a:cubicBezTo>
                  <a:lnTo>
                    <a:pt x="7" y="27"/>
                  </a:lnTo>
                  <a:cubicBezTo>
                    <a:pt x="7" y="33"/>
                    <a:pt x="9" y="37"/>
                    <a:pt x="14" y="37"/>
                  </a:cubicBezTo>
                  <a:cubicBezTo>
                    <a:pt x="20" y="37"/>
                    <a:pt x="23" y="32"/>
                    <a:pt x="23" y="27"/>
                  </a:cubicBezTo>
                  <a:cubicBezTo>
                    <a:pt x="23" y="20"/>
                    <a:pt x="19" y="16"/>
                    <a:pt x="15" y="14"/>
                  </a:cubicBezTo>
                  <a:cubicBezTo>
                    <a:pt x="12" y="13"/>
                    <a:pt x="12" y="12"/>
                    <a:pt x="11" y="10"/>
                  </a:cubicBezTo>
                  <a:cubicBezTo>
                    <a:pt x="18" y="11"/>
                    <a:pt x="27" y="17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Freeform 147"/>
            <p:cNvSpPr>
              <a:spLocks/>
            </p:cNvSpPr>
            <p:nvPr/>
          </p:nvSpPr>
          <p:spPr bwMode="auto">
            <a:xfrm flipV="1">
              <a:off x="3922" y="478"/>
              <a:ext cx="28" cy="51"/>
            </a:xfrm>
            <a:custGeom>
              <a:avLst/>
              <a:gdLst>
                <a:gd name="T0" fmla="*/ 27561 w 21"/>
                <a:gd name="T1" fmla="*/ 18105 h 39"/>
                <a:gd name="T2" fmla="*/ 17143 w 21"/>
                <a:gd name="T3" fmla="*/ 26147 h 39"/>
                <a:gd name="T4" fmla="*/ 4905 w 21"/>
                <a:gd name="T5" fmla="*/ 26147 h 39"/>
                <a:gd name="T6" fmla="*/ 4905 w 21"/>
                <a:gd name="T7" fmla="*/ 32016 h 39"/>
                <a:gd name="T8" fmla="*/ 0 w 21"/>
                <a:gd name="T9" fmla="*/ 27649 h 39"/>
                <a:gd name="T10" fmla="*/ 0 w 21"/>
                <a:gd name="T11" fmla="*/ 22894 h 39"/>
                <a:gd name="T12" fmla="*/ 15035 w 21"/>
                <a:gd name="T13" fmla="*/ 22894 h 39"/>
                <a:gd name="T14" fmla="*/ 22857 w 21"/>
                <a:gd name="T15" fmla="*/ 16678 h 39"/>
                <a:gd name="T16" fmla="*/ 8720 w 21"/>
                <a:gd name="T17" fmla="*/ 3335 h 39"/>
                <a:gd name="T18" fmla="*/ 3679 w 21"/>
                <a:gd name="T19" fmla="*/ 0 h 39"/>
                <a:gd name="T20" fmla="*/ 27561 w 21"/>
                <a:gd name="T21" fmla="*/ 18105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"/>
                <a:gd name="T34" fmla="*/ 0 h 39"/>
                <a:gd name="T35" fmla="*/ 21 w 21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" h="39">
                  <a:moveTo>
                    <a:pt x="21" y="22"/>
                  </a:moveTo>
                  <a:cubicBezTo>
                    <a:pt x="21" y="27"/>
                    <a:pt x="18" y="31"/>
                    <a:pt x="13" y="31"/>
                  </a:cubicBezTo>
                  <a:lnTo>
                    <a:pt x="4" y="31"/>
                  </a:lnTo>
                  <a:lnTo>
                    <a:pt x="4" y="39"/>
                  </a:lnTo>
                  <a:cubicBezTo>
                    <a:pt x="2" y="39"/>
                    <a:pt x="0" y="38"/>
                    <a:pt x="0" y="34"/>
                  </a:cubicBezTo>
                  <a:lnTo>
                    <a:pt x="0" y="28"/>
                  </a:lnTo>
                  <a:lnTo>
                    <a:pt x="11" y="28"/>
                  </a:lnTo>
                  <a:cubicBezTo>
                    <a:pt x="13" y="28"/>
                    <a:pt x="17" y="27"/>
                    <a:pt x="17" y="21"/>
                  </a:cubicBezTo>
                  <a:cubicBezTo>
                    <a:pt x="17" y="12"/>
                    <a:pt x="11" y="6"/>
                    <a:pt x="7" y="4"/>
                  </a:cubicBezTo>
                  <a:cubicBezTo>
                    <a:pt x="5" y="3"/>
                    <a:pt x="3" y="2"/>
                    <a:pt x="3" y="0"/>
                  </a:cubicBezTo>
                  <a:cubicBezTo>
                    <a:pt x="10" y="1"/>
                    <a:pt x="21" y="9"/>
                    <a:pt x="21" y="2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6" name="Freeform 148"/>
            <p:cNvSpPr>
              <a:spLocks/>
            </p:cNvSpPr>
            <p:nvPr/>
          </p:nvSpPr>
          <p:spPr bwMode="auto">
            <a:xfrm flipV="1">
              <a:off x="3960" y="488"/>
              <a:ext cx="32" cy="41"/>
            </a:xfrm>
            <a:custGeom>
              <a:avLst/>
              <a:gdLst>
                <a:gd name="T0" fmla="*/ 31956 w 24"/>
                <a:gd name="T1" fmla="*/ 2475 h 31"/>
                <a:gd name="T2" fmla="*/ 30476 w 24"/>
                <a:gd name="T3" fmla="*/ 6914 h 31"/>
                <a:gd name="T4" fmla="*/ 22857 w 24"/>
                <a:gd name="T5" fmla="*/ 13246 h 31"/>
                <a:gd name="T6" fmla="*/ 30476 w 24"/>
                <a:gd name="T7" fmla="*/ 23350 h 31"/>
                <a:gd name="T8" fmla="*/ 30476 w 24"/>
                <a:gd name="T9" fmla="*/ 33320 h 31"/>
                <a:gd name="T10" fmla="*/ 24880 w 24"/>
                <a:gd name="T11" fmla="*/ 27979 h 31"/>
                <a:gd name="T12" fmla="*/ 24880 w 24"/>
                <a:gd name="T13" fmla="*/ 21155 h 31"/>
                <a:gd name="T14" fmla="*/ 20671 w 24"/>
                <a:gd name="T15" fmla="*/ 15698 h 31"/>
                <a:gd name="T16" fmla="*/ 1 w 24"/>
                <a:gd name="T17" fmla="*/ 33320 h 31"/>
                <a:gd name="T18" fmla="*/ 0 w 24"/>
                <a:gd name="T19" fmla="*/ 30882 h 31"/>
                <a:gd name="T20" fmla="*/ 1 w 24"/>
                <a:gd name="T21" fmla="*/ 27979 h 31"/>
                <a:gd name="T22" fmla="*/ 8457 w 24"/>
                <a:gd name="T23" fmla="*/ 21155 h 31"/>
                <a:gd name="T24" fmla="*/ 0 w 24"/>
                <a:gd name="T25" fmla="*/ 10093 h 31"/>
                <a:gd name="T26" fmla="*/ 0 w 24"/>
                <a:gd name="T27" fmla="*/ 0 h 31"/>
                <a:gd name="T28" fmla="*/ 4905 w 24"/>
                <a:gd name="T29" fmla="*/ 5725 h 31"/>
                <a:gd name="T30" fmla="*/ 4905 w 24"/>
                <a:gd name="T31" fmla="*/ 12094 h 31"/>
                <a:gd name="T32" fmla="*/ 11276 w 24"/>
                <a:gd name="T33" fmla="*/ 19881 h 31"/>
                <a:gd name="T34" fmla="*/ 30476 w 24"/>
                <a:gd name="T35" fmla="*/ 0 h 31"/>
                <a:gd name="T36" fmla="*/ 31956 w 24"/>
                <a:gd name="T37" fmla="*/ 2475 h 3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4"/>
                <a:gd name="T58" fmla="*/ 0 h 31"/>
                <a:gd name="T59" fmla="*/ 24 w 24"/>
                <a:gd name="T60" fmla="*/ 31 h 3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4" h="31">
                  <a:moveTo>
                    <a:pt x="24" y="2"/>
                  </a:moveTo>
                  <a:cubicBezTo>
                    <a:pt x="24" y="4"/>
                    <a:pt x="23" y="5"/>
                    <a:pt x="23" y="6"/>
                  </a:cubicBezTo>
                  <a:lnTo>
                    <a:pt x="17" y="12"/>
                  </a:lnTo>
                  <a:cubicBezTo>
                    <a:pt x="20" y="14"/>
                    <a:pt x="23" y="18"/>
                    <a:pt x="23" y="22"/>
                  </a:cubicBezTo>
                  <a:lnTo>
                    <a:pt x="23" y="31"/>
                  </a:lnTo>
                  <a:cubicBezTo>
                    <a:pt x="21" y="31"/>
                    <a:pt x="19" y="30"/>
                    <a:pt x="19" y="26"/>
                  </a:cubicBezTo>
                  <a:lnTo>
                    <a:pt x="19" y="20"/>
                  </a:lnTo>
                  <a:cubicBezTo>
                    <a:pt x="19" y="16"/>
                    <a:pt x="17" y="15"/>
                    <a:pt x="16" y="14"/>
                  </a:cubicBezTo>
                  <a:lnTo>
                    <a:pt x="1" y="31"/>
                  </a:lnTo>
                  <a:cubicBezTo>
                    <a:pt x="0" y="31"/>
                    <a:pt x="0" y="30"/>
                    <a:pt x="0" y="29"/>
                  </a:cubicBezTo>
                  <a:cubicBezTo>
                    <a:pt x="0" y="28"/>
                    <a:pt x="0" y="27"/>
                    <a:pt x="1" y="26"/>
                  </a:cubicBezTo>
                  <a:lnTo>
                    <a:pt x="6" y="20"/>
                  </a:lnTo>
                  <a:cubicBezTo>
                    <a:pt x="3" y="19"/>
                    <a:pt x="0" y="14"/>
                    <a:pt x="0" y="10"/>
                  </a:cubicBezTo>
                  <a:lnTo>
                    <a:pt x="0" y="0"/>
                  </a:lnTo>
                  <a:cubicBezTo>
                    <a:pt x="2" y="0"/>
                    <a:pt x="4" y="2"/>
                    <a:pt x="4" y="5"/>
                  </a:cubicBezTo>
                  <a:lnTo>
                    <a:pt x="4" y="11"/>
                  </a:lnTo>
                  <a:cubicBezTo>
                    <a:pt x="4" y="15"/>
                    <a:pt x="5" y="18"/>
                    <a:pt x="8" y="18"/>
                  </a:cubicBezTo>
                  <a:lnTo>
                    <a:pt x="23" y="0"/>
                  </a:lnTo>
                  <a:cubicBezTo>
                    <a:pt x="23" y="1"/>
                    <a:pt x="24" y="2"/>
                    <a:pt x="24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7" name="Rectangle 149"/>
            <p:cNvSpPr>
              <a:spLocks noChangeArrowheads="1"/>
            </p:cNvSpPr>
            <p:nvPr/>
          </p:nvSpPr>
          <p:spPr bwMode="auto">
            <a:xfrm>
              <a:off x="4259" y="483"/>
              <a:ext cx="39" cy="3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8" name="Rectangle 150"/>
            <p:cNvSpPr>
              <a:spLocks noChangeArrowheads="1"/>
            </p:cNvSpPr>
            <p:nvPr/>
          </p:nvSpPr>
          <p:spPr bwMode="auto">
            <a:xfrm>
              <a:off x="4201" y="484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144" y="486"/>
              <a:ext cx="33" cy="34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085" y="487"/>
              <a:ext cx="32" cy="32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1" name="Rectangle 153"/>
            <p:cNvSpPr>
              <a:spLocks noChangeArrowheads="1"/>
            </p:cNvSpPr>
            <p:nvPr/>
          </p:nvSpPr>
          <p:spPr bwMode="auto">
            <a:xfrm>
              <a:off x="4028" y="488"/>
              <a:ext cx="28" cy="2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2" name="Rectangle 154"/>
            <p:cNvSpPr>
              <a:spLocks noChangeArrowheads="1"/>
            </p:cNvSpPr>
            <p:nvPr/>
          </p:nvSpPr>
          <p:spPr bwMode="auto">
            <a:xfrm>
              <a:off x="4259" y="580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3" name="Rectangle 155"/>
            <p:cNvSpPr>
              <a:spLocks noChangeArrowheads="1"/>
            </p:cNvSpPr>
            <p:nvPr/>
          </p:nvSpPr>
          <p:spPr bwMode="auto">
            <a:xfrm>
              <a:off x="4201" y="581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4" name="Rectangle 156"/>
            <p:cNvSpPr>
              <a:spLocks noChangeArrowheads="1"/>
            </p:cNvSpPr>
            <p:nvPr/>
          </p:nvSpPr>
          <p:spPr bwMode="auto">
            <a:xfrm>
              <a:off x="4144" y="583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5" name="Rectangle 157"/>
            <p:cNvSpPr>
              <a:spLocks noChangeArrowheads="1"/>
            </p:cNvSpPr>
            <p:nvPr/>
          </p:nvSpPr>
          <p:spPr bwMode="auto">
            <a:xfrm>
              <a:off x="4085" y="584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Rectangle 158"/>
            <p:cNvSpPr>
              <a:spLocks noChangeArrowheads="1"/>
            </p:cNvSpPr>
            <p:nvPr/>
          </p:nvSpPr>
          <p:spPr bwMode="auto">
            <a:xfrm>
              <a:off x="4028" y="585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Rectangle 159"/>
            <p:cNvSpPr>
              <a:spLocks noChangeArrowheads="1"/>
            </p:cNvSpPr>
            <p:nvPr/>
          </p:nvSpPr>
          <p:spPr bwMode="auto">
            <a:xfrm>
              <a:off x="4259" y="677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Rectangle 160"/>
            <p:cNvSpPr>
              <a:spLocks noChangeArrowheads="1"/>
            </p:cNvSpPr>
            <p:nvPr/>
          </p:nvSpPr>
          <p:spPr bwMode="auto">
            <a:xfrm>
              <a:off x="4201" y="679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9" name="Rectangle 161"/>
            <p:cNvSpPr>
              <a:spLocks noChangeArrowheads="1"/>
            </p:cNvSpPr>
            <p:nvPr/>
          </p:nvSpPr>
          <p:spPr bwMode="auto">
            <a:xfrm>
              <a:off x="4144" y="680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0" name="Rectangle 162"/>
            <p:cNvSpPr>
              <a:spLocks noChangeArrowheads="1"/>
            </p:cNvSpPr>
            <p:nvPr/>
          </p:nvSpPr>
          <p:spPr bwMode="auto">
            <a:xfrm>
              <a:off x="4085" y="681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1" name="Rectangle 163"/>
            <p:cNvSpPr>
              <a:spLocks noChangeArrowheads="1"/>
            </p:cNvSpPr>
            <p:nvPr/>
          </p:nvSpPr>
          <p:spPr bwMode="auto">
            <a:xfrm>
              <a:off x="4028" y="683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</p:grpSp>
      <p:pic>
        <p:nvPicPr>
          <p:cNvPr id="62" name="Picture 58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976" y="112198"/>
            <a:ext cx="5715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789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40465C-8A53-4911-9A00-2C946368ECA6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52938-1B01-4537-A25E-FAEE73EDB538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27EFFE-027F-4D77-9407-5C6CEFFE4258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B1ADD0-A997-41D7-9664-6AC9018CBCD5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1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134BD6-B894-4FB8-86FC-1A951B8385A0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1BA823-ABCA-407C-B228-501524F0E55B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5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D78BF0-5E00-46C6-A6C6-19ED10E2FF4F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72AF5F-50CD-45ED-AD4F-AF7A4E8579BD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55A330-699D-40BA-8A68-E3DD98EB0970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06AC3E-00B4-4463-BC65-A60E1D24C7A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2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2E14B6-5471-4254-99F9-E0D38C4C60B0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BC94C3-7C82-485D-8E8B-5AC63A00891C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6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3DB0A9-33D3-4C81-9BE9-D7EF95D9346E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1EB3CF-63D4-4437-9550-501DC0BD9EE9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3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1111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7540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385357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8594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450376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4062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9CE4AC-2C71-4594-BD9A-B49FB726B1B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AFAC80-1EB7-4463-8FF1-984DC6CD2F3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44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4F35FD-C650-4FEB-A68C-CA3BC700C471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98B99-E041-49CA-9DE2-42DD07B3FB2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0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04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8192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649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94597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1660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8346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75056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0462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98455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20695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96700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5324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gradFill flip="none" rotWithShape="1">
          <a:gsLst>
            <a:gs pos="75000">
              <a:schemeClr val="tx2">
                <a:lumMod val="60000"/>
                <a:lumOff val="40000"/>
              </a:schemeClr>
            </a:gs>
            <a:gs pos="89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0392" y="6129697"/>
            <a:ext cx="856907" cy="6699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8F391A-EBEF-4E17-8774-1E7237B35061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755576" y="17126"/>
            <a:ext cx="7606651" cy="1339424"/>
            <a:chOff x="-807" y="88"/>
            <a:chExt cx="11862" cy="1828"/>
          </a:xfrm>
        </p:grpSpPr>
        <p:grpSp>
          <p:nvGrpSpPr>
            <p:cNvPr id="14" name="Group 13"/>
            <p:cNvGrpSpPr>
              <a:grpSpLocks/>
            </p:cNvGrpSpPr>
            <p:nvPr userDrawn="1"/>
          </p:nvGrpSpPr>
          <p:grpSpPr bwMode="auto">
            <a:xfrm>
              <a:off x="10155" y="926"/>
              <a:ext cx="741" cy="545"/>
              <a:chOff x="10050" y="2259"/>
              <a:chExt cx="771" cy="636"/>
            </a:xfrm>
          </p:grpSpPr>
          <p:grpSp>
            <p:nvGrpSpPr>
              <p:cNvPr id="27" name="Group 26"/>
              <p:cNvGrpSpPr>
                <a:grpSpLocks/>
              </p:cNvGrpSpPr>
              <p:nvPr userDrawn="1"/>
            </p:nvGrpSpPr>
            <p:grpSpPr bwMode="auto">
              <a:xfrm>
                <a:off x="10050" y="2259"/>
                <a:ext cx="771" cy="120"/>
                <a:chOff x="10050" y="2259"/>
                <a:chExt cx="771" cy="120"/>
              </a:xfrm>
            </p:grpSpPr>
            <p:sp>
              <p:nvSpPr>
                <p:cNvPr id="40" name="Rectangle 39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1" name="Rectangle 40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2" name="Rectangle 41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3" name="Rectangle 42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4" name="Rectangle 43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28" name="Group 27"/>
              <p:cNvGrpSpPr>
                <a:grpSpLocks/>
              </p:cNvGrpSpPr>
              <p:nvPr userDrawn="1"/>
            </p:nvGrpSpPr>
            <p:grpSpPr bwMode="auto">
              <a:xfrm>
                <a:off x="10050" y="2517"/>
                <a:ext cx="771" cy="120"/>
                <a:chOff x="10050" y="2259"/>
                <a:chExt cx="771" cy="120"/>
              </a:xfrm>
            </p:grpSpPr>
            <p:sp>
              <p:nvSpPr>
                <p:cNvPr id="35" name="Rectangle 34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6" name="Rectangle 35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7" name="Rectangle 36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8" name="Rectangle 37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9" name="Rectangle 38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29" name="Group 28"/>
              <p:cNvGrpSpPr>
                <a:grpSpLocks/>
              </p:cNvGrpSpPr>
              <p:nvPr userDrawn="1"/>
            </p:nvGrpSpPr>
            <p:grpSpPr bwMode="auto">
              <a:xfrm>
                <a:off x="10050" y="2775"/>
                <a:ext cx="771" cy="120"/>
                <a:chOff x="10050" y="2259"/>
                <a:chExt cx="771" cy="120"/>
              </a:xfrm>
            </p:grpSpPr>
            <p:sp>
              <p:nvSpPr>
                <p:cNvPr id="30" name="Rectangle 29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1" name="Rectangle 30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2" name="Rectangle 31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3" name="Rectangle 32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4" name="Rectangle 33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</p:grpSp>
        <p:sp>
          <p:nvSpPr>
            <p:cNvPr id="15" name="Text Box 22"/>
            <p:cNvSpPr txBox="1">
              <a:spLocks noChangeArrowheads="1"/>
            </p:cNvSpPr>
            <p:nvPr userDrawn="1"/>
          </p:nvSpPr>
          <p:spPr bwMode="auto">
            <a:xfrm>
              <a:off x="5481" y="523"/>
              <a:ext cx="5574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ahoma" panose="020B0604030504040204" pitchFamily="34" charset="0"/>
                </a:rPr>
                <a:t>הפקולטה להנדסת חשמל ע"ש אנדרו וארנה ויטרבי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8" name="Text Box 23"/>
            <p:cNvSpPr txBox="1">
              <a:spLocks noChangeArrowheads="1"/>
            </p:cNvSpPr>
            <p:nvPr userDrawn="1"/>
          </p:nvSpPr>
          <p:spPr bwMode="auto">
            <a:xfrm>
              <a:off x="7275" y="805"/>
              <a:ext cx="2880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אלקטרוניקה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20" name="Text Box 24"/>
            <p:cNvSpPr txBox="1">
              <a:spLocks noChangeArrowheads="1"/>
            </p:cNvSpPr>
            <p:nvPr userDrawn="1"/>
          </p:nvSpPr>
          <p:spPr bwMode="auto">
            <a:xfrm>
              <a:off x="7288" y="1032"/>
              <a:ext cx="2880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מחשבים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24" name="Text Box 25"/>
            <p:cNvSpPr txBox="1">
              <a:spLocks noChangeArrowheads="1"/>
            </p:cNvSpPr>
            <p:nvPr userDrawn="1"/>
          </p:nvSpPr>
          <p:spPr bwMode="auto">
            <a:xfrm>
              <a:off x="7288" y="1278"/>
              <a:ext cx="2880" cy="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תקשורת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26" name="Text Box 27"/>
            <p:cNvSpPr txBox="1">
              <a:spLocks noChangeArrowheads="1"/>
            </p:cNvSpPr>
            <p:nvPr userDrawn="1"/>
          </p:nvSpPr>
          <p:spPr bwMode="auto">
            <a:xfrm>
              <a:off x="-807" y="88"/>
              <a:ext cx="4678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הטכניון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מכון טכנולוגי לישראל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46" name="Picture 165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763" y="156728"/>
            <a:ext cx="5715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66830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533C76-4298-43FB-B1BD-0F0829E2ADDB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76DBF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6DBF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76DBF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76DBF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grpSp>
        <p:nvGrpSpPr>
          <p:cNvPr id="63" name="Group 62"/>
          <p:cNvGrpSpPr>
            <a:grpSpLocks/>
          </p:cNvGrpSpPr>
          <p:nvPr/>
        </p:nvGrpSpPr>
        <p:grpSpPr bwMode="auto">
          <a:xfrm>
            <a:off x="925563" y="172922"/>
            <a:ext cx="7870314" cy="1180422"/>
            <a:chOff x="-512" y="305"/>
            <a:chExt cx="11567" cy="1611"/>
          </a:xfrm>
        </p:grpSpPr>
        <p:grpSp>
          <p:nvGrpSpPr>
            <p:cNvPr id="64" name="Group 63"/>
            <p:cNvGrpSpPr>
              <a:grpSpLocks/>
            </p:cNvGrpSpPr>
            <p:nvPr userDrawn="1"/>
          </p:nvGrpSpPr>
          <p:grpSpPr bwMode="auto">
            <a:xfrm>
              <a:off x="10155" y="926"/>
              <a:ext cx="741" cy="545"/>
              <a:chOff x="10050" y="2259"/>
              <a:chExt cx="771" cy="636"/>
            </a:xfrm>
          </p:grpSpPr>
          <p:grpSp>
            <p:nvGrpSpPr>
              <p:cNvPr id="70" name="Group 69"/>
              <p:cNvGrpSpPr>
                <a:grpSpLocks/>
              </p:cNvGrpSpPr>
              <p:nvPr userDrawn="1"/>
            </p:nvGrpSpPr>
            <p:grpSpPr bwMode="auto">
              <a:xfrm>
                <a:off x="10050" y="2259"/>
                <a:ext cx="771" cy="120"/>
                <a:chOff x="10050" y="2259"/>
                <a:chExt cx="771" cy="120"/>
              </a:xfrm>
            </p:grpSpPr>
            <p:sp>
              <p:nvSpPr>
                <p:cNvPr id="83" name="Rectangle 82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" name="Rectangle 83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" name="Rectangle 84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" name="Rectangle 85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" name="Rectangle 86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71" name="Group 70"/>
              <p:cNvGrpSpPr>
                <a:grpSpLocks/>
              </p:cNvGrpSpPr>
              <p:nvPr userDrawn="1"/>
            </p:nvGrpSpPr>
            <p:grpSpPr bwMode="auto">
              <a:xfrm>
                <a:off x="10050" y="2517"/>
                <a:ext cx="771" cy="120"/>
                <a:chOff x="10050" y="2259"/>
                <a:chExt cx="771" cy="120"/>
              </a:xfrm>
            </p:grpSpPr>
            <p:sp>
              <p:nvSpPr>
                <p:cNvPr id="78" name="Rectangle 77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" name="Rectangle 78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" name="Rectangle 79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" name="Rectangle 80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" name="Rectangle 81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72" name="Group 71"/>
              <p:cNvGrpSpPr>
                <a:grpSpLocks/>
              </p:cNvGrpSpPr>
              <p:nvPr userDrawn="1"/>
            </p:nvGrpSpPr>
            <p:grpSpPr bwMode="auto">
              <a:xfrm>
                <a:off x="10050" y="2775"/>
                <a:ext cx="771" cy="120"/>
                <a:chOff x="10050" y="2259"/>
                <a:chExt cx="771" cy="120"/>
              </a:xfrm>
            </p:grpSpPr>
            <p:sp>
              <p:nvSpPr>
                <p:cNvPr id="73" name="Rectangle 72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" name="Rectangle 73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" name="Rectangle 74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" name="Rectangle 75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" name="Rectangle 76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</p:grpSp>
        <p:sp>
          <p:nvSpPr>
            <p:cNvPr id="65" name="Text Box 22"/>
            <p:cNvSpPr txBox="1">
              <a:spLocks noChangeArrowheads="1"/>
            </p:cNvSpPr>
            <p:nvPr userDrawn="1"/>
          </p:nvSpPr>
          <p:spPr bwMode="auto">
            <a:xfrm>
              <a:off x="5481" y="523"/>
              <a:ext cx="5574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ahoma" panose="020B0604030504040204" pitchFamily="34" charset="0"/>
                </a:rPr>
                <a:t>הפקולטה להנדסת חשמל ע"ש אנדרו וארנה ויטרבי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66" name="Text Box 23"/>
            <p:cNvSpPr txBox="1">
              <a:spLocks noChangeArrowheads="1"/>
            </p:cNvSpPr>
            <p:nvPr userDrawn="1"/>
          </p:nvSpPr>
          <p:spPr bwMode="auto">
            <a:xfrm>
              <a:off x="7275" y="805"/>
              <a:ext cx="2880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אלקטרוניקה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67" name="Text Box 24"/>
            <p:cNvSpPr txBox="1">
              <a:spLocks noChangeArrowheads="1"/>
            </p:cNvSpPr>
            <p:nvPr userDrawn="1"/>
          </p:nvSpPr>
          <p:spPr bwMode="auto">
            <a:xfrm>
              <a:off x="7288" y="1032"/>
              <a:ext cx="2880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מחשבים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68" name="Text Box 25"/>
            <p:cNvSpPr txBox="1">
              <a:spLocks noChangeArrowheads="1"/>
            </p:cNvSpPr>
            <p:nvPr userDrawn="1"/>
          </p:nvSpPr>
          <p:spPr bwMode="auto">
            <a:xfrm>
              <a:off x="7288" y="1278"/>
              <a:ext cx="2880" cy="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תקשורת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69" name="Text Box 27"/>
            <p:cNvSpPr txBox="1">
              <a:spLocks noChangeArrowheads="1"/>
            </p:cNvSpPr>
            <p:nvPr userDrawn="1"/>
          </p:nvSpPr>
          <p:spPr bwMode="auto">
            <a:xfrm>
              <a:off x="-512" y="305"/>
              <a:ext cx="4261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הטכניון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Times New Roman" panose="02020603050405020304" pitchFamily="18" charset="0"/>
                  <a:cs typeface="Arial" charset="0"/>
                </a:rPr>
                <a:t>- </a:t>
              </a: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מכון טכנולוגי לישראל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</p:grpSp>
      <p:pic>
        <p:nvPicPr>
          <p:cNvPr id="88" name="Picture 165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9168" y="153522"/>
            <a:ext cx="606372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13949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40465C-8A53-4911-9A00-2C946368ECA6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152938-1B01-4537-A25E-FAEE73EDB538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3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bg2">
                  <a:lumMod val="75000"/>
                </a:schemeClr>
              </a:buClr>
              <a:buSzPct val="92000"/>
              <a:buFont typeface="Arial" panose="020B0604020202020204" pitchFamily="34" charset="0"/>
              <a:buChar char="•"/>
              <a:defRPr>
                <a:solidFill>
                  <a:srgbClr val="3333CC"/>
                </a:solidFill>
              </a:defRPr>
            </a:lvl1pPr>
            <a:lvl2pPr marL="742950" indent="-285750"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§"/>
              <a:defRPr>
                <a:solidFill>
                  <a:srgbClr val="3333CC"/>
                </a:solidFill>
              </a:defRPr>
            </a:lvl2pPr>
            <a:lvl3pPr marL="12001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>
                <a:solidFill>
                  <a:srgbClr val="3333CC"/>
                </a:solidFill>
              </a:defRPr>
            </a:lvl3pPr>
            <a:lvl4pPr>
              <a:defRPr>
                <a:solidFill>
                  <a:srgbClr val="3333CC"/>
                </a:solidFill>
              </a:defRPr>
            </a:lvl4pPr>
            <a:lvl5pPr>
              <a:defRPr>
                <a:solidFill>
                  <a:srgbClr val="3333CC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27EFFE-027F-4D77-9407-5C6CEFFE4258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B1ADD0-A997-41D7-9664-6AC9018CBCD5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34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34BD6-B894-4FB8-86FC-1A951B8385A0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1BA823-ABCA-407C-B228-501524F0E55B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727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D78BF0-5E00-46C6-A6C6-19ED10E2FF4F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72AF5F-50CD-45ED-AD4F-AF7A4E8579BD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7590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55A330-699D-40BA-8A68-E3DD98EB0970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06AC3E-00B4-4463-BC65-A60E1D24C7AA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0366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2E14B6-5471-4254-99F9-E0D38C4C60B0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BC94C3-7C82-485D-8E8B-5AC63A00891C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5206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3DB0A9-33D3-4C81-9BE9-D7EF95D9346E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EB3CF-63D4-4437-9550-501DC0BD9EE9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4629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820451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060003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6900617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89358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3948921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900318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9CE4AC-2C71-4594-BD9A-B49FB726B1B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FAC80-1EB7-4463-8FF1-984DC6CD2F31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571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4F35FD-C650-4FEB-A68C-CA3BC700C471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B98B99-E041-49CA-9DE2-42DD07B3FB2A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9319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37EB28-67B3-4B78-AFDE-937222F342B9}" type="datetime8">
              <a:rPr kumimoji="0" lang="he-IL" sz="10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E5FE2-1700-4F5E-9FF0-96246D98BCC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1225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7542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>
            <a:lvl1pPr marL="342900" indent="-3429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</a:defRPr>
            </a:lvl1pPr>
            <a:lvl2pPr marL="7429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2pPr>
            <a:lvl3pPr marL="12001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3pPr>
            <a:lvl4pPr marL="16573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4pPr>
            <a:lvl5pPr marL="21145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33C76-4298-43FB-B1BD-0F0829E2ADDB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7" name="Group 164"/>
          <p:cNvGrpSpPr>
            <a:grpSpLocks/>
          </p:cNvGrpSpPr>
          <p:nvPr/>
        </p:nvGrpSpPr>
        <p:grpSpPr bwMode="auto">
          <a:xfrm>
            <a:off x="7071932" y="137319"/>
            <a:ext cx="1895475" cy="792162"/>
            <a:chOff x="3467" y="348"/>
            <a:chExt cx="831" cy="380"/>
          </a:xfrm>
        </p:grpSpPr>
        <p:sp>
          <p:nvSpPr>
            <p:cNvPr id="8" name="Freeform 110"/>
            <p:cNvSpPr>
              <a:spLocks/>
            </p:cNvSpPr>
            <p:nvPr/>
          </p:nvSpPr>
          <p:spPr bwMode="auto">
            <a:xfrm flipV="1">
              <a:off x="3467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2857 w 27"/>
                <a:gd name="T3" fmla="*/ 56651 h 50"/>
                <a:gd name="T4" fmla="*/ 11276 w 27"/>
                <a:gd name="T5" fmla="*/ 56651 h 50"/>
                <a:gd name="T6" fmla="*/ 11276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276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111"/>
            <p:cNvSpPr>
              <a:spLocks/>
            </p:cNvSpPr>
            <p:nvPr/>
          </p:nvSpPr>
          <p:spPr bwMode="auto">
            <a:xfrm flipV="1">
              <a:off x="3511" y="363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608 w 34"/>
                <a:gd name="T3" fmla="*/ 58838 h 38"/>
                <a:gd name="T4" fmla="*/ 10140 w 34"/>
                <a:gd name="T5" fmla="*/ 50732 h 38"/>
                <a:gd name="T6" fmla="*/ 1 w 34"/>
                <a:gd name="T7" fmla="*/ 58838 h 38"/>
                <a:gd name="T8" fmla="*/ 0 w 34"/>
                <a:gd name="T9" fmla="*/ 54814 h 38"/>
                <a:gd name="T10" fmla="*/ 1 w 34"/>
                <a:gd name="T11" fmla="*/ 50732 h 38"/>
                <a:gd name="T12" fmla="*/ 3304 w 34"/>
                <a:gd name="T13" fmla="*/ 46622 h 38"/>
                <a:gd name="T14" fmla="*/ 4373 w 34"/>
                <a:gd name="T15" fmla="*/ 40842 h 38"/>
                <a:gd name="T16" fmla="*/ 4373 w 34"/>
                <a:gd name="T17" fmla="*/ 37800 h 38"/>
                <a:gd name="T18" fmla="*/ 1 w 34"/>
                <a:gd name="T19" fmla="*/ 0 h 38"/>
                <a:gd name="T20" fmla="*/ 2496 w 34"/>
                <a:gd name="T21" fmla="*/ 0 h 38"/>
                <a:gd name="T22" fmla="*/ 10948 w 34"/>
                <a:gd name="T23" fmla="*/ 10068 h 38"/>
                <a:gd name="T24" fmla="*/ 13421 w 34"/>
                <a:gd name="T25" fmla="*/ 39899 h 38"/>
                <a:gd name="T26" fmla="*/ 20224 w 34"/>
                <a:gd name="T27" fmla="*/ 51197 h 38"/>
                <a:gd name="T28" fmla="*/ 27883 w 34"/>
                <a:gd name="T29" fmla="*/ 30812 h 38"/>
                <a:gd name="T30" fmla="*/ 17763 w 34"/>
                <a:gd name="T31" fmla="*/ 7502 h 38"/>
                <a:gd name="T32" fmla="*/ 12335 w 34"/>
                <a:gd name="T33" fmla="*/ 1 h 38"/>
                <a:gd name="T34" fmla="*/ 17763 w 34"/>
                <a:gd name="T35" fmla="*/ 0 h 38"/>
                <a:gd name="T36" fmla="*/ 37852 w 34"/>
                <a:gd name="T37" fmla="*/ 3081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4"/>
                <a:gd name="T58" fmla="*/ 0 h 38"/>
                <a:gd name="T59" fmla="*/ 34 w 34"/>
                <a:gd name="T60" fmla="*/ 38 h 3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4" h="38">
                  <a:moveTo>
                    <a:pt x="34" y="20"/>
                  </a:moveTo>
                  <a:cubicBezTo>
                    <a:pt x="34" y="31"/>
                    <a:pt x="28" y="38"/>
                    <a:pt x="20" y="38"/>
                  </a:cubicBezTo>
                  <a:cubicBezTo>
                    <a:pt x="14" y="38"/>
                    <a:pt x="12" y="36"/>
                    <a:pt x="9" y="32"/>
                  </a:cubicBezTo>
                  <a:cubicBezTo>
                    <a:pt x="7" y="34"/>
                    <a:pt x="3" y="37"/>
                    <a:pt x="1" y="38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34"/>
                    <a:pt x="1" y="33"/>
                    <a:pt x="1" y="32"/>
                  </a:cubicBezTo>
                  <a:lnTo>
                    <a:pt x="3" y="30"/>
                  </a:lnTo>
                  <a:cubicBezTo>
                    <a:pt x="4" y="28"/>
                    <a:pt x="4" y="28"/>
                    <a:pt x="4" y="26"/>
                  </a:cubicBezTo>
                  <a:cubicBezTo>
                    <a:pt x="4" y="25"/>
                    <a:pt x="4" y="25"/>
                    <a:pt x="4" y="24"/>
                  </a:cubicBezTo>
                  <a:lnTo>
                    <a:pt x="1" y="0"/>
                  </a:ln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9" y="3"/>
                    <a:pt x="10" y="7"/>
                  </a:cubicBezTo>
                  <a:lnTo>
                    <a:pt x="12" y="25"/>
                  </a:lnTo>
                  <a:cubicBezTo>
                    <a:pt x="13" y="30"/>
                    <a:pt x="15" y="33"/>
                    <a:pt x="18" y="33"/>
                  </a:cubicBezTo>
                  <a:cubicBezTo>
                    <a:pt x="22" y="33"/>
                    <a:pt x="25" y="29"/>
                    <a:pt x="25" y="20"/>
                  </a:cubicBezTo>
                  <a:cubicBezTo>
                    <a:pt x="25" y="10"/>
                    <a:pt x="20" y="5"/>
                    <a:pt x="16" y="5"/>
                  </a:cubicBezTo>
                  <a:cubicBezTo>
                    <a:pt x="13" y="5"/>
                    <a:pt x="12" y="4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26" y="0"/>
                    <a:pt x="34" y="7"/>
                    <a:pt x="34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Freeform 112"/>
            <p:cNvSpPr>
              <a:spLocks noEditPoints="1"/>
            </p:cNvSpPr>
            <p:nvPr/>
          </p:nvSpPr>
          <p:spPr bwMode="auto">
            <a:xfrm flipV="1">
              <a:off x="3566" y="362"/>
              <a:ext cx="46" cy="52"/>
            </a:xfrm>
            <a:custGeom>
              <a:avLst/>
              <a:gdLst>
                <a:gd name="T0" fmla="*/ 20471 w 35"/>
                <a:gd name="T1" fmla="*/ 33173 h 39"/>
                <a:gd name="T2" fmla="*/ 20471 w 35"/>
                <a:gd name="T3" fmla="*/ 50975 h 39"/>
                <a:gd name="T4" fmla="*/ 11851 w 35"/>
                <a:gd name="T5" fmla="*/ 39909 h 39"/>
                <a:gd name="T6" fmla="*/ 11851 w 35"/>
                <a:gd name="T7" fmla="*/ 18660 h 39"/>
                <a:gd name="T8" fmla="*/ 20471 w 35"/>
                <a:gd name="T9" fmla="*/ 33173 h 39"/>
                <a:gd name="T10" fmla="*/ 32433 w 35"/>
                <a:gd name="T11" fmla="*/ 31956 h 39"/>
                <a:gd name="T12" fmla="*/ 32433 w 35"/>
                <a:gd name="T13" fmla="*/ 50975 h 39"/>
                <a:gd name="T14" fmla="*/ 24228 w 35"/>
                <a:gd name="T15" fmla="*/ 39909 h 39"/>
                <a:gd name="T16" fmla="*/ 24228 w 35"/>
                <a:gd name="T17" fmla="*/ 30476 h 39"/>
                <a:gd name="T18" fmla="*/ 11508 w 35"/>
                <a:gd name="T19" fmla="*/ 6540 h 39"/>
                <a:gd name="T20" fmla="*/ 9894 w 35"/>
                <a:gd name="T21" fmla="*/ 6540 h 39"/>
                <a:gd name="T22" fmla="*/ 7528 w 35"/>
                <a:gd name="T23" fmla="*/ 51785 h 39"/>
                <a:gd name="T24" fmla="*/ 0 w 35"/>
                <a:gd name="T25" fmla="*/ 39909 h 39"/>
                <a:gd name="T26" fmla="*/ 0 w 35"/>
                <a:gd name="T27" fmla="*/ 38839 h 39"/>
                <a:gd name="T28" fmla="*/ 3857 w 35"/>
                <a:gd name="T29" fmla="*/ 0 h 39"/>
                <a:gd name="T30" fmla="*/ 8756 w 35"/>
                <a:gd name="T31" fmla="*/ 0 h 39"/>
                <a:gd name="T32" fmla="*/ 32433 w 35"/>
                <a:gd name="T33" fmla="*/ 31956 h 3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5"/>
                <a:gd name="T52" fmla="*/ 0 h 39"/>
                <a:gd name="T53" fmla="*/ 35 w 35"/>
                <a:gd name="T54" fmla="*/ 39 h 3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5" h="39">
                  <a:moveTo>
                    <a:pt x="22" y="25"/>
                  </a:moveTo>
                  <a:lnTo>
                    <a:pt x="22" y="38"/>
                  </a:lnTo>
                  <a:cubicBezTo>
                    <a:pt x="17" y="38"/>
                    <a:pt x="13" y="36"/>
                    <a:pt x="13" y="30"/>
                  </a:cubicBezTo>
                  <a:lnTo>
                    <a:pt x="13" y="14"/>
                  </a:lnTo>
                  <a:cubicBezTo>
                    <a:pt x="18" y="15"/>
                    <a:pt x="22" y="18"/>
                    <a:pt x="22" y="25"/>
                  </a:cubicBezTo>
                  <a:close/>
                  <a:moveTo>
                    <a:pt x="35" y="24"/>
                  </a:moveTo>
                  <a:lnTo>
                    <a:pt x="35" y="38"/>
                  </a:lnTo>
                  <a:cubicBezTo>
                    <a:pt x="30" y="38"/>
                    <a:pt x="26" y="36"/>
                    <a:pt x="26" y="30"/>
                  </a:cubicBezTo>
                  <a:lnTo>
                    <a:pt x="26" y="23"/>
                  </a:lnTo>
                  <a:cubicBezTo>
                    <a:pt x="26" y="12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9"/>
                  </a:lnTo>
                  <a:cubicBezTo>
                    <a:pt x="2" y="38"/>
                    <a:pt x="0" y="34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4" y="0"/>
                    <a:pt x="35" y="10"/>
                    <a:pt x="35" y="24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Freeform 113"/>
            <p:cNvSpPr>
              <a:spLocks/>
            </p:cNvSpPr>
            <p:nvPr/>
          </p:nvSpPr>
          <p:spPr bwMode="auto">
            <a:xfrm flipV="1">
              <a:off x="3623" y="363"/>
              <a:ext cx="38" cy="52"/>
            </a:xfrm>
            <a:custGeom>
              <a:avLst/>
              <a:gdLst>
                <a:gd name="T0" fmla="*/ 25097 w 29"/>
                <a:gd name="T1" fmla="*/ 11276 h 39"/>
                <a:gd name="T2" fmla="*/ 25097 w 29"/>
                <a:gd name="T3" fmla="*/ 29129 h 39"/>
                <a:gd name="T4" fmla="*/ 9216 w 29"/>
                <a:gd name="T5" fmla="*/ 51785 h 39"/>
                <a:gd name="T6" fmla="*/ 0 w 29"/>
                <a:gd name="T7" fmla="*/ 48997 h 39"/>
                <a:gd name="T8" fmla="*/ 0 w 29"/>
                <a:gd name="T9" fmla="*/ 1 h 39"/>
                <a:gd name="T10" fmla="*/ 6497 w 29"/>
                <a:gd name="T11" fmla="*/ 11276 h 39"/>
                <a:gd name="T12" fmla="*/ 6497 w 29"/>
                <a:gd name="T13" fmla="*/ 45179 h 39"/>
                <a:gd name="T14" fmla="*/ 8513 w 29"/>
                <a:gd name="T15" fmla="*/ 45179 h 39"/>
                <a:gd name="T16" fmla="*/ 18514 w 29"/>
                <a:gd name="T17" fmla="*/ 29129 h 39"/>
                <a:gd name="T18" fmla="*/ 18514 w 29"/>
                <a:gd name="T19" fmla="*/ 0 h 39"/>
                <a:gd name="T20" fmla="*/ 25097 w 29"/>
                <a:gd name="T21" fmla="*/ 11276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"/>
                <a:gd name="T34" fmla="*/ 0 h 39"/>
                <a:gd name="T35" fmla="*/ 29 w 29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3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lnTo>
                    <a:pt x="0" y="1"/>
                  </a:lnTo>
                  <a:cubicBezTo>
                    <a:pt x="5" y="1"/>
                    <a:pt x="8" y="2"/>
                    <a:pt x="8" y="8"/>
                  </a:cubicBezTo>
                  <a:lnTo>
                    <a:pt x="8" y="34"/>
                  </a:lnTo>
                  <a:cubicBezTo>
                    <a:pt x="9" y="34"/>
                    <a:pt x="9" y="34"/>
                    <a:pt x="10" y="34"/>
                  </a:cubicBezTo>
                  <a:cubicBezTo>
                    <a:pt x="14" y="34"/>
                    <a:pt x="21" y="31"/>
                    <a:pt x="21" y="22"/>
                  </a:cubicBezTo>
                  <a:lnTo>
                    <a:pt x="21" y="0"/>
                  </a:lnTo>
                  <a:cubicBezTo>
                    <a:pt x="24" y="0"/>
                    <a:pt x="29" y="3"/>
                    <a:pt x="2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114"/>
            <p:cNvSpPr>
              <a:spLocks/>
            </p:cNvSpPr>
            <p:nvPr/>
          </p:nvSpPr>
          <p:spPr bwMode="auto">
            <a:xfrm flipV="1">
              <a:off x="3689" y="363"/>
              <a:ext cx="47" cy="52"/>
            </a:xfrm>
            <a:custGeom>
              <a:avLst/>
              <a:gdLst>
                <a:gd name="T0" fmla="*/ 55463 w 35"/>
                <a:gd name="T1" fmla="*/ 11627 h 39"/>
                <a:gd name="T2" fmla="*/ 55463 w 35"/>
                <a:gd name="T3" fmla="*/ 29129 h 39"/>
                <a:gd name="T4" fmla="*/ 27469 w 35"/>
                <a:gd name="T5" fmla="*/ 51785 h 39"/>
                <a:gd name="T6" fmla="*/ 4188 w 35"/>
                <a:gd name="T7" fmla="*/ 47519 h 39"/>
                <a:gd name="T8" fmla="*/ 9561 w 35"/>
                <a:gd name="T9" fmla="*/ 44231 h 39"/>
                <a:gd name="T10" fmla="*/ 9561 w 35"/>
                <a:gd name="T11" fmla="*/ 44231 h 39"/>
                <a:gd name="T12" fmla="*/ 9561 w 35"/>
                <a:gd name="T13" fmla="*/ 11276 h 39"/>
                <a:gd name="T14" fmla="*/ 5624 w 35"/>
                <a:gd name="T15" fmla="*/ 6540 h 39"/>
                <a:gd name="T16" fmla="*/ 4188 w 35"/>
                <a:gd name="T17" fmla="*/ 6540 h 39"/>
                <a:gd name="T18" fmla="*/ 4188 w 35"/>
                <a:gd name="T19" fmla="*/ 6540 h 39"/>
                <a:gd name="T20" fmla="*/ 0 w 35"/>
                <a:gd name="T21" fmla="*/ 2759 h 39"/>
                <a:gd name="T22" fmla="*/ 7552 w 35"/>
                <a:gd name="T23" fmla="*/ 0 h 39"/>
                <a:gd name="T24" fmla="*/ 23152 w 35"/>
                <a:gd name="T25" fmla="*/ 12857 h 39"/>
                <a:gd name="T26" fmla="*/ 23152 w 35"/>
                <a:gd name="T27" fmla="*/ 45179 h 39"/>
                <a:gd name="T28" fmla="*/ 24557 w 35"/>
                <a:gd name="T29" fmla="*/ 45179 h 39"/>
                <a:gd name="T30" fmla="*/ 41749 w 35"/>
                <a:gd name="T31" fmla="*/ 29129 h 39"/>
                <a:gd name="T32" fmla="*/ 41749 w 35"/>
                <a:gd name="T33" fmla="*/ 0 h 39"/>
                <a:gd name="T34" fmla="*/ 55463 w 35"/>
                <a:gd name="T35" fmla="*/ 11627 h 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5"/>
                <a:gd name="T55" fmla="*/ 0 h 39"/>
                <a:gd name="T56" fmla="*/ 35 w 35"/>
                <a:gd name="T57" fmla="*/ 39 h 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5" h="39">
                  <a:moveTo>
                    <a:pt x="35" y="9"/>
                  </a:moveTo>
                  <a:lnTo>
                    <a:pt x="35" y="22"/>
                  </a:lnTo>
                  <a:cubicBezTo>
                    <a:pt x="35" y="33"/>
                    <a:pt x="27" y="39"/>
                    <a:pt x="17" y="39"/>
                  </a:cubicBezTo>
                  <a:cubicBezTo>
                    <a:pt x="12" y="39"/>
                    <a:pt x="6" y="38"/>
                    <a:pt x="3" y="36"/>
                  </a:cubicBezTo>
                  <a:cubicBezTo>
                    <a:pt x="3" y="34"/>
                    <a:pt x="5" y="33"/>
                    <a:pt x="6" y="33"/>
                  </a:cubicBezTo>
                  <a:lnTo>
                    <a:pt x="6" y="8"/>
                  </a:lnTo>
                  <a:cubicBezTo>
                    <a:pt x="6" y="6"/>
                    <a:pt x="5" y="5"/>
                    <a:pt x="4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1" y="0"/>
                    <a:pt x="15" y="3"/>
                    <a:pt x="15" y="10"/>
                  </a:cubicBezTo>
                  <a:lnTo>
                    <a:pt x="15" y="34"/>
                  </a:lnTo>
                  <a:cubicBezTo>
                    <a:pt x="15" y="34"/>
                    <a:pt x="15" y="34"/>
                    <a:pt x="16" y="34"/>
                  </a:cubicBezTo>
                  <a:cubicBezTo>
                    <a:pt x="20" y="34"/>
                    <a:pt x="27" y="31"/>
                    <a:pt x="27" y="22"/>
                  </a:cubicBezTo>
                  <a:lnTo>
                    <a:pt x="27" y="0"/>
                  </a:lnTo>
                  <a:cubicBezTo>
                    <a:pt x="32" y="0"/>
                    <a:pt x="35" y="3"/>
                    <a:pt x="35" y="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15"/>
            <p:cNvSpPr>
              <a:spLocks noEditPoints="1"/>
            </p:cNvSpPr>
            <p:nvPr/>
          </p:nvSpPr>
          <p:spPr bwMode="auto">
            <a:xfrm flipV="1">
              <a:off x="3745" y="364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067 w 34"/>
                <a:gd name="T3" fmla="*/ 58838 h 38"/>
                <a:gd name="T4" fmla="*/ 0 w 34"/>
                <a:gd name="T5" fmla="*/ 58838 h 38"/>
                <a:gd name="T6" fmla="*/ 5788 w 34"/>
                <a:gd name="T7" fmla="*/ 51197 h 38"/>
                <a:gd name="T8" fmla="*/ 9320 w 34"/>
                <a:gd name="T9" fmla="*/ 51197 h 38"/>
                <a:gd name="T10" fmla="*/ 1 w 34"/>
                <a:gd name="T11" fmla="*/ 30812 h 38"/>
                <a:gd name="T12" fmla="*/ 19178 w 34"/>
                <a:gd name="T13" fmla="*/ 0 h 38"/>
                <a:gd name="T14" fmla="*/ 37852 w 34"/>
                <a:gd name="T15" fmla="*/ 30812 h 38"/>
                <a:gd name="T16" fmla="*/ 27883 w 34"/>
                <a:gd name="T17" fmla="*/ 30812 h 38"/>
                <a:gd name="T18" fmla="*/ 19178 w 34"/>
                <a:gd name="T19" fmla="*/ 7502 h 38"/>
                <a:gd name="T20" fmla="*/ 10948 w 34"/>
                <a:gd name="T21" fmla="*/ 30812 h 38"/>
                <a:gd name="T22" fmla="*/ 19178 w 34"/>
                <a:gd name="T23" fmla="*/ 53549 h 38"/>
                <a:gd name="T24" fmla="*/ 27883 w 34"/>
                <a:gd name="T25" fmla="*/ 30812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4"/>
                <a:gd name="T40" fmla="*/ 0 h 38"/>
                <a:gd name="T41" fmla="*/ 34 w 34"/>
                <a:gd name="T42" fmla="*/ 38 h 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4" h="38">
                  <a:moveTo>
                    <a:pt x="34" y="20"/>
                  </a:moveTo>
                  <a:cubicBezTo>
                    <a:pt x="34" y="30"/>
                    <a:pt x="28" y="38"/>
                    <a:pt x="19" y="38"/>
                  </a:cubicBezTo>
                  <a:lnTo>
                    <a:pt x="0" y="38"/>
                  </a:lnTo>
                  <a:cubicBezTo>
                    <a:pt x="0" y="36"/>
                    <a:pt x="2" y="33"/>
                    <a:pt x="5" y="33"/>
                  </a:cubicBezTo>
                  <a:lnTo>
                    <a:pt x="8" y="33"/>
                  </a:lnTo>
                  <a:cubicBezTo>
                    <a:pt x="4" y="32"/>
                    <a:pt x="1" y="27"/>
                    <a:pt x="1" y="20"/>
                  </a:cubicBezTo>
                  <a:cubicBezTo>
                    <a:pt x="1" y="9"/>
                    <a:pt x="8" y="0"/>
                    <a:pt x="17" y="0"/>
                  </a:cubicBezTo>
                  <a:cubicBezTo>
                    <a:pt x="26" y="0"/>
                    <a:pt x="34" y="8"/>
                    <a:pt x="34" y="20"/>
                  </a:cubicBezTo>
                  <a:close/>
                  <a:moveTo>
                    <a:pt x="25" y="20"/>
                  </a:moveTo>
                  <a:cubicBezTo>
                    <a:pt x="25" y="11"/>
                    <a:pt x="21" y="5"/>
                    <a:pt x="17" y="5"/>
                  </a:cubicBezTo>
                  <a:cubicBezTo>
                    <a:pt x="13" y="5"/>
                    <a:pt x="10" y="11"/>
                    <a:pt x="10" y="20"/>
                  </a:cubicBezTo>
                  <a:cubicBezTo>
                    <a:pt x="10" y="28"/>
                    <a:pt x="13" y="34"/>
                    <a:pt x="17" y="34"/>
                  </a:cubicBezTo>
                  <a:cubicBezTo>
                    <a:pt x="21" y="34"/>
                    <a:pt x="25" y="28"/>
                    <a:pt x="25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16"/>
            <p:cNvSpPr>
              <a:spLocks/>
            </p:cNvSpPr>
            <p:nvPr/>
          </p:nvSpPr>
          <p:spPr bwMode="auto">
            <a:xfrm flipV="1">
              <a:off x="3797" y="364"/>
              <a:ext cx="40" cy="51"/>
            </a:xfrm>
            <a:custGeom>
              <a:avLst/>
              <a:gdLst>
                <a:gd name="T0" fmla="*/ 39909 w 30"/>
                <a:gd name="T1" fmla="*/ 58838 h 38"/>
                <a:gd name="T2" fmla="*/ 0 w 30"/>
                <a:gd name="T3" fmla="*/ 58838 h 38"/>
                <a:gd name="T4" fmla="*/ 4905 w 30"/>
                <a:gd name="T5" fmla="*/ 51197 h 38"/>
                <a:gd name="T6" fmla="*/ 23967 w 30"/>
                <a:gd name="T7" fmla="*/ 51197 h 38"/>
                <a:gd name="T8" fmla="*/ 17143 w 30"/>
                <a:gd name="T9" fmla="*/ 41353 h 38"/>
                <a:gd name="T10" fmla="*/ 17143 w 30"/>
                <a:gd name="T11" fmla="*/ 0 h 38"/>
                <a:gd name="T12" fmla="*/ 27561 w 30"/>
                <a:gd name="T13" fmla="*/ 12746 h 38"/>
                <a:gd name="T14" fmla="*/ 27561 w 30"/>
                <a:gd name="T15" fmla="*/ 43840 h 38"/>
                <a:gd name="T16" fmla="*/ 35233 w 30"/>
                <a:gd name="T17" fmla="*/ 51197 h 38"/>
                <a:gd name="T18" fmla="*/ 35233 w 30"/>
                <a:gd name="T19" fmla="*/ 51197 h 38"/>
                <a:gd name="T20" fmla="*/ 39909 w 30"/>
                <a:gd name="T21" fmla="*/ 58838 h 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38"/>
                <a:gd name="T35" fmla="*/ 30 w 30"/>
                <a:gd name="T36" fmla="*/ 38 h 3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38">
                  <a:moveTo>
                    <a:pt x="30" y="38"/>
                  </a:moveTo>
                  <a:lnTo>
                    <a:pt x="0" y="38"/>
                  </a:lnTo>
                  <a:cubicBezTo>
                    <a:pt x="0" y="37"/>
                    <a:pt x="1" y="33"/>
                    <a:pt x="4" y="33"/>
                  </a:cubicBezTo>
                  <a:lnTo>
                    <a:pt x="18" y="33"/>
                  </a:lnTo>
                  <a:cubicBezTo>
                    <a:pt x="16" y="32"/>
                    <a:pt x="13" y="30"/>
                    <a:pt x="13" y="27"/>
                  </a:cubicBezTo>
                  <a:lnTo>
                    <a:pt x="13" y="0"/>
                  </a:lnTo>
                  <a:cubicBezTo>
                    <a:pt x="17" y="0"/>
                    <a:pt x="21" y="3"/>
                    <a:pt x="21" y="8"/>
                  </a:cubicBezTo>
                  <a:lnTo>
                    <a:pt x="21" y="28"/>
                  </a:lnTo>
                  <a:cubicBezTo>
                    <a:pt x="21" y="31"/>
                    <a:pt x="24" y="33"/>
                    <a:pt x="26" y="33"/>
                  </a:cubicBezTo>
                  <a:cubicBezTo>
                    <a:pt x="29" y="33"/>
                    <a:pt x="30" y="36"/>
                    <a:pt x="30" y="3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17"/>
            <p:cNvSpPr>
              <a:spLocks/>
            </p:cNvSpPr>
            <p:nvPr/>
          </p:nvSpPr>
          <p:spPr bwMode="auto">
            <a:xfrm flipV="1">
              <a:off x="3843" y="363"/>
              <a:ext cx="23" cy="49"/>
            </a:xfrm>
            <a:custGeom>
              <a:avLst/>
              <a:gdLst>
                <a:gd name="T0" fmla="*/ 32534 w 17"/>
                <a:gd name="T1" fmla="*/ 7110 h 37"/>
                <a:gd name="T2" fmla="*/ 32534 w 17"/>
                <a:gd name="T3" fmla="*/ 28963 h 37"/>
                <a:gd name="T4" fmla="*/ 9352 w 17"/>
                <a:gd name="T5" fmla="*/ 41657 h 37"/>
                <a:gd name="T6" fmla="*/ 0 w 17"/>
                <a:gd name="T7" fmla="*/ 41486 h 37"/>
                <a:gd name="T8" fmla="*/ 6912 w 17"/>
                <a:gd name="T9" fmla="*/ 35859 h 37"/>
                <a:gd name="T10" fmla="*/ 15590 w 17"/>
                <a:gd name="T11" fmla="*/ 28963 h 37"/>
                <a:gd name="T12" fmla="*/ 15590 w 17"/>
                <a:gd name="T13" fmla="*/ 5831 h 37"/>
                <a:gd name="T14" fmla="*/ 6912 w 17"/>
                <a:gd name="T15" fmla="*/ 5831 h 37"/>
                <a:gd name="T16" fmla="*/ 0 w 17"/>
                <a:gd name="T17" fmla="*/ 0 h 37"/>
                <a:gd name="T18" fmla="*/ 21092 w 17"/>
                <a:gd name="T19" fmla="*/ 0 h 37"/>
                <a:gd name="T20" fmla="*/ 32534 w 17"/>
                <a:gd name="T21" fmla="*/ 7110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"/>
                <a:gd name="T34" fmla="*/ 0 h 37"/>
                <a:gd name="T35" fmla="*/ 17 w 17"/>
                <a:gd name="T36" fmla="*/ 37 h 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" h="37">
                  <a:moveTo>
                    <a:pt x="17" y="6"/>
                  </a:moveTo>
                  <a:lnTo>
                    <a:pt x="17" y="26"/>
                  </a:lnTo>
                  <a:cubicBezTo>
                    <a:pt x="17" y="33"/>
                    <a:pt x="11" y="37"/>
                    <a:pt x="5" y="37"/>
                  </a:cubicBezTo>
                  <a:cubicBezTo>
                    <a:pt x="4" y="37"/>
                    <a:pt x="1" y="37"/>
                    <a:pt x="0" y="36"/>
                  </a:cubicBezTo>
                  <a:cubicBezTo>
                    <a:pt x="1" y="34"/>
                    <a:pt x="3" y="32"/>
                    <a:pt x="4" y="32"/>
                  </a:cubicBezTo>
                  <a:cubicBezTo>
                    <a:pt x="6" y="32"/>
                    <a:pt x="8" y="29"/>
                    <a:pt x="8" y="26"/>
                  </a:cubicBezTo>
                  <a:lnTo>
                    <a:pt x="8" y="5"/>
                  </a:lnTo>
                  <a:lnTo>
                    <a:pt x="4" y="5"/>
                  </a:lnTo>
                  <a:cubicBezTo>
                    <a:pt x="2" y="5"/>
                    <a:pt x="0" y="2"/>
                    <a:pt x="0" y="0"/>
                  </a:cubicBezTo>
                  <a:lnTo>
                    <a:pt x="11" y="0"/>
                  </a:lnTo>
                  <a:cubicBezTo>
                    <a:pt x="15" y="0"/>
                    <a:pt x="17" y="3"/>
                    <a:pt x="17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18"/>
            <p:cNvSpPr>
              <a:spLocks noEditPoints="1"/>
            </p:cNvSpPr>
            <p:nvPr/>
          </p:nvSpPr>
          <p:spPr bwMode="auto">
            <a:xfrm flipV="1">
              <a:off x="3875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555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0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119"/>
            <p:cNvSpPr>
              <a:spLocks/>
            </p:cNvSpPr>
            <p:nvPr/>
          </p:nvSpPr>
          <p:spPr bwMode="auto">
            <a:xfrm flipV="1">
              <a:off x="3923" y="348"/>
              <a:ext cx="35" cy="67"/>
            </a:xfrm>
            <a:custGeom>
              <a:avLst/>
              <a:gdLst>
                <a:gd name="T0" fmla="*/ 43370 w 26"/>
                <a:gd name="T1" fmla="*/ 42277 h 50"/>
                <a:gd name="T2" fmla="*/ 29465 w 26"/>
                <a:gd name="T3" fmla="*/ 56651 h 50"/>
                <a:gd name="T4" fmla="*/ 13728 w 26"/>
                <a:gd name="T5" fmla="*/ 56651 h 50"/>
                <a:gd name="T6" fmla="*/ 13728 w 26"/>
                <a:gd name="T7" fmla="*/ 75707 h 50"/>
                <a:gd name="T8" fmla="*/ 0 w 26"/>
                <a:gd name="T9" fmla="*/ 62185 h 50"/>
                <a:gd name="T10" fmla="*/ 0 w 26"/>
                <a:gd name="T11" fmla="*/ 49560 h 50"/>
                <a:gd name="T12" fmla="*/ 18480 w 26"/>
                <a:gd name="T13" fmla="*/ 49560 h 50"/>
                <a:gd name="T14" fmla="*/ 29786 w 26"/>
                <a:gd name="T15" fmla="*/ 39135 h 50"/>
                <a:gd name="T16" fmla="*/ 13728 w 26"/>
                <a:gd name="T17" fmla="*/ 9786 h 50"/>
                <a:gd name="T18" fmla="*/ 6320 w 26"/>
                <a:gd name="T19" fmla="*/ 0 h 50"/>
                <a:gd name="T20" fmla="*/ 43370 w 26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"/>
                <a:gd name="T34" fmla="*/ 0 h 50"/>
                <a:gd name="T35" fmla="*/ 26 w 26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" h="50">
                  <a:moveTo>
                    <a:pt x="26" y="28"/>
                  </a:moveTo>
                  <a:cubicBezTo>
                    <a:pt x="26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5" y="6"/>
                    <a:pt x="4" y="4"/>
                    <a:pt x="4" y="0"/>
                  </a:cubicBezTo>
                  <a:cubicBezTo>
                    <a:pt x="12" y="1"/>
                    <a:pt x="26" y="11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 120"/>
            <p:cNvSpPr>
              <a:spLocks noEditPoints="1"/>
            </p:cNvSpPr>
            <p:nvPr/>
          </p:nvSpPr>
          <p:spPr bwMode="auto">
            <a:xfrm flipV="1">
              <a:off x="3990" y="363"/>
              <a:ext cx="40" cy="52"/>
            </a:xfrm>
            <a:custGeom>
              <a:avLst/>
              <a:gdLst>
                <a:gd name="T0" fmla="*/ 39909 w 30"/>
                <a:gd name="T1" fmla="*/ 11276 h 39"/>
                <a:gd name="T2" fmla="*/ 39909 w 30"/>
                <a:gd name="T3" fmla="*/ 29129 h 39"/>
                <a:gd name="T4" fmla="*/ 15035 w 30"/>
                <a:gd name="T5" fmla="*/ 51785 h 39"/>
                <a:gd name="T6" fmla="*/ 0 w 30"/>
                <a:gd name="T7" fmla="*/ 48997 h 39"/>
                <a:gd name="T8" fmla="*/ 4905 w 30"/>
                <a:gd name="T9" fmla="*/ 44231 h 39"/>
                <a:gd name="T10" fmla="*/ 6540 w 30"/>
                <a:gd name="T11" fmla="*/ 44231 h 39"/>
                <a:gd name="T12" fmla="*/ 12857 w 30"/>
                <a:gd name="T13" fmla="*/ 45179 h 39"/>
                <a:gd name="T14" fmla="*/ 27561 w 30"/>
                <a:gd name="T15" fmla="*/ 27561 h 39"/>
                <a:gd name="T16" fmla="*/ 27561 w 30"/>
                <a:gd name="T17" fmla="*/ 0 h 39"/>
                <a:gd name="T18" fmla="*/ 39909 w 30"/>
                <a:gd name="T19" fmla="*/ 11276 h 39"/>
                <a:gd name="T20" fmla="*/ 12857 w 30"/>
                <a:gd name="T21" fmla="*/ 11276 h 39"/>
                <a:gd name="T22" fmla="*/ 12857 w 30"/>
                <a:gd name="T23" fmla="*/ 23967 h 39"/>
                <a:gd name="T24" fmla="*/ 8457 w 30"/>
                <a:gd name="T25" fmla="*/ 30476 h 39"/>
                <a:gd name="T26" fmla="*/ 2759 w 30"/>
                <a:gd name="T27" fmla="*/ 23967 h 39"/>
                <a:gd name="T28" fmla="*/ 2759 w 30"/>
                <a:gd name="T29" fmla="*/ 0 h 39"/>
                <a:gd name="T30" fmla="*/ 12857 w 30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"/>
                <a:gd name="T49" fmla="*/ 0 h 39"/>
                <a:gd name="T50" fmla="*/ 30 w 30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" h="39">
                  <a:moveTo>
                    <a:pt x="30" y="8"/>
                  </a:moveTo>
                  <a:lnTo>
                    <a:pt x="30" y="22"/>
                  </a:lnTo>
                  <a:cubicBezTo>
                    <a:pt x="30" y="32"/>
                    <a:pt x="22" y="39"/>
                    <a:pt x="11" y="39"/>
                  </a:cubicBezTo>
                  <a:cubicBezTo>
                    <a:pt x="7" y="39"/>
                    <a:pt x="3" y="38"/>
                    <a:pt x="0" y="37"/>
                  </a:cubicBezTo>
                  <a:cubicBezTo>
                    <a:pt x="1" y="35"/>
                    <a:pt x="3" y="33"/>
                    <a:pt x="4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4"/>
                    <a:pt x="8" y="34"/>
                    <a:pt x="10" y="34"/>
                  </a:cubicBezTo>
                  <a:cubicBezTo>
                    <a:pt x="18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6" y="0"/>
                    <a:pt x="30" y="3"/>
                    <a:pt x="30" y="8"/>
                  </a:cubicBezTo>
                  <a:close/>
                  <a:moveTo>
                    <a:pt x="10" y="8"/>
                  </a:moveTo>
                  <a:lnTo>
                    <a:pt x="10" y="18"/>
                  </a:lnTo>
                  <a:cubicBezTo>
                    <a:pt x="10" y="21"/>
                    <a:pt x="8" y="23"/>
                    <a:pt x="6" y="23"/>
                  </a:cubicBezTo>
                  <a:cubicBezTo>
                    <a:pt x="4" y="23"/>
                    <a:pt x="2" y="21"/>
                    <a:pt x="2" y="18"/>
                  </a:cubicBezTo>
                  <a:lnTo>
                    <a:pt x="2" y="0"/>
                  </a:lnTo>
                  <a:cubicBezTo>
                    <a:pt x="6" y="0"/>
                    <a:pt x="10" y="3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Freeform 121"/>
            <p:cNvSpPr>
              <a:spLocks/>
            </p:cNvSpPr>
            <p:nvPr/>
          </p:nvSpPr>
          <p:spPr bwMode="auto">
            <a:xfrm flipV="1">
              <a:off x="4039" y="363"/>
              <a:ext cx="42" cy="51"/>
            </a:xfrm>
            <a:custGeom>
              <a:avLst/>
              <a:gdLst>
                <a:gd name="T0" fmla="*/ 28215 w 32"/>
                <a:gd name="T1" fmla="*/ 36619 h 38"/>
                <a:gd name="T2" fmla="*/ 16295 w 32"/>
                <a:gd name="T3" fmla="*/ 58838 h 38"/>
                <a:gd name="T4" fmla="*/ 9459 w 32"/>
                <a:gd name="T5" fmla="*/ 55500 h 38"/>
                <a:gd name="T6" fmla="*/ 13578 w 32"/>
                <a:gd name="T7" fmla="*/ 51197 h 38"/>
                <a:gd name="T8" fmla="*/ 14645 w 32"/>
                <a:gd name="T9" fmla="*/ 51197 h 38"/>
                <a:gd name="T10" fmla="*/ 15281 w 32"/>
                <a:gd name="T11" fmla="*/ 51197 h 38"/>
                <a:gd name="T12" fmla="*/ 20181 w 32"/>
                <a:gd name="T13" fmla="*/ 34738 h 38"/>
                <a:gd name="T14" fmla="*/ 11158 w 32"/>
                <a:gd name="T15" fmla="*/ 7502 h 38"/>
                <a:gd name="T16" fmla="*/ 9459 w 32"/>
                <a:gd name="T17" fmla="*/ 7502 h 38"/>
                <a:gd name="T18" fmla="*/ 7207 w 32"/>
                <a:gd name="T19" fmla="*/ 58838 h 38"/>
                <a:gd name="T20" fmla="*/ 0 w 32"/>
                <a:gd name="T21" fmla="*/ 49147 h 38"/>
                <a:gd name="T22" fmla="*/ 0 w 32"/>
                <a:gd name="T23" fmla="*/ 46622 h 38"/>
                <a:gd name="T24" fmla="*/ 3760 w 32"/>
                <a:gd name="T25" fmla="*/ 0 h 38"/>
                <a:gd name="T26" fmla="*/ 8501 w 32"/>
                <a:gd name="T27" fmla="*/ 0 h 38"/>
                <a:gd name="T28" fmla="*/ 28215 w 32"/>
                <a:gd name="T29" fmla="*/ 36619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38"/>
                <a:gd name="T47" fmla="*/ 32 w 32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38">
                  <a:moveTo>
                    <a:pt x="32" y="23"/>
                  </a:moveTo>
                  <a:cubicBezTo>
                    <a:pt x="32" y="32"/>
                    <a:pt x="26" y="38"/>
                    <a:pt x="18" y="38"/>
                  </a:cubicBezTo>
                  <a:cubicBezTo>
                    <a:pt x="17" y="38"/>
                    <a:pt x="13" y="38"/>
                    <a:pt x="11" y="36"/>
                  </a:cubicBezTo>
                  <a:cubicBezTo>
                    <a:pt x="12" y="34"/>
                    <a:pt x="13" y="33"/>
                    <a:pt x="15" y="33"/>
                  </a:cubicBezTo>
                  <a:cubicBezTo>
                    <a:pt x="15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3"/>
                  </a:cubicBezTo>
                  <a:cubicBezTo>
                    <a:pt x="20" y="33"/>
                    <a:pt x="23" y="29"/>
                    <a:pt x="23" y="22"/>
                  </a:cubicBezTo>
                  <a:cubicBezTo>
                    <a:pt x="23" y="13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8"/>
                  </a:lnTo>
                  <a:cubicBezTo>
                    <a:pt x="3" y="38"/>
                    <a:pt x="0" y="34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5" y="0"/>
                    <a:pt x="32" y="11"/>
                    <a:pt x="32" y="2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Freeform 122"/>
            <p:cNvSpPr>
              <a:spLocks/>
            </p:cNvSpPr>
            <p:nvPr/>
          </p:nvSpPr>
          <p:spPr bwMode="auto">
            <a:xfrm flipV="1">
              <a:off x="4089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3967 w 27"/>
                <a:gd name="T3" fmla="*/ 56651 h 50"/>
                <a:gd name="T4" fmla="*/ 11627 w 27"/>
                <a:gd name="T5" fmla="*/ 56651 h 50"/>
                <a:gd name="T6" fmla="*/ 11627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627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8" y="38"/>
                  </a:cubicBezTo>
                  <a:lnTo>
                    <a:pt x="9" y="38"/>
                  </a:lnTo>
                  <a:lnTo>
                    <a:pt x="9" y="50"/>
                  </a:lnTo>
                  <a:cubicBezTo>
                    <a:pt x="5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4" y="33"/>
                    <a:pt x="18" y="33"/>
                    <a:pt x="18" y="26"/>
                  </a:cubicBezTo>
                  <a:cubicBezTo>
                    <a:pt x="18" y="17"/>
                    <a:pt x="13" y="10"/>
                    <a:pt x="9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123"/>
            <p:cNvSpPr>
              <a:spLocks/>
            </p:cNvSpPr>
            <p:nvPr/>
          </p:nvSpPr>
          <p:spPr bwMode="auto">
            <a:xfrm flipV="1">
              <a:off x="4134" y="363"/>
              <a:ext cx="12" cy="52"/>
            </a:xfrm>
            <a:custGeom>
              <a:avLst/>
              <a:gdLst>
                <a:gd name="T0" fmla="*/ 11627 w 9"/>
                <a:gd name="T1" fmla="*/ 11276 h 39"/>
                <a:gd name="T2" fmla="*/ 11627 w 9"/>
                <a:gd name="T3" fmla="*/ 45179 h 39"/>
                <a:gd name="T4" fmla="*/ 6540 w 9"/>
                <a:gd name="T5" fmla="*/ 51785 h 39"/>
                <a:gd name="T6" fmla="*/ 0 w 9"/>
                <a:gd name="T7" fmla="*/ 45179 h 39"/>
                <a:gd name="T8" fmla="*/ 0 w 9"/>
                <a:gd name="T9" fmla="*/ 0 h 39"/>
                <a:gd name="T10" fmla="*/ 11627 w 9"/>
                <a:gd name="T11" fmla="*/ 11276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39"/>
                <a:gd name="T20" fmla="*/ 9 w 9"/>
                <a:gd name="T21" fmla="*/ 39 h 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39">
                  <a:moveTo>
                    <a:pt x="9" y="8"/>
                  </a:moveTo>
                  <a:lnTo>
                    <a:pt x="9" y="34"/>
                  </a:lnTo>
                  <a:cubicBezTo>
                    <a:pt x="9" y="37"/>
                    <a:pt x="7" y="39"/>
                    <a:pt x="5" y="39"/>
                  </a:cubicBezTo>
                  <a:cubicBezTo>
                    <a:pt x="2" y="39"/>
                    <a:pt x="0" y="37"/>
                    <a:pt x="0" y="34"/>
                  </a:cubicBezTo>
                  <a:lnTo>
                    <a:pt x="0" y="0"/>
                  </a:lnTo>
                  <a:cubicBezTo>
                    <a:pt x="6" y="0"/>
                    <a:pt x="9" y="5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124"/>
            <p:cNvSpPr>
              <a:spLocks/>
            </p:cNvSpPr>
            <p:nvPr/>
          </p:nvSpPr>
          <p:spPr bwMode="auto">
            <a:xfrm flipV="1">
              <a:off x="4154" y="364"/>
              <a:ext cx="46" cy="66"/>
            </a:xfrm>
            <a:custGeom>
              <a:avLst/>
              <a:gdLst>
                <a:gd name="T0" fmla="*/ 64729 w 34"/>
                <a:gd name="T1" fmla="*/ 59488 h 49"/>
                <a:gd name="T2" fmla="*/ 36761 w 34"/>
                <a:gd name="T3" fmla="*/ 84254 h 49"/>
                <a:gd name="T4" fmla="*/ 0 w 34"/>
                <a:gd name="T5" fmla="*/ 84254 h 49"/>
                <a:gd name="T6" fmla="*/ 9352 w 34"/>
                <a:gd name="T7" fmla="*/ 74395 h 49"/>
                <a:gd name="T8" fmla="*/ 15590 w 34"/>
                <a:gd name="T9" fmla="*/ 74395 h 49"/>
                <a:gd name="T10" fmla="*/ 5109 w 34"/>
                <a:gd name="T11" fmla="*/ 55233 h 49"/>
                <a:gd name="T12" fmla="*/ 5109 w 34"/>
                <a:gd name="T13" fmla="*/ 0 h 49"/>
                <a:gd name="T14" fmla="*/ 21092 w 34"/>
                <a:gd name="T15" fmla="*/ 13977 h 49"/>
                <a:gd name="T16" fmla="*/ 21092 w 34"/>
                <a:gd name="T17" fmla="*/ 58799 h 49"/>
                <a:gd name="T18" fmla="*/ 32534 w 34"/>
                <a:gd name="T19" fmla="*/ 74395 h 49"/>
                <a:gd name="T20" fmla="*/ 47843 w 34"/>
                <a:gd name="T21" fmla="*/ 58799 h 49"/>
                <a:gd name="T22" fmla="*/ 32916 w 34"/>
                <a:gd name="T23" fmla="*/ 32789 h 49"/>
                <a:gd name="T24" fmla="*/ 27171 w 34"/>
                <a:gd name="T25" fmla="*/ 22304 h 49"/>
                <a:gd name="T26" fmla="*/ 27171 w 34"/>
                <a:gd name="T27" fmla="*/ 22304 h 49"/>
                <a:gd name="T28" fmla="*/ 64729 w 34"/>
                <a:gd name="T29" fmla="*/ 59488 h 4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"/>
                <a:gd name="T46" fmla="*/ 0 h 49"/>
                <a:gd name="T47" fmla="*/ 34 w 34"/>
                <a:gd name="T48" fmla="*/ 49 h 4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" h="49">
                  <a:moveTo>
                    <a:pt x="34" y="35"/>
                  </a:moveTo>
                  <a:cubicBezTo>
                    <a:pt x="34" y="43"/>
                    <a:pt x="28" y="49"/>
                    <a:pt x="19" y="49"/>
                  </a:cubicBezTo>
                  <a:lnTo>
                    <a:pt x="0" y="49"/>
                  </a:lnTo>
                  <a:cubicBezTo>
                    <a:pt x="0" y="47"/>
                    <a:pt x="2" y="44"/>
                    <a:pt x="5" y="44"/>
                  </a:cubicBezTo>
                  <a:lnTo>
                    <a:pt x="8" y="44"/>
                  </a:lnTo>
                  <a:cubicBezTo>
                    <a:pt x="5" y="43"/>
                    <a:pt x="3" y="39"/>
                    <a:pt x="3" y="33"/>
                  </a:cubicBezTo>
                  <a:lnTo>
                    <a:pt x="3" y="0"/>
                  </a:lnTo>
                  <a:cubicBezTo>
                    <a:pt x="8" y="0"/>
                    <a:pt x="11" y="4"/>
                    <a:pt x="11" y="8"/>
                  </a:cubicBezTo>
                  <a:lnTo>
                    <a:pt x="11" y="34"/>
                  </a:lnTo>
                  <a:cubicBezTo>
                    <a:pt x="11" y="42"/>
                    <a:pt x="14" y="44"/>
                    <a:pt x="17" y="44"/>
                  </a:cubicBezTo>
                  <a:cubicBezTo>
                    <a:pt x="21" y="44"/>
                    <a:pt x="25" y="41"/>
                    <a:pt x="25" y="34"/>
                  </a:cubicBezTo>
                  <a:cubicBezTo>
                    <a:pt x="25" y="25"/>
                    <a:pt x="21" y="21"/>
                    <a:pt x="18" y="19"/>
                  </a:cubicBezTo>
                  <a:cubicBezTo>
                    <a:pt x="15" y="18"/>
                    <a:pt x="14" y="16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3" y="14"/>
                    <a:pt x="34" y="22"/>
                    <a:pt x="34" y="3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3" name="Freeform 125"/>
            <p:cNvSpPr>
              <a:spLocks/>
            </p:cNvSpPr>
            <p:nvPr/>
          </p:nvSpPr>
          <p:spPr bwMode="auto">
            <a:xfrm flipV="1">
              <a:off x="4209" y="363"/>
              <a:ext cx="41" cy="51"/>
            </a:xfrm>
            <a:custGeom>
              <a:avLst/>
              <a:gdLst>
                <a:gd name="T0" fmla="*/ 33320 w 31"/>
                <a:gd name="T1" fmla="*/ 30812 h 38"/>
                <a:gd name="T2" fmla="*/ 15995 w 31"/>
                <a:gd name="T3" fmla="*/ 58838 h 38"/>
                <a:gd name="T4" fmla="*/ 0 w 31"/>
                <a:gd name="T5" fmla="*/ 36619 h 38"/>
                <a:gd name="T6" fmla="*/ 9144 w 31"/>
                <a:gd name="T7" fmla="*/ 18135 h 38"/>
                <a:gd name="T8" fmla="*/ 10015 w 31"/>
                <a:gd name="T9" fmla="*/ 18135 h 38"/>
                <a:gd name="T10" fmla="*/ 13349 w 31"/>
                <a:gd name="T11" fmla="*/ 22958 h 38"/>
                <a:gd name="T12" fmla="*/ 9144 w 31"/>
                <a:gd name="T13" fmla="*/ 37800 h 38"/>
                <a:gd name="T14" fmla="*/ 15995 w 31"/>
                <a:gd name="T15" fmla="*/ 51197 h 38"/>
                <a:gd name="T16" fmla="*/ 23350 w 31"/>
                <a:gd name="T17" fmla="*/ 30812 h 38"/>
                <a:gd name="T18" fmla="*/ 13246 w 31"/>
                <a:gd name="T19" fmla="*/ 7502 h 38"/>
                <a:gd name="T20" fmla="*/ 7572 w 31"/>
                <a:gd name="T21" fmla="*/ 9497 h 38"/>
                <a:gd name="T22" fmla="*/ 6914 w 31"/>
                <a:gd name="T23" fmla="*/ 9497 h 38"/>
                <a:gd name="T24" fmla="*/ 2475 w 31"/>
                <a:gd name="T25" fmla="*/ 4165 h 38"/>
                <a:gd name="T26" fmla="*/ 13349 w 31"/>
                <a:gd name="T27" fmla="*/ 0 h 38"/>
                <a:gd name="T28" fmla="*/ 33320 w 31"/>
                <a:gd name="T29" fmla="*/ 30812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"/>
                <a:gd name="T46" fmla="*/ 0 h 38"/>
                <a:gd name="T47" fmla="*/ 31 w 31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" h="38">
                  <a:moveTo>
                    <a:pt x="31" y="20"/>
                  </a:moveTo>
                  <a:cubicBezTo>
                    <a:pt x="31" y="31"/>
                    <a:pt x="26" y="38"/>
                    <a:pt x="15" y="38"/>
                  </a:cubicBezTo>
                  <a:cubicBezTo>
                    <a:pt x="5" y="38"/>
                    <a:pt x="0" y="32"/>
                    <a:pt x="0" y="23"/>
                  </a:cubicBezTo>
                  <a:cubicBezTo>
                    <a:pt x="0" y="18"/>
                    <a:pt x="4" y="13"/>
                    <a:pt x="8" y="12"/>
                  </a:cubicBezTo>
                  <a:cubicBezTo>
                    <a:pt x="8" y="12"/>
                    <a:pt x="8" y="12"/>
                    <a:pt x="9" y="12"/>
                  </a:cubicBezTo>
                  <a:cubicBezTo>
                    <a:pt x="10" y="12"/>
                    <a:pt x="12" y="13"/>
                    <a:pt x="13" y="15"/>
                  </a:cubicBezTo>
                  <a:cubicBezTo>
                    <a:pt x="10" y="16"/>
                    <a:pt x="8" y="19"/>
                    <a:pt x="8" y="24"/>
                  </a:cubicBezTo>
                  <a:cubicBezTo>
                    <a:pt x="8" y="31"/>
                    <a:pt x="11" y="33"/>
                    <a:pt x="15" y="33"/>
                  </a:cubicBezTo>
                  <a:cubicBezTo>
                    <a:pt x="18" y="33"/>
                    <a:pt x="22" y="29"/>
                    <a:pt x="22" y="20"/>
                  </a:cubicBezTo>
                  <a:cubicBezTo>
                    <a:pt x="22" y="11"/>
                    <a:pt x="18" y="5"/>
                    <a:pt x="12" y="5"/>
                  </a:cubicBezTo>
                  <a:cubicBezTo>
                    <a:pt x="10" y="5"/>
                    <a:pt x="9" y="5"/>
                    <a:pt x="7" y="6"/>
                  </a:cubicBezTo>
                  <a:cubicBezTo>
                    <a:pt x="7" y="6"/>
                    <a:pt x="7" y="6"/>
                    <a:pt x="6" y="6"/>
                  </a:cubicBezTo>
                  <a:cubicBezTo>
                    <a:pt x="5" y="6"/>
                    <a:pt x="3" y="5"/>
                    <a:pt x="2" y="3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3" y="0"/>
                    <a:pt x="31" y="7"/>
                    <a:pt x="31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4" name="Freeform 126"/>
            <p:cNvSpPr>
              <a:spLocks noEditPoints="1"/>
            </p:cNvSpPr>
            <p:nvPr/>
          </p:nvSpPr>
          <p:spPr bwMode="auto">
            <a:xfrm flipV="1">
              <a:off x="4259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797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27"/>
            <p:cNvSpPr>
              <a:spLocks/>
            </p:cNvSpPr>
            <p:nvPr/>
          </p:nvSpPr>
          <p:spPr bwMode="auto">
            <a:xfrm flipV="1">
              <a:off x="376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8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8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28"/>
            <p:cNvSpPr>
              <a:spLocks/>
            </p:cNvSpPr>
            <p:nvPr/>
          </p:nvSpPr>
          <p:spPr bwMode="auto">
            <a:xfrm flipV="1">
              <a:off x="3810" y="675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8559 w 22"/>
                <a:gd name="T5" fmla="*/ 33320 h 31"/>
                <a:gd name="T6" fmla="*/ 0 w 22"/>
                <a:gd name="T7" fmla="*/ 30882 h 31"/>
                <a:gd name="T8" fmla="*/ 2353 w 22"/>
                <a:gd name="T9" fmla="*/ 30644 h 31"/>
                <a:gd name="T10" fmla="*/ 3102 w 22"/>
                <a:gd name="T11" fmla="*/ 30644 h 31"/>
                <a:gd name="T12" fmla="*/ 7105 w 22"/>
                <a:gd name="T13" fmla="*/ 30882 h 31"/>
                <a:gd name="T14" fmla="*/ 16671 w 22"/>
                <a:gd name="T15" fmla="*/ 17655 h 31"/>
                <a:gd name="T16" fmla="*/ 16671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6" y="31"/>
                    <a:pt x="8" y="31"/>
                  </a:cubicBezTo>
                  <a:cubicBezTo>
                    <a:pt x="5" y="31"/>
                    <a:pt x="1" y="30"/>
                    <a:pt x="0" y="29"/>
                  </a:cubicBezTo>
                  <a:cubicBezTo>
                    <a:pt x="0" y="28"/>
                    <a:pt x="1" y="28"/>
                    <a:pt x="2" y="28"/>
                  </a:cubicBezTo>
                  <a:cubicBezTo>
                    <a:pt x="2" y="28"/>
                    <a:pt x="3" y="28"/>
                    <a:pt x="3" y="28"/>
                  </a:cubicBezTo>
                  <a:cubicBezTo>
                    <a:pt x="4" y="28"/>
                    <a:pt x="5" y="29"/>
                    <a:pt x="7" y="29"/>
                  </a:cubicBezTo>
                  <a:cubicBezTo>
                    <a:pt x="14" y="29"/>
                    <a:pt x="17" y="24"/>
                    <a:pt x="17" y="17"/>
                  </a:cubicBezTo>
                  <a:lnTo>
                    <a:pt x="17" y="0"/>
                  </a:lnTo>
                  <a:cubicBezTo>
                    <a:pt x="19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29"/>
            <p:cNvSpPr>
              <a:spLocks/>
            </p:cNvSpPr>
            <p:nvPr/>
          </p:nvSpPr>
          <p:spPr bwMode="auto">
            <a:xfrm flipV="1">
              <a:off x="3850" y="675"/>
              <a:ext cx="5" cy="41"/>
            </a:xfrm>
            <a:custGeom>
              <a:avLst/>
              <a:gdLst>
                <a:gd name="T0" fmla="*/ 890 w 4"/>
                <a:gd name="T1" fmla="*/ 5725 h 31"/>
                <a:gd name="T2" fmla="*/ 890 w 4"/>
                <a:gd name="T3" fmla="*/ 30644 h 31"/>
                <a:gd name="T4" fmla="*/ 570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89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8" name="Freeform 130"/>
            <p:cNvSpPr>
              <a:spLocks noEditPoints="1"/>
            </p:cNvSpPr>
            <p:nvPr/>
          </p:nvSpPr>
          <p:spPr bwMode="auto">
            <a:xfrm flipV="1">
              <a:off x="3866" y="675"/>
              <a:ext cx="37" cy="41"/>
            </a:xfrm>
            <a:custGeom>
              <a:avLst/>
              <a:gdLst>
                <a:gd name="T0" fmla="*/ 17274 w 28"/>
                <a:gd name="T1" fmla="*/ 19881 h 31"/>
                <a:gd name="T2" fmla="*/ 17274 w 28"/>
                <a:gd name="T3" fmla="*/ 33320 h 31"/>
                <a:gd name="T4" fmla="*/ 13072 w 28"/>
                <a:gd name="T5" fmla="*/ 27979 h 31"/>
                <a:gd name="T6" fmla="*/ 13072 w 28"/>
                <a:gd name="T7" fmla="*/ 13246 h 31"/>
                <a:gd name="T8" fmla="*/ 17274 w 28"/>
                <a:gd name="T9" fmla="*/ 19881 h 31"/>
                <a:gd name="T10" fmla="*/ 30163 w 28"/>
                <a:gd name="T11" fmla="*/ 21155 h 31"/>
                <a:gd name="T12" fmla="*/ 30163 w 28"/>
                <a:gd name="T13" fmla="*/ 33320 h 31"/>
                <a:gd name="T14" fmla="*/ 25876 w 28"/>
                <a:gd name="T15" fmla="*/ 27979 h 31"/>
                <a:gd name="T16" fmla="*/ 25876 w 28"/>
                <a:gd name="T17" fmla="*/ 20762 h 31"/>
                <a:gd name="T18" fmla="*/ 8900 w 28"/>
                <a:gd name="T19" fmla="*/ 3273 h 31"/>
                <a:gd name="T20" fmla="*/ 7486 w 28"/>
                <a:gd name="T21" fmla="*/ 3273 h 31"/>
                <a:gd name="T22" fmla="*/ 4287 w 28"/>
                <a:gd name="T23" fmla="*/ 33320 h 31"/>
                <a:gd name="T24" fmla="*/ 0 w 28"/>
                <a:gd name="T25" fmla="*/ 27459 h 31"/>
                <a:gd name="T26" fmla="*/ 0 w 28"/>
                <a:gd name="T27" fmla="*/ 26294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21155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4" y="29"/>
                    <a:pt x="24" y="26"/>
                  </a:cubicBezTo>
                  <a:lnTo>
                    <a:pt x="24" y="19"/>
                  </a:lnTo>
                  <a:cubicBezTo>
                    <a:pt x="24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5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Freeform 131"/>
            <p:cNvSpPr>
              <a:spLocks/>
            </p:cNvSpPr>
            <p:nvPr/>
          </p:nvSpPr>
          <p:spPr bwMode="auto">
            <a:xfrm flipV="1">
              <a:off x="3912" y="675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1453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7" y="37"/>
                  </a:lnTo>
                  <a:cubicBezTo>
                    <a:pt x="5" y="36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132"/>
            <p:cNvSpPr>
              <a:spLocks/>
            </p:cNvSpPr>
            <p:nvPr/>
          </p:nvSpPr>
          <p:spPr bwMode="auto">
            <a:xfrm flipV="1">
              <a:off x="395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7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7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133"/>
            <p:cNvSpPr>
              <a:spLocks noEditPoints="1"/>
            </p:cNvSpPr>
            <p:nvPr/>
          </p:nvSpPr>
          <p:spPr bwMode="auto">
            <a:xfrm flipV="1">
              <a:off x="3768" y="581"/>
              <a:ext cx="33" cy="40"/>
            </a:xfrm>
            <a:custGeom>
              <a:avLst/>
              <a:gdLst>
                <a:gd name="T0" fmla="*/ 26316 w 25"/>
                <a:gd name="T1" fmla="*/ 3679 h 30"/>
                <a:gd name="T2" fmla="*/ 26316 w 25"/>
                <a:gd name="T3" fmla="*/ 20671 h 30"/>
                <a:gd name="T4" fmla="*/ 9651 w 25"/>
                <a:gd name="T5" fmla="*/ 39909 h 30"/>
                <a:gd name="T6" fmla="*/ 0 w 25"/>
                <a:gd name="T7" fmla="*/ 36748 h 30"/>
                <a:gd name="T8" fmla="*/ 0 w 25"/>
                <a:gd name="T9" fmla="*/ 0 h 30"/>
                <a:gd name="T10" fmla="*/ 22196 w 25"/>
                <a:gd name="T11" fmla="*/ 0 h 30"/>
                <a:gd name="T12" fmla="*/ 26316 w 25"/>
                <a:gd name="T13" fmla="*/ 3679 h 30"/>
                <a:gd name="T14" fmla="*/ 20188 w 25"/>
                <a:gd name="T15" fmla="*/ 3679 h 30"/>
                <a:gd name="T16" fmla="*/ 4196 w 25"/>
                <a:gd name="T17" fmla="*/ 3679 h 30"/>
                <a:gd name="T18" fmla="*/ 4196 w 25"/>
                <a:gd name="T19" fmla="*/ 35639 h 30"/>
                <a:gd name="T20" fmla="*/ 8777 w 25"/>
                <a:gd name="T21" fmla="*/ 36748 h 30"/>
                <a:gd name="T22" fmla="*/ 20188 w 25"/>
                <a:gd name="T23" fmla="*/ 20671 h 30"/>
                <a:gd name="T24" fmla="*/ 20188 w 25"/>
                <a:gd name="T25" fmla="*/ 3679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30"/>
                <a:gd name="T41" fmla="*/ 25 w 25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30">
                  <a:moveTo>
                    <a:pt x="25" y="3"/>
                  </a:moveTo>
                  <a:lnTo>
                    <a:pt x="25" y="16"/>
                  </a:lnTo>
                  <a:cubicBezTo>
                    <a:pt x="25" y="25"/>
                    <a:pt x="18" y="30"/>
                    <a:pt x="9" y="30"/>
                  </a:cubicBezTo>
                  <a:cubicBezTo>
                    <a:pt x="5" y="30"/>
                    <a:pt x="1" y="29"/>
                    <a:pt x="0" y="28"/>
                  </a:cubicBezTo>
                  <a:lnTo>
                    <a:pt x="0" y="0"/>
                  </a:lnTo>
                  <a:lnTo>
                    <a:pt x="21" y="0"/>
                  </a:lnTo>
                  <a:cubicBezTo>
                    <a:pt x="22" y="0"/>
                    <a:pt x="24" y="1"/>
                    <a:pt x="25" y="3"/>
                  </a:cubicBezTo>
                  <a:close/>
                  <a:moveTo>
                    <a:pt x="20" y="3"/>
                  </a:moveTo>
                  <a:lnTo>
                    <a:pt x="4" y="3"/>
                  </a:lnTo>
                  <a:lnTo>
                    <a:pt x="4" y="27"/>
                  </a:lnTo>
                  <a:cubicBezTo>
                    <a:pt x="5" y="28"/>
                    <a:pt x="7" y="28"/>
                    <a:pt x="8" y="28"/>
                  </a:cubicBezTo>
                  <a:cubicBezTo>
                    <a:pt x="14" y="28"/>
                    <a:pt x="20" y="24"/>
                    <a:pt x="20" y="1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134"/>
            <p:cNvSpPr>
              <a:spLocks/>
            </p:cNvSpPr>
            <p:nvPr/>
          </p:nvSpPr>
          <p:spPr bwMode="auto">
            <a:xfrm flipV="1">
              <a:off x="3812" y="581"/>
              <a:ext cx="5" cy="24"/>
            </a:xfrm>
            <a:custGeom>
              <a:avLst/>
              <a:gdLst>
                <a:gd name="T0" fmla="*/ 890 w 4"/>
                <a:gd name="T1" fmla="*/ 6540 h 18"/>
                <a:gd name="T2" fmla="*/ 890 w 4"/>
                <a:gd name="T3" fmla="*/ 20047 h 18"/>
                <a:gd name="T4" fmla="*/ 570 w 4"/>
                <a:gd name="T5" fmla="*/ 23967 h 18"/>
                <a:gd name="T6" fmla="*/ 0 w 4"/>
                <a:gd name="T7" fmla="*/ 20047 h 18"/>
                <a:gd name="T8" fmla="*/ 0 w 4"/>
                <a:gd name="T9" fmla="*/ 0 h 18"/>
                <a:gd name="T10" fmla="*/ 890 w 4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18"/>
                <a:gd name="T20" fmla="*/ 4 w 4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18">
                  <a:moveTo>
                    <a:pt x="4" y="5"/>
                  </a:moveTo>
                  <a:lnTo>
                    <a:pt x="4" y="15"/>
                  </a:lnTo>
                  <a:cubicBezTo>
                    <a:pt x="4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135"/>
            <p:cNvSpPr>
              <a:spLocks/>
            </p:cNvSpPr>
            <p:nvPr/>
          </p:nvSpPr>
          <p:spPr bwMode="auto">
            <a:xfrm flipV="1">
              <a:off x="3825" y="581"/>
              <a:ext cx="34" cy="40"/>
            </a:xfrm>
            <a:custGeom>
              <a:avLst/>
              <a:gdLst>
                <a:gd name="T0" fmla="*/ 21143 w 26"/>
                <a:gd name="T1" fmla="*/ 2759 h 30"/>
                <a:gd name="T2" fmla="*/ 19995 w 26"/>
                <a:gd name="T3" fmla="*/ 2759 h 30"/>
                <a:gd name="T4" fmla="*/ 18722 w 26"/>
                <a:gd name="T5" fmla="*/ 3679 h 30"/>
                <a:gd name="T6" fmla="*/ 18722 w 26"/>
                <a:gd name="T7" fmla="*/ 22857 h 30"/>
                <a:gd name="T8" fmla="*/ 7458 w 26"/>
                <a:gd name="T9" fmla="*/ 39909 h 30"/>
                <a:gd name="T10" fmla="*/ 1 w 26"/>
                <a:gd name="T11" fmla="*/ 36748 h 30"/>
                <a:gd name="T12" fmla="*/ 2550 w 26"/>
                <a:gd name="T13" fmla="*/ 35639 h 30"/>
                <a:gd name="T14" fmla="*/ 3335 w 26"/>
                <a:gd name="T15" fmla="*/ 35639 h 30"/>
                <a:gd name="T16" fmla="*/ 6191 w 26"/>
                <a:gd name="T17" fmla="*/ 36748 h 30"/>
                <a:gd name="T18" fmla="*/ 15290 w 26"/>
                <a:gd name="T19" fmla="*/ 20671 h 30"/>
                <a:gd name="T20" fmla="*/ 15290 w 26"/>
                <a:gd name="T21" fmla="*/ 2759 h 30"/>
                <a:gd name="T22" fmla="*/ 2550 w 26"/>
                <a:gd name="T23" fmla="*/ 2759 h 30"/>
                <a:gd name="T24" fmla="*/ 0 w 26"/>
                <a:gd name="T25" fmla="*/ 0 h 30"/>
                <a:gd name="T26" fmla="*/ 19995 w 26"/>
                <a:gd name="T27" fmla="*/ 0 h 30"/>
                <a:gd name="T28" fmla="*/ 21143 w 26"/>
                <a:gd name="T29" fmla="*/ 2759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0"/>
                <a:gd name="T47" fmla="*/ 26 w 26"/>
                <a:gd name="T48" fmla="*/ 30 h 3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0">
                  <a:moveTo>
                    <a:pt x="26" y="2"/>
                  </a:moveTo>
                  <a:lnTo>
                    <a:pt x="24" y="2"/>
                  </a:lnTo>
                  <a:cubicBezTo>
                    <a:pt x="23" y="2"/>
                    <a:pt x="23" y="3"/>
                    <a:pt x="23" y="3"/>
                  </a:cubicBezTo>
                  <a:lnTo>
                    <a:pt x="23" y="17"/>
                  </a:lnTo>
                  <a:cubicBezTo>
                    <a:pt x="23" y="26"/>
                    <a:pt x="17" y="30"/>
                    <a:pt x="9" y="30"/>
                  </a:cubicBezTo>
                  <a:cubicBezTo>
                    <a:pt x="6" y="30"/>
                    <a:pt x="3" y="29"/>
                    <a:pt x="1" y="28"/>
                  </a:cubicBezTo>
                  <a:cubicBezTo>
                    <a:pt x="1" y="27"/>
                    <a:pt x="2" y="27"/>
                    <a:pt x="3" y="27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5" y="27"/>
                    <a:pt x="7" y="28"/>
                    <a:pt x="8" y="28"/>
                  </a:cubicBezTo>
                  <a:cubicBezTo>
                    <a:pt x="15" y="28"/>
                    <a:pt x="18" y="23"/>
                    <a:pt x="18" y="16"/>
                  </a:cubicBezTo>
                  <a:lnTo>
                    <a:pt x="18" y="2"/>
                  </a:lnTo>
                  <a:lnTo>
                    <a:pt x="3" y="2"/>
                  </a:lnTo>
                  <a:cubicBezTo>
                    <a:pt x="2" y="2"/>
                    <a:pt x="0" y="2"/>
                    <a:pt x="0" y="0"/>
                  </a:cubicBezTo>
                  <a:lnTo>
                    <a:pt x="24" y="0"/>
                  </a:lnTo>
                  <a:cubicBezTo>
                    <a:pt x="25" y="0"/>
                    <a:pt x="26" y="1"/>
                    <a:pt x="26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Freeform 136"/>
            <p:cNvSpPr>
              <a:spLocks noEditPoints="1"/>
            </p:cNvSpPr>
            <p:nvPr/>
          </p:nvSpPr>
          <p:spPr bwMode="auto">
            <a:xfrm flipV="1">
              <a:off x="3867" y="581"/>
              <a:ext cx="37" cy="42"/>
            </a:xfrm>
            <a:custGeom>
              <a:avLst/>
              <a:gdLst>
                <a:gd name="T0" fmla="*/ 17274 w 28"/>
                <a:gd name="T1" fmla="*/ 35961 h 31"/>
                <a:gd name="T2" fmla="*/ 17274 w 28"/>
                <a:gd name="T3" fmla="*/ 61353 h 31"/>
                <a:gd name="T4" fmla="*/ 13072 w 28"/>
                <a:gd name="T5" fmla="*/ 51245 h 31"/>
                <a:gd name="T6" fmla="*/ 13072 w 28"/>
                <a:gd name="T7" fmla="*/ 24413 h 31"/>
                <a:gd name="T8" fmla="*/ 17274 w 28"/>
                <a:gd name="T9" fmla="*/ 35961 h 31"/>
                <a:gd name="T10" fmla="*/ 30163 w 28"/>
                <a:gd name="T11" fmla="*/ 39970 h 31"/>
                <a:gd name="T12" fmla="*/ 30163 w 28"/>
                <a:gd name="T13" fmla="*/ 61353 h 31"/>
                <a:gd name="T14" fmla="*/ 24544 w 28"/>
                <a:gd name="T15" fmla="*/ 51245 h 31"/>
                <a:gd name="T16" fmla="*/ 24544 w 28"/>
                <a:gd name="T17" fmla="*/ 37824 h 31"/>
                <a:gd name="T18" fmla="*/ 8900 w 28"/>
                <a:gd name="T19" fmla="*/ 5348 h 31"/>
                <a:gd name="T20" fmla="*/ 7486 w 28"/>
                <a:gd name="T21" fmla="*/ 5348 h 31"/>
                <a:gd name="T22" fmla="*/ 4287 w 28"/>
                <a:gd name="T23" fmla="*/ 61353 h 31"/>
                <a:gd name="T24" fmla="*/ 0 w 28"/>
                <a:gd name="T25" fmla="*/ 51245 h 31"/>
                <a:gd name="T26" fmla="*/ 0 w 28"/>
                <a:gd name="T27" fmla="*/ 48721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39970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3" y="29"/>
                    <a:pt x="23" y="26"/>
                  </a:cubicBezTo>
                  <a:lnTo>
                    <a:pt x="23" y="19"/>
                  </a:lnTo>
                  <a:cubicBezTo>
                    <a:pt x="23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Freeform 137"/>
            <p:cNvSpPr>
              <a:spLocks/>
            </p:cNvSpPr>
            <p:nvPr/>
          </p:nvSpPr>
          <p:spPr bwMode="auto">
            <a:xfrm flipV="1">
              <a:off x="3915" y="581"/>
              <a:ext cx="32" cy="42"/>
            </a:xfrm>
            <a:custGeom>
              <a:avLst/>
              <a:gdLst>
                <a:gd name="T0" fmla="*/ 31956 w 24"/>
                <a:gd name="T1" fmla="*/ 9817 h 31"/>
                <a:gd name="T2" fmla="*/ 31956 w 24"/>
                <a:gd name="T3" fmla="*/ 35961 h 31"/>
                <a:gd name="T4" fmla="*/ 11627 w 24"/>
                <a:gd name="T5" fmla="*/ 61353 h 31"/>
                <a:gd name="T6" fmla="*/ 0 w 24"/>
                <a:gd name="T7" fmla="*/ 57711 h 31"/>
                <a:gd name="T8" fmla="*/ 0 w 24"/>
                <a:gd name="T9" fmla="*/ 0 h 31"/>
                <a:gd name="T10" fmla="*/ 4905 w 24"/>
                <a:gd name="T11" fmla="*/ 9817 h 31"/>
                <a:gd name="T12" fmla="*/ 4905 w 24"/>
                <a:gd name="T13" fmla="*/ 54779 h 31"/>
                <a:gd name="T14" fmla="*/ 11276 w 24"/>
                <a:gd name="T15" fmla="*/ 57711 h 31"/>
                <a:gd name="T16" fmla="*/ 24880 w 24"/>
                <a:gd name="T17" fmla="*/ 33424 h 31"/>
                <a:gd name="T18" fmla="*/ 24880 w 24"/>
                <a:gd name="T19" fmla="*/ 0 h 31"/>
                <a:gd name="T20" fmla="*/ 31956 w 24"/>
                <a:gd name="T21" fmla="*/ 981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31"/>
                <a:gd name="T35" fmla="*/ 24 w 24"/>
                <a:gd name="T36" fmla="*/ 31 h 3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7" y="31"/>
                    <a:pt x="9" y="31"/>
                  </a:cubicBezTo>
                  <a:cubicBezTo>
                    <a:pt x="5" y="31"/>
                    <a:pt x="2" y="30"/>
                    <a:pt x="0" y="29"/>
                  </a:cubicBezTo>
                  <a:lnTo>
                    <a:pt x="0" y="0"/>
                  </a:lnTo>
                  <a:cubicBezTo>
                    <a:pt x="2" y="0"/>
                    <a:pt x="4" y="1"/>
                    <a:pt x="4" y="5"/>
                  </a:cubicBezTo>
                  <a:lnTo>
                    <a:pt x="4" y="28"/>
                  </a:ln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9" y="24"/>
                    <a:pt x="19" y="17"/>
                  </a:cubicBezTo>
                  <a:lnTo>
                    <a:pt x="19" y="0"/>
                  </a:lnTo>
                  <a:cubicBezTo>
                    <a:pt x="22" y="0"/>
                    <a:pt x="24" y="2"/>
                    <a:pt x="2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6" name="Freeform 138"/>
            <p:cNvSpPr>
              <a:spLocks/>
            </p:cNvSpPr>
            <p:nvPr/>
          </p:nvSpPr>
          <p:spPr bwMode="auto">
            <a:xfrm flipV="1">
              <a:off x="3956" y="581"/>
              <a:ext cx="36" cy="42"/>
            </a:xfrm>
            <a:custGeom>
              <a:avLst/>
              <a:gdLst>
                <a:gd name="T0" fmla="*/ 35639 w 27"/>
                <a:gd name="T1" fmla="*/ 33076 h 31"/>
                <a:gd name="T2" fmla="*/ 20047 w 27"/>
                <a:gd name="T3" fmla="*/ 61353 h 31"/>
                <a:gd name="T4" fmla="*/ 8457 w 27"/>
                <a:gd name="T5" fmla="*/ 51245 h 31"/>
                <a:gd name="T6" fmla="*/ 0 w 27"/>
                <a:gd name="T7" fmla="*/ 61353 h 31"/>
                <a:gd name="T8" fmla="*/ 0 w 27"/>
                <a:gd name="T9" fmla="*/ 60714 h 31"/>
                <a:gd name="T10" fmla="*/ 1 w 27"/>
                <a:gd name="T11" fmla="*/ 54153 h 31"/>
                <a:gd name="T12" fmla="*/ 2759 w 27"/>
                <a:gd name="T13" fmla="*/ 51245 h 31"/>
                <a:gd name="T14" fmla="*/ 3679 w 27"/>
                <a:gd name="T15" fmla="*/ 44813 h 31"/>
                <a:gd name="T16" fmla="*/ 2759 w 27"/>
                <a:gd name="T17" fmla="*/ 39970 h 31"/>
                <a:gd name="T18" fmla="*/ 0 w 27"/>
                <a:gd name="T19" fmla="*/ 0 h 31"/>
                <a:gd name="T20" fmla="*/ 1 w 27"/>
                <a:gd name="T21" fmla="*/ 0 h 31"/>
                <a:gd name="T22" fmla="*/ 6540 w 27"/>
                <a:gd name="T23" fmla="*/ 9817 h 31"/>
                <a:gd name="T24" fmla="*/ 8720 w 27"/>
                <a:gd name="T25" fmla="*/ 40432 h 31"/>
                <a:gd name="T26" fmla="*/ 18660 w 27"/>
                <a:gd name="T27" fmla="*/ 54779 h 31"/>
                <a:gd name="T28" fmla="*/ 29129 w 27"/>
                <a:gd name="T29" fmla="*/ 33076 h 31"/>
                <a:gd name="T30" fmla="*/ 15503 w 27"/>
                <a:gd name="T31" fmla="*/ 5348 h 31"/>
                <a:gd name="T32" fmla="*/ 11627 w 27"/>
                <a:gd name="T33" fmla="*/ 5348 h 31"/>
                <a:gd name="T34" fmla="*/ 8720 w 27"/>
                <a:gd name="T35" fmla="*/ 1 h 31"/>
                <a:gd name="T36" fmla="*/ 17143 w 27"/>
                <a:gd name="T37" fmla="*/ 0 h 31"/>
                <a:gd name="T38" fmla="*/ 17143 w 27"/>
                <a:gd name="T39" fmla="*/ 0 h 31"/>
                <a:gd name="T40" fmla="*/ 35639 w 27"/>
                <a:gd name="T41" fmla="*/ 33076 h 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7"/>
                <a:gd name="T64" fmla="*/ 0 h 31"/>
                <a:gd name="T65" fmla="*/ 27 w 27"/>
                <a:gd name="T66" fmla="*/ 31 h 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7" h="31">
                  <a:moveTo>
                    <a:pt x="27" y="16"/>
                  </a:moveTo>
                  <a:cubicBezTo>
                    <a:pt x="27" y="25"/>
                    <a:pt x="22" y="31"/>
                    <a:pt x="15" y="31"/>
                  </a:cubicBezTo>
                  <a:cubicBezTo>
                    <a:pt x="11" y="31"/>
                    <a:pt x="8" y="29"/>
                    <a:pt x="6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29"/>
                    <a:pt x="0" y="28"/>
                    <a:pt x="1" y="27"/>
                  </a:cubicBezTo>
                  <a:lnTo>
                    <a:pt x="2" y="26"/>
                  </a:lnTo>
                  <a:cubicBezTo>
                    <a:pt x="3" y="25"/>
                    <a:pt x="3" y="24"/>
                    <a:pt x="3" y="22"/>
                  </a:cubicBezTo>
                  <a:cubicBezTo>
                    <a:pt x="3" y="22"/>
                    <a:pt x="3" y="21"/>
                    <a:pt x="2" y="20"/>
                  </a:cubicBezTo>
                  <a:lnTo>
                    <a:pt x="0" y="0"/>
                  </a:lnTo>
                  <a:cubicBezTo>
                    <a:pt x="0" y="0"/>
                    <a:pt x="1" y="0"/>
                    <a:pt x="1" y="0"/>
                  </a:cubicBezTo>
                  <a:cubicBezTo>
                    <a:pt x="3" y="0"/>
                    <a:pt x="4" y="2"/>
                    <a:pt x="5" y="5"/>
                  </a:cubicBezTo>
                  <a:lnTo>
                    <a:pt x="7" y="21"/>
                  </a:lnTo>
                  <a:cubicBezTo>
                    <a:pt x="8" y="26"/>
                    <a:pt x="11" y="28"/>
                    <a:pt x="14" y="28"/>
                  </a:cubicBezTo>
                  <a:cubicBezTo>
                    <a:pt x="19" y="28"/>
                    <a:pt x="22" y="24"/>
                    <a:pt x="22" y="16"/>
                  </a:cubicBezTo>
                  <a:cubicBezTo>
                    <a:pt x="22" y="9"/>
                    <a:pt x="18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9" y="3"/>
                    <a:pt x="8" y="3"/>
                    <a:pt x="7" y="1"/>
                  </a:cubicBezTo>
                  <a:cubicBezTo>
                    <a:pt x="8" y="1"/>
                    <a:pt x="1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7" y="6"/>
                    <a:pt x="27" y="1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7" name="Freeform 139"/>
            <p:cNvSpPr>
              <a:spLocks noEditPoints="1"/>
            </p:cNvSpPr>
            <p:nvPr/>
          </p:nvSpPr>
          <p:spPr bwMode="auto">
            <a:xfrm flipV="1">
              <a:off x="3653" y="488"/>
              <a:ext cx="32" cy="41"/>
            </a:xfrm>
            <a:custGeom>
              <a:avLst/>
              <a:gdLst>
                <a:gd name="T0" fmla="*/ 31956 w 24"/>
                <a:gd name="T1" fmla="*/ 5725 h 31"/>
                <a:gd name="T2" fmla="*/ 31956 w 24"/>
                <a:gd name="T3" fmla="*/ 19881 h 31"/>
                <a:gd name="T4" fmla="*/ 11627 w 24"/>
                <a:gd name="T5" fmla="*/ 33320 h 31"/>
                <a:gd name="T6" fmla="*/ 0 w 24"/>
                <a:gd name="T7" fmla="*/ 30882 h 31"/>
                <a:gd name="T8" fmla="*/ 3679 w 24"/>
                <a:gd name="T9" fmla="*/ 30644 h 31"/>
                <a:gd name="T10" fmla="*/ 4905 w 24"/>
                <a:gd name="T11" fmla="*/ 30644 h 31"/>
                <a:gd name="T12" fmla="*/ 11276 w 24"/>
                <a:gd name="T13" fmla="*/ 30882 h 31"/>
                <a:gd name="T14" fmla="*/ 26729 w 24"/>
                <a:gd name="T15" fmla="*/ 17655 h 31"/>
                <a:gd name="T16" fmla="*/ 26729 w 24"/>
                <a:gd name="T17" fmla="*/ 0 h 31"/>
                <a:gd name="T18" fmla="*/ 31956 w 24"/>
                <a:gd name="T19" fmla="*/ 5725 h 31"/>
                <a:gd name="T20" fmla="*/ 6540 w 24"/>
                <a:gd name="T21" fmla="*/ 5725 h 31"/>
                <a:gd name="T22" fmla="*/ 6540 w 24"/>
                <a:gd name="T23" fmla="*/ 15995 h 31"/>
                <a:gd name="T24" fmla="*/ 3679 w 24"/>
                <a:gd name="T25" fmla="*/ 19881 h 31"/>
                <a:gd name="T26" fmla="*/ 1 w 24"/>
                <a:gd name="T27" fmla="*/ 15995 h 31"/>
                <a:gd name="T28" fmla="*/ 1 w 24"/>
                <a:gd name="T29" fmla="*/ 0 h 31"/>
                <a:gd name="T30" fmla="*/ 6540 w 24"/>
                <a:gd name="T31" fmla="*/ 5725 h 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"/>
                <a:gd name="T49" fmla="*/ 0 h 31"/>
                <a:gd name="T50" fmla="*/ 24 w 24"/>
                <a:gd name="T51" fmla="*/ 31 h 3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8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5" y="29"/>
                    <a:pt x="7" y="29"/>
                    <a:pt x="8" y="29"/>
                  </a:cubicBezTo>
                  <a:cubicBezTo>
                    <a:pt x="15" y="29"/>
                    <a:pt x="20" y="24"/>
                    <a:pt x="20" y="17"/>
                  </a:cubicBezTo>
                  <a:lnTo>
                    <a:pt x="20" y="0"/>
                  </a:lnTo>
                  <a:cubicBezTo>
                    <a:pt x="22" y="0"/>
                    <a:pt x="24" y="2"/>
                    <a:pt x="24" y="5"/>
                  </a:cubicBezTo>
                  <a:close/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4" y="18"/>
                    <a:pt x="3" y="18"/>
                  </a:cubicBezTo>
                  <a:cubicBezTo>
                    <a:pt x="2" y="18"/>
                    <a:pt x="1" y="17"/>
                    <a:pt x="1" y="15"/>
                  </a:cubicBezTo>
                  <a:lnTo>
                    <a:pt x="1" y="0"/>
                  </a:lnTo>
                  <a:cubicBezTo>
                    <a:pt x="3" y="0"/>
                    <a:pt x="5" y="1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8" name="Freeform 140"/>
            <p:cNvSpPr>
              <a:spLocks/>
            </p:cNvSpPr>
            <p:nvPr/>
          </p:nvSpPr>
          <p:spPr bwMode="auto">
            <a:xfrm flipV="1">
              <a:off x="3694" y="488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3728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8" y="37"/>
                  </a:lnTo>
                  <a:cubicBezTo>
                    <a:pt x="5" y="37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9" name="Freeform 141"/>
            <p:cNvSpPr>
              <a:spLocks/>
            </p:cNvSpPr>
            <p:nvPr/>
          </p:nvSpPr>
          <p:spPr bwMode="auto">
            <a:xfrm flipV="1">
              <a:off x="3740" y="488"/>
              <a:ext cx="6" cy="24"/>
            </a:xfrm>
            <a:custGeom>
              <a:avLst/>
              <a:gdLst>
                <a:gd name="T0" fmla="*/ 446 w 5"/>
                <a:gd name="T1" fmla="*/ 6540 h 18"/>
                <a:gd name="T2" fmla="*/ 446 w 5"/>
                <a:gd name="T3" fmla="*/ 20047 h 18"/>
                <a:gd name="T4" fmla="*/ 2 w 5"/>
                <a:gd name="T5" fmla="*/ 23967 h 18"/>
                <a:gd name="T6" fmla="*/ 0 w 5"/>
                <a:gd name="T7" fmla="*/ 20047 h 18"/>
                <a:gd name="T8" fmla="*/ 0 w 5"/>
                <a:gd name="T9" fmla="*/ 0 h 18"/>
                <a:gd name="T10" fmla="*/ 446 w 5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"/>
                <a:gd name="T19" fmla="*/ 0 h 18"/>
                <a:gd name="T20" fmla="*/ 5 w 5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" h="18"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5" y="3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0" name="Freeform 142"/>
            <p:cNvSpPr>
              <a:spLocks/>
            </p:cNvSpPr>
            <p:nvPr/>
          </p:nvSpPr>
          <p:spPr bwMode="auto">
            <a:xfrm flipV="1">
              <a:off x="3754" y="488"/>
              <a:ext cx="16" cy="40"/>
            </a:xfrm>
            <a:custGeom>
              <a:avLst/>
              <a:gdLst>
                <a:gd name="T0" fmla="*/ 15503 w 12"/>
                <a:gd name="T1" fmla="*/ 3679 h 30"/>
                <a:gd name="T2" fmla="*/ 15503 w 12"/>
                <a:gd name="T3" fmla="*/ 27561 h 30"/>
                <a:gd name="T4" fmla="*/ 4905 w 12"/>
                <a:gd name="T5" fmla="*/ 39909 h 30"/>
                <a:gd name="T6" fmla="*/ 1 w 12"/>
                <a:gd name="T7" fmla="*/ 38839 h 30"/>
                <a:gd name="T8" fmla="*/ 3679 w 12"/>
                <a:gd name="T9" fmla="*/ 36748 h 30"/>
                <a:gd name="T10" fmla="*/ 4905 w 12"/>
                <a:gd name="T11" fmla="*/ 36748 h 30"/>
                <a:gd name="T12" fmla="*/ 11276 w 12"/>
                <a:gd name="T13" fmla="*/ 30476 h 30"/>
                <a:gd name="T14" fmla="*/ 11276 w 12"/>
                <a:gd name="T15" fmla="*/ 3679 h 30"/>
                <a:gd name="T16" fmla="*/ 3679 w 12"/>
                <a:gd name="T17" fmla="*/ 3679 h 30"/>
                <a:gd name="T18" fmla="*/ 0 w 12"/>
                <a:gd name="T19" fmla="*/ 0 h 30"/>
                <a:gd name="T20" fmla="*/ 11627 w 12"/>
                <a:gd name="T21" fmla="*/ 0 h 30"/>
                <a:gd name="T22" fmla="*/ 15503 w 12"/>
                <a:gd name="T23" fmla="*/ 3679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"/>
                <a:gd name="T37" fmla="*/ 0 h 30"/>
                <a:gd name="T38" fmla="*/ 12 w 12"/>
                <a:gd name="T39" fmla="*/ 30 h 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" h="30">
                  <a:moveTo>
                    <a:pt x="12" y="3"/>
                  </a:moveTo>
                  <a:lnTo>
                    <a:pt x="12" y="21"/>
                  </a:lnTo>
                  <a:cubicBezTo>
                    <a:pt x="12" y="26"/>
                    <a:pt x="9" y="30"/>
                    <a:pt x="4" y="30"/>
                  </a:cubicBezTo>
                  <a:cubicBezTo>
                    <a:pt x="4" y="30"/>
                    <a:pt x="2" y="30"/>
                    <a:pt x="1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6" y="28"/>
                    <a:pt x="8" y="26"/>
                    <a:pt x="8" y="23"/>
                  </a:cubicBezTo>
                  <a:lnTo>
                    <a:pt x="8" y="3"/>
                  </a:lnTo>
                  <a:lnTo>
                    <a:pt x="3" y="3"/>
                  </a:lnTo>
                  <a:cubicBezTo>
                    <a:pt x="1" y="3"/>
                    <a:pt x="0" y="2"/>
                    <a:pt x="0" y="0"/>
                  </a:cubicBezTo>
                  <a:lnTo>
                    <a:pt x="9" y="0"/>
                  </a:lnTo>
                  <a:cubicBezTo>
                    <a:pt x="11" y="1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Freeform 143"/>
            <p:cNvSpPr>
              <a:spLocks/>
            </p:cNvSpPr>
            <p:nvPr/>
          </p:nvSpPr>
          <p:spPr bwMode="auto">
            <a:xfrm flipV="1">
              <a:off x="3782" y="488"/>
              <a:ext cx="6" cy="41"/>
            </a:xfrm>
            <a:custGeom>
              <a:avLst/>
              <a:gdLst>
                <a:gd name="T0" fmla="*/ 92170 w 4"/>
                <a:gd name="T1" fmla="*/ 5725 h 31"/>
                <a:gd name="T2" fmla="*/ 92170 w 4"/>
                <a:gd name="T3" fmla="*/ 30644 h 31"/>
                <a:gd name="T4" fmla="*/ 40965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9217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2" name="Freeform 144"/>
            <p:cNvSpPr>
              <a:spLocks/>
            </p:cNvSpPr>
            <p:nvPr/>
          </p:nvSpPr>
          <p:spPr bwMode="auto">
            <a:xfrm flipV="1">
              <a:off x="3796" y="488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9366 w 22"/>
                <a:gd name="T5" fmla="*/ 33320 h 31"/>
                <a:gd name="T6" fmla="*/ 0 w 22"/>
                <a:gd name="T7" fmla="*/ 30882 h 31"/>
                <a:gd name="T8" fmla="*/ 3102 w 22"/>
                <a:gd name="T9" fmla="*/ 30644 h 31"/>
                <a:gd name="T10" fmla="*/ 4089 w 22"/>
                <a:gd name="T11" fmla="*/ 30644 h 31"/>
                <a:gd name="T12" fmla="*/ 8559 w 22"/>
                <a:gd name="T13" fmla="*/ 30882 h 31"/>
                <a:gd name="T14" fmla="*/ 18059 w 22"/>
                <a:gd name="T15" fmla="*/ 17655 h 31"/>
                <a:gd name="T16" fmla="*/ 18059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7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8" y="24"/>
                    <a:pt x="18" y="17"/>
                  </a:cubicBezTo>
                  <a:lnTo>
                    <a:pt x="18" y="0"/>
                  </a:lnTo>
                  <a:cubicBezTo>
                    <a:pt x="20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3" name="Freeform 145"/>
            <p:cNvSpPr>
              <a:spLocks/>
            </p:cNvSpPr>
            <p:nvPr/>
          </p:nvSpPr>
          <p:spPr bwMode="auto">
            <a:xfrm flipV="1">
              <a:off x="3835" y="488"/>
              <a:ext cx="35" cy="41"/>
            </a:xfrm>
            <a:custGeom>
              <a:avLst/>
              <a:gdLst>
                <a:gd name="T0" fmla="*/ 43370 w 26"/>
                <a:gd name="T1" fmla="*/ 20762 h 31"/>
                <a:gd name="T2" fmla="*/ 23933 w 26"/>
                <a:gd name="T3" fmla="*/ 33320 h 31"/>
                <a:gd name="T4" fmla="*/ 13728 w 26"/>
                <a:gd name="T5" fmla="*/ 30882 h 31"/>
                <a:gd name="T6" fmla="*/ 16437 w 26"/>
                <a:gd name="T7" fmla="*/ 30644 h 31"/>
                <a:gd name="T8" fmla="*/ 20755 w 26"/>
                <a:gd name="T9" fmla="*/ 30644 h 31"/>
                <a:gd name="T10" fmla="*/ 22127 w 26"/>
                <a:gd name="T11" fmla="*/ 30882 h 31"/>
                <a:gd name="T12" fmla="*/ 35390 w 26"/>
                <a:gd name="T13" fmla="*/ 20762 h 31"/>
                <a:gd name="T14" fmla="*/ 13728 w 26"/>
                <a:gd name="T15" fmla="*/ 3273 h 31"/>
                <a:gd name="T16" fmla="*/ 11453 w 26"/>
                <a:gd name="T17" fmla="*/ 3273 h 31"/>
                <a:gd name="T18" fmla="*/ 6320 w 26"/>
                <a:gd name="T19" fmla="*/ 33320 h 31"/>
                <a:gd name="T20" fmla="*/ 0 w 26"/>
                <a:gd name="T21" fmla="*/ 27979 h 31"/>
                <a:gd name="T22" fmla="*/ 0 w 26"/>
                <a:gd name="T23" fmla="*/ 26294 h 31"/>
                <a:gd name="T24" fmla="*/ 4695 w 26"/>
                <a:gd name="T25" fmla="*/ 1 h 31"/>
                <a:gd name="T26" fmla="*/ 11453 w 26"/>
                <a:gd name="T27" fmla="*/ 0 h 31"/>
                <a:gd name="T28" fmla="*/ 43370 w 26"/>
                <a:gd name="T29" fmla="*/ 20762 h 3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1"/>
                <a:gd name="T47" fmla="*/ 26 w 26"/>
                <a:gd name="T48" fmla="*/ 31 h 3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1">
                  <a:moveTo>
                    <a:pt x="26" y="19"/>
                  </a:moveTo>
                  <a:cubicBezTo>
                    <a:pt x="26" y="27"/>
                    <a:pt x="21" y="31"/>
                    <a:pt x="14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7" y="29"/>
                    <a:pt x="21" y="25"/>
                    <a:pt x="21" y="19"/>
                  </a:cubicBezTo>
                  <a:cubicBezTo>
                    <a:pt x="21" y="11"/>
                    <a:pt x="15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6" y="10"/>
                    <a:pt x="26" y="1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4" name="Freeform 146"/>
            <p:cNvSpPr>
              <a:spLocks/>
            </p:cNvSpPr>
            <p:nvPr/>
          </p:nvSpPr>
          <p:spPr bwMode="auto">
            <a:xfrm flipV="1">
              <a:off x="3876" y="488"/>
              <a:ext cx="36" cy="53"/>
            </a:xfrm>
            <a:custGeom>
              <a:avLst/>
              <a:gdLst>
                <a:gd name="T0" fmla="*/ 35639 w 27"/>
                <a:gd name="T1" fmla="*/ 31650 h 40"/>
                <a:gd name="T2" fmla="*/ 20047 w 27"/>
                <a:gd name="T3" fmla="*/ 45273 h 40"/>
                <a:gd name="T4" fmla="*/ 0 w 27"/>
                <a:gd name="T5" fmla="*/ 45273 h 40"/>
                <a:gd name="T6" fmla="*/ 4905 w 27"/>
                <a:gd name="T7" fmla="*/ 41936 h 40"/>
                <a:gd name="T8" fmla="*/ 11276 w 27"/>
                <a:gd name="T9" fmla="*/ 41936 h 40"/>
                <a:gd name="T10" fmla="*/ 2759 w 27"/>
                <a:gd name="T11" fmla="*/ 29117 h 40"/>
                <a:gd name="T12" fmla="*/ 2759 w 27"/>
                <a:gd name="T13" fmla="*/ 0 h 40"/>
                <a:gd name="T14" fmla="*/ 8720 w 27"/>
                <a:gd name="T15" fmla="*/ 5849 h 40"/>
                <a:gd name="T16" fmla="*/ 8720 w 27"/>
                <a:gd name="T17" fmla="*/ 31617 h 40"/>
                <a:gd name="T18" fmla="*/ 18660 w 27"/>
                <a:gd name="T19" fmla="*/ 41936 h 40"/>
                <a:gd name="T20" fmla="*/ 30476 w 27"/>
                <a:gd name="T21" fmla="*/ 31617 h 40"/>
                <a:gd name="T22" fmla="*/ 20047 w 27"/>
                <a:gd name="T23" fmla="*/ 16124 h 40"/>
                <a:gd name="T24" fmla="*/ 15035 w 27"/>
                <a:gd name="T25" fmla="*/ 11085 h 40"/>
                <a:gd name="T26" fmla="*/ 35639 w 27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"/>
                <a:gd name="T43" fmla="*/ 0 h 40"/>
                <a:gd name="T44" fmla="*/ 27 w 27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" h="40">
                  <a:moveTo>
                    <a:pt x="27" y="28"/>
                  </a:moveTo>
                  <a:cubicBezTo>
                    <a:pt x="27" y="34"/>
                    <a:pt x="23" y="40"/>
                    <a:pt x="15" y="40"/>
                  </a:cubicBezTo>
                  <a:lnTo>
                    <a:pt x="0" y="40"/>
                  </a:lnTo>
                  <a:cubicBezTo>
                    <a:pt x="1" y="38"/>
                    <a:pt x="2" y="37"/>
                    <a:pt x="4" y="37"/>
                  </a:cubicBezTo>
                  <a:lnTo>
                    <a:pt x="8" y="37"/>
                  </a:lnTo>
                  <a:cubicBezTo>
                    <a:pt x="6" y="37"/>
                    <a:pt x="2" y="32"/>
                    <a:pt x="2" y="26"/>
                  </a:cubicBezTo>
                  <a:lnTo>
                    <a:pt x="2" y="0"/>
                  </a:lnTo>
                  <a:cubicBezTo>
                    <a:pt x="6" y="0"/>
                    <a:pt x="7" y="3"/>
                    <a:pt x="7" y="5"/>
                  </a:cubicBezTo>
                  <a:lnTo>
                    <a:pt x="7" y="27"/>
                  </a:lnTo>
                  <a:cubicBezTo>
                    <a:pt x="7" y="33"/>
                    <a:pt x="9" y="37"/>
                    <a:pt x="14" y="37"/>
                  </a:cubicBezTo>
                  <a:cubicBezTo>
                    <a:pt x="20" y="37"/>
                    <a:pt x="23" y="32"/>
                    <a:pt x="23" y="27"/>
                  </a:cubicBezTo>
                  <a:cubicBezTo>
                    <a:pt x="23" y="20"/>
                    <a:pt x="19" y="16"/>
                    <a:pt x="15" y="14"/>
                  </a:cubicBezTo>
                  <a:cubicBezTo>
                    <a:pt x="12" y="13"/>
                    <a:pt x="12" y="12"/>
                    <a:pt x="11" y="10"/>
                  </a:cubicBezTo>
                  <a:cubicBezTo>
                    <a:pt x="18" y="11"/>
                    <a:pt x="27" y="17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Freeform 147"/>
            <p:cNvSpPr>
              <a:spLocks/>
            </p:cNvSpPr>
            <p:nvPr/>
          </p:nvSpPr>
          <p:spPr bwMode="auto">
            <a:xfrm flipV="1">
              <a:off x="3922" y="478"/>
              <a:ext cx="28" cy="51"/>
            </a:xfrm>
            <a:custGeom>
              <a:avLst/>
              <a:gdLst>
                <a:gd name="T0" fmla="*/ 27561 w 21"/>
                <a:gd name="T1" fmla="*/ 18105 h 39"/>
                <a:gd name="T2" fmla="*/ 17143 w 21"/>
                <a:gd name="T3" fmla="*/ 26147 h 39"/>
                <a:gd name="T4" fmla="*/ 4905 w 21"/>
                <a:gd name="T5" fmla="*/ 26147 h 39"/>
                <a:gd name="T6" fmla="*/ 4905 w 21"/>
                <a:gd name="T7" fmla="*/ 32016 h 39"/>
                <a:gd name="T8" fmla="*/ 0 w 21"/>
                <a:gd name="T9" fmla="*/ 27649 h 39"/>
                <a:gd name="T10" fmla="*/ 0 w 21"/>
                <a:gd name="T11" fmla="*/ 22894 h 39"/>
                <a:gd name="T12" fmla="*/ 15035 w 21"/>
                <a:gd name="T13" fmla="*/ 22894 h 39"/>
                <a:gd name="T14" fmla="*/ 22857 w 21"/>
                <a:gd name="T15" fmla="*/ 16678 h 39"/>
                <a:gd name="T16" fmla="*/ 8720 w 21"/>
                <a:gd name="T17" fmla="*/ 3335 h 39"/>
                <a:gd name="T18" fmla="*/ 3679 w 21"/>
                <a:gd name="T19" fmla="*/ 0 h 39"/>
                <a:gd name="T20" fmla="*/ 27561 w 21"/>
                <a:gd name="T21" fmla="*/ 18105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"/>
                <a:gd name="T34" fmla="*/ 0 h 39"/>
                <a:gd name="T35" fmla="*/ 21 w 21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" h="39">
                  <a:moveTo>
                    <a:pt x="21" y="22"/>
                  </a:moveTo>
                  <a:cubicBezTo>
                    <a:pt x="21" y="27"/>
                    <a:pt x="18" y="31"/>
                    <a:pt x="13" y="31"/>
                  </a:cubicBezTo>
                  <a:lnTo>
                    <a:pt x="4" y="31"/>
                  </a:lnTo>
                  <a:lnTo>
                    <a:pt x="4" y="39"/>
                  </a:lnTo>
                  <a:cubicBezTo>
                    <a:pt x="2" y="39"/>
                    <a:pt x="0" y="38"/>
                    <a:pt x="0" y="34"/>
                  </a:cubicBezTo>
                  <a:lnTo>
                    <a:pt x="0" y="28"/>
                  </a:lnTo>
                  <a:lnTo>
                    <a:pt x="11" y="28"/>
                  </a:lnTo>
                  <a:cubicBezTo>
                    <a:pt x="13" y="28"/>
                    <a:pt x="17" y="27"/>
                    <a:pt x="17" y="21"/>
                  </a:cubicBezTo>
                  <a:cubicBezTo>
                    <a:pt x="17" y="12"/>
                    <a:pt x="11" y="6"/>
                    <a:pt x="7" y="4"/>
                  </a:cubicBezTo>
                  <a:cubicBezTo>
                    <a:pt x="5" y="3"/>
                    <a:pt x="3" y="2"/>
                    <a:pt x="3" y="0"/>
                  </a:cubicBezTo>
                  <a:cubicBezTo>
                    <a:pt x="10" y="1"/>
                    <a:pt x="21" y="9"/>
                    <a:pt x="21" y="2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6" name="Freeform 148"/>
            <p:cNvSpPr>
              <a:spLocks/>
            </p:cNvSpPr>
            <p:nvPr/>
          </p:nvSpPr>
          <p:spPr bwMode="auto">
            <a:xfrm flipV="1">
              <a:off x="3960" y="488"/>
              <a:ext cx="32" cy="41"/>
            </a:xfrm>
            <a:custGeom>
              <a:avLst/>
              <a:gdLst>
                <a:gd name="T0" fmla="*/ 31956 w 24"/>
                <a:gd name="T1" fmla="*/ 2475 h 31"/>
                <a:gd name="T2" fmla="*/ 30476 w 24"/>
                <a:gd name="T3" fmla="*/ 6914 h 31"/>
                <a:gd name="T4" fmla="*/ 22857 w 24"/>
                <a:gd name="T5" fmla="*/ 13246 h 31"/>
                <a:gd name="T6" fmla="*/ 30476 w 24"/>
                <a:gd name="T7" fmla="*/ 23350 h 31"/>
                <a:gd name="T8" fmla="*/ 30476 w 24"/>
                <a:gd name="T9" fmla="*/ 33320 h 31"/>
                <a:gd name="T10" fmla="*/ 24880 w 24"/>
                <a:gd name="T11" fmla="*/ 27979 h 31"/>
                <a:gd name="T12" fmla="*/ 24880 w 24"/>
                <a:gd name="T13" fmla="*/ 21155 h 31"/>
                <a:gd name="T14" fmla="*/ 20671 w 24"/>
                <a:gd name="T15" fmla="*/ 15698 h 31"/>
                <a:gd name="T16" fmla="*/ 1 w 24"/>
                <a:gd name="T17" fmla="*/ 33320 h 31"/>
                <a:gd name="T18" fmla="*/ 0 w 24"/>
                <a:gd name="T19" fmla="*/ 30882 h 31"/>
                <a:gd name="T20" fmla="*/ 1 w 24"/>
                <a:gd name="T21" fmla="*/ 27979 h 31"/>
                <a:gd name="T22" fmla="*/ 8457 w 24"/>
                <a:gd name="T23" fmla="*/ 21155 h 31"/>
                <a:gd name="T24" fmla="*/ 0 w 24"/>
                <a:gd name="T25" fmla="*/ 10093 h 31"/>
                <a:gd name="T26" fmla="*/ 0 w 24"/>
                <a:gd name="T27" fmla="*/ 0 h 31"/>
                <a:gd name="T28" fmla="*/ 4905 w 24"/>
                <a:gd name="T29" fmla="*/ 5725 h 31"/>
                <a:gd name="T30" fmla="*/ 4905 w 24"/>
                <a:gd name="T31" fmla="*/ 12094 h 31"/>
                <a:gd name="T32" fmla="*/ 11276 w 24"/>
                <a:gd name="T33" fmla="*/ 19881 h 31"/>
                <a:gd name="T34" fmla="*/ 30476 w 24"/>
                <a:gd name="T35" fmla="*/ 0 h 31"/>
                <a:gd name="T36" fmla="*/ 31956 w 24"/>
                <a:gd name="T37" fmla="*/ 2475 h 3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4"/>
                <a:gd name="T58" fmla="*/ 0 h 31"/>
                <a:gd name="T59" fmla="*/ 24 w 24"/>
                <a:gd name="T60" fmla="*/ 31 h 3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4" h="31">
                  <a:moveTo>
                    <a:pt x="24" y="2"/>
                  </a:moveTo>
                  <a:cubicBezTo>
                    <a:pt x="24" y="4"/>
                    <a:pt x="23" y="5"/>
                    <a:pt x="23" y="6"/>
                  </a:cubicBezTo>
                  <a:lnTo>
                    <a:pt x="17" y="12"/>
                  </a:lnTo>
                  <a:cubicBezTo>
                    <a:pt x="20" y="14"/>
                    <a:pt x="23" y="18"/>
                    <a:pt x="23" y="22"/>
                  </a:cubicBezTo>
                  <a:lnTo>
                    <a:pt x="23" y="31"/>
                  </a:lnTo>
                  <a:cubicBezTo>
                    <a:pt x="21" y="31"/>
                    <a:pt x="19" y="30"/>
                    <a:pt x="19" y="26"/>
                  </a:cubicBezTo>
                  <a:lnTo>
                    <a:pt x="19" y="20"/>
                  </a:lnTo>
                  <a:cubicBezTo>
                    <a:pt x="19" y="16"/>
                    <a:pt x="17" y="15"/>
                    <a:pt x="16" y="14"/>
                  </a:cubicBezTo>
                  <a:lnTo>
                    <a:pt x="1" y="31"/>
                  </a:lnTo>
                  <a:cubicBezTo>
                    <a:pt x="0" y="31"/>
                    <a:pt x="0" y="30"/>
                    <a:pt x="0" y="29"/>
                  </a:cubicBezTo>
                  <a:cubicBezTo>
                    <a:pt x="0" y="28"/>
                    <a:pt x="0" y="27"/>
                    <a:pt x="1" y="26"/>
                  </a:cubicBezTo>
                  <a:lnTo>
                    <a:pt x="6" y="20"/>
                  </a:lnTo>
                  <a:cubicBezTo>
                    <a:pt x="3" y="19"/>
                    <a:pt x="0" y="14"/>
                    <a:pt x="0" y="10"/>
                  </a:cubicBezTo>
                  <a:lnTo>
                    <a:pt x="0" y="0"/>
                  </a:lnTo>
                  <a:cubicBezTo>
                    <a:pt x="2" y="0"/>
                    <a:pt x="4" y="2"/>
                    <a:pt x="4" y="5"/>
                  </a:cubicBezTo>
                  <a:lnTo>
                    <a:pt x="4" y="11"/>
                  </a:lnTo>
                  <a:cubicBezTo>
                    <a:pt x="4" y="15"/>
                    <a:pt x="5" y="18"/>
                    <a:pt x="8" y="18"/>
                  </a:cubicBezTo>
                  <a:lnTo>
                    <a:pt x="23" y="0"/>
                  </a:lnTo>
                  <a:cubicBezTo>
                    <a:pt x="23" y="1"/>
                    <a:pt x="24" y="2"/>
                    <a:pt x="24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7" name="Rectangle 149"/>
            <p:cNvSpPr>
              <a:spLocks noChangeArrowheads="1"/>
            </p:cNvSpPr>
            <p:nvPr/>
          </p:nvSpPr>
          <p:spPr bwMode="auto">
            <a:xfrm>
              <a:off x="4259" y="483"/>
              <a:ext cx="39" cy="3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8" name="Rectangle 150"/>
            <p:cNvSpPr>
              <a:spLocks noChangeArrowheads="1"/>
            </p:cNvSpPr>
            <p:nvPr/>
          </p:nvSpPr>
          <p:spPr bwMode="auto">
            <a:xfrm>
              <a:off x="4201" y="484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144" y="486"/>
              <a:ext cx="33" cy="34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085" y="487"/>
              <a:ext cx="32" cy="32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1" name="Rectangle 153"/>
            <p:cNvSpPr>
              <a:spLocks noChangeArrowheads="1"/>
            </p:cNvSpPr>
            <p:nvPr/>
          </p:nvSpPr>
          <p:spPr bwMode="auto">
            <a:xfrm>
              <a:off x="4028" y="488"/>
              <a:ext cx="28" cy="2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2" name="Rectangle 154"/>
            <p:cNvSpPr>
              <a:spLocks noChangeArrowheads="1"/>
            </p:cNvSpPr>
            <p:nvPr/>
          </p:nvSpPr>
          <p:spPr bwMode="auto">
            <a:xfrm>
              <a:off x="4259" y="580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3" name="Rectangle 155"/>
            <p:cNvSpPr>
              <a:spLocks noChangeArrowheads="1"/>
            </p:cNvSpPr>
            <p:nvPr/>
          </p:nvSpPr>
          <p:spPr bwMode="auto">
            <a:xfrm>
              <a:off x="4201" y="581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4" name="Rectangle 156"/>
            <p:cNvSpPr>
              <a:spLocks noChangeArrowheads="1"/>
            </p:cNvSpPr>
            <p:nvPr/>
          </p:nvSpPr>
          <p:spPr bwMode="auto">
            <a:xfrm>
              <a:off x="4144" y="583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5" name="Rectangle 157"/>
            <p:cNvSpPr>
              <a:spLocks noChangeArrowheads="1"/>
            </p:cNvSpPr>
            <p:nvPr/>
          </p:nvSpPr>
          <p:spPr bwMode="auto">
            <a:xfrm>
              <a:off x="4085" y="584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Rectangle 158"/>
            <p:cNvSpPr>
              <a:spLocks noChangeArrowheads="1"/>
            </p:cNvSpPr>
            <p:nvPr/>
          </p:nvSpPr>
          <p:spPr bwMode="auto">
            <a:xfrm>
              <a:off x="4028" y="585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Rectangle 159"/>
            <p:cNvSpPr>
              <a:spLocks noChangeArrowheads="1"/>
            </p:cNvSpPr>
            <p:nvPr/>
          </p:nvSpPr>
          <p:spPr bwMode="auto">
            <a:xfrm>
              <a:off x="4259" y="677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Rectangle 160"/>
            <p:cNvSpPr>
              <a:spLocks noChangeArrowheads="1"/>
            </p:cNvSpPr>
            <p:nvPr/>
          </p:nvSpPr>
          <p:spPr bwMode="auto">
            <a:xfrm>
              <a:off x="4201" y="679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9" name="Rectangle 161"/>
            <p:cNvSpPr>
              <a:spLocks noChangeArrowheads="1"/>
            </p:cNvSpPr>
            <p:nvPr/>
          </p:nvSpPr>
          <p:spPr bwMode="auto">
            <a:xfrm>
              <a:off x="4144" y="680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0" name="Rectangle 162"/>
            <p:cNvSpPr>
              <a:spLocks noChangeArrowheads="1"/>
            </p:cNvSpPr>
            <p:nvPr/>
          </p:nvSpPr>
          <p:spPr bwMode="auto">
            <a:xfrm>
              <a:off x="4085" y="681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1" name="Rectangle 163"/>
            <p:cNvSpPr>
              <a:spLocks noChangeArrowheads="1"/>
            </p:cNvSpPr>
            <p:nvPr/>
          </p:nvSpPr>
          <p:spPr bwMode="auto">
            <a:xfrm>
              <a:off x="4028" y="683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</p:grpSp>
      <p:pic>
        <p:nvPicPr>
          <p:cNvPr id="62" name="Picture 58" descr="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976" y="112198"/>
            <a:ext cx="5715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1335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410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4" r:id="rId18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398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 נובמבר 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513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84" r:id="rId20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9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260648"/>
            <a:ext cx="5917546" cy="932752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פרויקט – הדרכה כללית - מנהלות  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730954"/>
              </p:ext>
            </p:extLst>
          </p:nvPr>
        </p:nvGraphicFramePr>
        <p:xfrm>
          <a:off x="1074225" y="1553440"/>
          <a:ext cx="6792416" cy="4365752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79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מעבדה 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u="none" dirty="0"/>
                        <a:t>הדרכה כללית מנהלות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מה עושים כל שבוע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22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400" u="none" strike="noStrike" kern="1200" baseline="0" dirty="0"/>
                        <a:t>Good Practice (Mellanox) </a:t>
                      </a:r>
                      <a:endParaRPr lang="he-IL" sz="2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יעילות בקוד ובעבודה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87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הדוח הסופי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2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2400" u="none" dirty="0"/>
                        <a:t>הדרכה טכנית כללית (מצגת נפרדת)</a:t>
                      </a:r>
                      <a:endParaRPr lang="en-US" sz="2400" u="none" dirty="0"/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3200" u="none" strike="noStrike" dirty="0"/>
                        <a:t>סרטונים מהמודל  </a:t>
                      </a:r>
                      <a:r>
                        <a:rPr lang="he-IL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סרטונים להבהרת </a:t>
                      </a:r>
                      <a:r>
                        <a:rPr lang="he-IL" sz="1800" b="0" i="0" u="sng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השמוש</a:t>
                      </a:r>
                      <a:r>
                        <a:rPr lang="he-IL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ב- </a:t>
                      </a:r>
                      <a:r>
                        <a:rPr lang="en-US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VGA, </a:t>
                      </a:r>
                      <a:r>
                        <a:rPr lang="he-IL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מחולקים לפי נושא</a:t>
                      </a:r>
                      <a:endParaRPr lang="he-IL" sz="3200" u="none" strike="noStrike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602395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/>
                        <a:t>הפרויקטים של הסמסטר - מצגת נפרדת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55576" y="2348880"/>
            <a:ext cx="7416823" cy="504056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5387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484" y="395582"/>
            <a:ext cx="8019773" cy="932752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הנחיות לפרויקט סיום</a:t>
            </a:r>
            <a:br>
              <a:rPr lang="he-IL" b="1" u="sng" dirty="0">
                <a:solidFill>
                  <a:srgbClr val="3333CC"/>
                </a:solidFill>
              </a:rPr>
            </a:br>
            <a:r>
              <a:rPr lang="he-IL" b="1" u="sng" dirty="0">
                <a:solidFill>
                  <a:srgbClr val="3333CC"/>
                </a:solidFill>
              </a:rPr>
              <a:t>חורף/אביב/קיץ </a:t>
            </a:r>
            <a:r>
              <a:rPr lang="en-US" b="1" u="sng" dirty="0">
                <a:solidFill>
                  <a:srgbClr val="3333CC"/>
                </a:solidFill>
              </a:rPr>
              <a:t>XX</a:t>
            </a:r>
            <a:r>
              <a:rPr lang="he-IL" b="1" u="sng" dirty="0">
                <a:solidFill>
                  <a:srgbClr val="3333CC"/>
                </a:solidFill>
              </a:rPr>
              <a:t>20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74426" y="5999435"/>
            <a:ext cx="856907" cy="669925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13910" y="5373216"/>
            <a:ext cx="1448048" cy="484049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8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entury Gothic" panose="020B0502020202020204"/>
                <a:ea typeface="Times New Roman" panose="02020603050405020304" pitchFamily="18" charset="0"/>
                <a:cs typeface="David" panose="020E0502060401010101" pitchFamily="34" charset="-79"/>
              </a:rPr>
              <a:t>הגשה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03" y="-66273"/>
            <a:ext cx="2027242" cy="982457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C065CDD-3CAA-4327-B8A5-5D8CE768F47C}"/>
              </a:ext>
            </a:extLst>
          </p:cNvPr>
          <p:cNvSpPr/>
          <p:nvPr/>
        </p:nvSpPr>
        <p:spPr>
          <a:xfrm>
            <a:off x="199754" y="3645024"/>
            <a:ext cx="1560297" cy="48404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הצגת הפרויקטים</a:t>
            </a:r>
            <a:endParaRPr lang="en-US" sz="1200" dirty="0"/>
          </a:p>
        </p:txBody>
      </p:sp>
      <p:sp>
        <p:nvSpPr>
          <p:cNvPr id="10" name="Right Arrow 14">
            <a:extLst>
              <a:ext uri="{FF2B5EF4-FFF2-40B4-BE49-F238E27FC236}">
                <a16:creationId xmlns:a16="http://schemas.microsoft.com/office/drawing/2014/main" id="{9493B855-2510-197D-5E58-9BAD0E0E6C1D}"/>
              </a:ext>
            </a:extLst>
          </p:cNvPr>
          <p:cNvSpPr/>
          <p:nvPr/>
        </p:nvSpPr>
        <p:spPr>
          <a:xfrm rot="20233196" flipH="1">
            <a:off x="7345560" y="4118789"/>
            <a:ext cx="1428803" cy="32755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6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entury Gothic" panose="020B0502020202020204"/>
                <a:ea typeface="Times New Roman" panose="02020603050405020304" pitchFamily="18" charset="0"/>
                <a:cs typeface="David" panose="020E0502060401010101" pitchFamily="34" charset="-79"/>
              </a:rPr>
              <a:t>עבודה עצמאית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12E6634D-7C0B-4865-9718-E3BB754488FE}"/>
              </a:ext>
            </a:extLst>
          </p:cNvPr>
          <p:cNvSpPr/>
          <p:nvPr/>
        </p:nvSpPr>
        <p:spPr>
          <a:xfrm>
            <a:off x="7417092" y="4565913"/>
            <a:ext cx="1380481" cy="380309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46194">
                    <a:lumMod val="75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Code Review</a:t>
            </a:r>
          </a:p>
        </p:txBody>
      </p:sp>
      <p:sp>
        <p:nvSpPr>
          <p:cNvPr id="12" name="Right Arrow 14">
            <a:extLst>
              <a:ext uri="{FF2B5EF4-FFF2-40B4-BE49-F238E27FC236}">
                <a16:creationId xmlns:a16="http://schemas.microsoft.com/office/drawing/2014/main" id="{CCD1ECF6-46F1-4FBE-873A-5ADEF220BB1A}"/>
              </a:ext>
            </a:extLst>
          </p:cNvPr>
          <p:cNvSpPr/>
          <p:nvPr/>
        </p:nvSpPr>
        <p:spPr>
          <a:xfrm rot="1231891" flipH="1">
            <a:off x="7393402" y="5477255"/>
            <a:ext cx="1395711" cy="4020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6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entury Gothic" panose="020B0502020202020204"/>
                <a:ea typeface="Times New Roman" panose="02020603050405020304" pitchFamily="18" charset="0"/>
                <a:cs typeface="David" panose="020E0502060401010101" pitchFamily="34" charset="-79"/>
              </a:rPr>
              <a:t>עבודה עצמאית</a:t>
            </a:r>
          </a:p>
        </p:txBody>
      </p:sp>
      <p:sp>
        <p:nvSpPr>
          <p:cNvPr id="11" name="Right Arrow 14">
            <a:extLst>
              <a:ext uri="{FF2B5EF4-FFF2-40B4-BE49-F238E27FC236}">
                <a16:creationId xmlns:a16="http://schemas.microsoft.com/office/drawing/2014/main" id="{B56178B6-2479-67D1-7698-F396C9934F8D}"/>
              </a:ext>
            </a:extLst>
          </p:cNvPr>
          <p:cNvSpPr/>
          <p:nvPr/>
        </p:nvSpPr>
        <p:spPr>
          <a:xfrm rot="1231891" flipH="1">
            <a:off x="7359459" y="5042844"/>
            <a:ext cx="1403810" cy="4020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6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entury Gothic" panose="020B0502020202020204"/>
                <a:ea typeface="Times New Roman" panose="02020603050405020304" pitchFamily="18" charset="0"/>
                <a:cs typeface="David" panose="020E0502060401010101" pitchFamily="34" charset="-79"/>
              </a:rPr>
              <a:t>עבודה עצמאית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698C2-E599-1683-0705-B706173E6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213" y="1525556"/>
            <a:ext cx="5604193" cy="46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7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484" y="395582"/>
            <a:ext cx="8019773" cy="932752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שעות קבלה לפרויקט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74426" y="5999435"/>
            <a:ext cx="856907" cy="669925"/>
          </a:xfrm>
        </p:spPr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3" y="94961"/>
            <a:ext cx="2027242" cy="982457"/>
          </a:xfrm>
          <a:prstGeom prst="rect">
            <a:avLst/>
          </a:prstGeom>
        </p:spPr>
      </p:pic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1017432" y="3514107"/>
            <a:ext cx="7162866" cy="5132053"/>
          </a:xfrm>
        </p:spPr>
        <p:txBody>
          <a:bodyPr anchor="t">
            <a:normAutofit/>
          </a:bodyPr>
          <a:lstStyle/>
          <a:p>
            <a:r>
              <a:rPr lang="he-IL" dirty="0"/>
              <a:t>בשבועות</a:t>
            </a:r>
            <a:r>
              <a:rPr lang="en-US" dirty="0"/>
              <a:t> </a:t>
            </a:r>
            <a:r>
              <a:rPr lang="he-IL" dirty="0"/>
              <a:t>שאין מעבדות, נפתח שעות קבלה, כדי שמדריכים יעזרו לכם </a:t>
            </a:r>
          </a:p>
          <a:p>
            <a:r>
              <a:rPr lang="he-IL" dirty="0"/>
              <a:t>חלקן בזום,  נא לפנות לקישור של המדריך/ים </a:t>
            </a:r>
          </a:p>
          <a:p>
            <a:r>
              <a:rPr lang="he-IL" dirty="0"/>
              <a:t>בזום - השאלות הן לכולם, לא יפתחו חדרים פרטיים </a:t>
            </a:r>
          </a:p>
          <a:p>
            <a:endParaRPr lang="he-IL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18A551-0041-4622-9C28-0E1B33B5E0CD}"/>
              </a:ext>
            </a:extLst>
          </p:cNvPr>
          <p:cNvSpPr/>
          <p:nvPr/>
        </p:nvSpPr>
        <p:spPr>
          <a:xfrm>
            <a:off x="2339752" y="1985638"/>
            <a:ext cx="5434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800" b="1" u="sng" dirty="0">
                <a:solidFill>
                  <a:srgbClr val="3333CC"/>
                </a:solidFill>
              </a:rPr>
              <a:t>יפורסמו בהמשך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264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4E8D5E-EE44-44D0-B6A4-C26CE5AEB5C7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727200" y="1916113"/>
            <a:ext cx="7416800" cy="1143000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accent1">
                  <a:lumMod val="60000"/>
                  <a:lumOff val="40000"/>
                </a:schemeClr>
              </a:buClr>
              <a:buSzPct val="100000"/>
            </a:pPr>
            <a:r>
              <a:rPr lang="he-IL" sz="2000" dirty="0">
                <a:solidFill>
                  <a:schemeClr val="bg1"/>
                </a:solidFill>
              </a:rPr>
              <a:t>רובכם בחרו את בן הזוג </a:t>
            </a:r>
          </a:p>
          <a:p>
            <a:pPr marL="342900" lvl="1" indent="-342900">
              <a:buClr>
                <a:schemeClr val="accent1">
                  <a:lumMod val="60000"/>
                  <a:lumOff val="40000"/>
                </a:schemeClr>
              </a:buClr>
              <a:buSzPct val="100000"/>
            </a:pPr>
            <a:r>
              <a:rPr lang="he-IL" sz="2000" dirty="0">
                <a:solidFill>
                  <a:schemeClr val="bg1"/>
                </a:solidFill>
              </a:rPr>
              <a:t>במקרים מעטים אנחנו "שידכנו" שרירותית </a:t>
            </a:r>
            <a:endParaRPr lang="en-US" sz="1800" dirty="0"/>
          </a:p>
        </p:txBody>
      </p:sp>
      <p:sp>
        <p:nvSpPr>
          <p:cNvPr id="52231" name="Rectangle 60"/>
          <p:cNvSpPr>
            <a:spLocks noChangeArrowheads="1"/>
          </p:cNvSpPr>
          <p:nvPr/>
        </p:nvSpPr>
        <p:spPr bwMode="auto">
          <a:xfrm>
            <a:off x="1552465" y="548680"/>
            <a:ext cx="612140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4572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1" i="0" u="sng" strike="noStrike" kern="1200" cap="all" spc="0" normalizeH="0" baseline="0" noProof="0" dirty="0">
                <a:ln w="3175" cmpd="sng"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זוגות  -שותפים לניסוי</a:t>
            </a:r>
            <a:endParaRPr kumimoji="0" lang="en-US" sz="3200" b="1" i="0" u="sng" strike="noStrike" kern="1200" cap="all" spc="0" normalizeH="0" baseline="0" noProof="0" dirty="0">
              <a:ln w="3175" cmpd="sng">
                <a:noFill/>
              </a:ln>
              <a:solidFill>
                <a:srgbClr val="3333CC"/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58416" y="4274420"/>
            <a:ext cx="7416800" cy="1818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  <a:defRPr sz="20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 sz="1800" kern="1200" cap="none">
                <a:solidFill>
                  <a:sysClr val="windowText" lastClr="000000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 sz="1600" kern="1200" cap="none">
                <a:solidFill>
                  <a:sysClr val="windowText" lastClr="000000"/>
                </a:solidFill>
                <a:effectLst/>
                <a:latin typeface="+mn-lt"/>
                <a:ea typeface="+mn-ea"/>
                <a:cs typeface="+mn-cs"/>
              </a:defRPr>
            </a:lvl3pPr>
            <a:lvl4pPr marL="16573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 sz="1400" kern="1200" cap="none">
                <a:solidFill>
                  <a:sysClr val="windowText" lastClr="000000"/>
                </a:solidFill>
                <a:effectLst/>
                <a:latin typeface="+mn-lt"/>
                <a:ea typeface="+mn-ea"/>
                <a:cs typeface="+mn-cs"/>
              </a:defRPr>
            </a:lvl4pPr>
            <a:lvl5pPr marL="21145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 sz="1400" kern="1200" cap="none">
                <a:solidFill>
                  <a:sysClr val="windowText" lastClr="000000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r" defTabSz="4572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52F61">
                  <a:lumMod val="75000"/>
                </a:srgbClr>
              </a:buClr>
              <a:buSzPct val="100000"/>
              <a:buFont typeface="Wingdings" panose="05000000000000000000" pitchFamily="2" charset="2"/>
              <a:buChar char="v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כמו בחיים לא תמיד זיווגים מצליחים </a:t>
            </a:r>
          </a:p>
          <a:p>
            <a:pPr marL="742950" marR="0" lvl="1" indent="-285750" algn="r" defTabSz="4572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52F61">
                  <a:lumMod val="75000"/>
                </a:srgbClr>
              </a:buClr>
              <a:buSzPct val="70000"/>
              <a:buFont typeface="Wingdings" panose="05000000000000000000" pitchFamily="2" charset="2"/>
              <a:buChar char="v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ולכן חשוב לנו שאם אינכם מתאימים – דווחו לנו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מיידית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</a:t>
            </a:r>
          </a:p>
          <a:p>
            <a:pPr marL="342900" marR="0" lvl="0" indent="-342900" algn="r" defTabSz="4572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52F61">
                  <a:lumMod val="75000"/>
                </a:srgbClr>
              </a:buClr>
              <a:buSzPct val="100000"/>
              <a:buFont typeface="Wingdings" panose="05000000000000000000" pitchFamily="2" charset="2"/>
              <a:buChar char="v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מניסיון העבר: </a:t>
            </a:r>
          </a:p>
          <a:p>
            <a:pPr marL="742950" marR="0" lvl="1" indent="-285750" algn="r" defTabSz="4572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52F61">
                  <a:lumMod val="75000"/>
                </a:srgbClr>
              </a:buClr>
              <a:buSzPct val="70000"/>
              <a:buFont typeface="Wingdings" panose="05000000000000000000" pitchFamily="2" charset="2"/>
              <a:buChar char="v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זוג שנפרד בזמן, השותפים מצאו שותף מתאים יותר</a:t>
            </a:r>
          </a:p>
          <a:p>
            <a:pPr marL="742950" marR="0" lvl="1" indent="-285750" algn="r" defTabSz="4572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52F61">
                  <a:lumMod val="75000"/>
                </a:srgbClr>
              </a:buClr>
              <a:buSzPct val="70000"/>
              <a:buFont typeface="Wingdings" panose="05000000000000000000" pitchFamily="2" charset="2"/>
              <a:buChar char="v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מי שמשך עד הפרויקט- הגיע לפיצוץ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1483892"/>
            <a:ext cx="2420888" cy="15130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3211434"/>
            <a:ext cx="2857822" cy="145233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 rot="18881631">
            <a:off x="1807134" y="3051165"/>
            <a:ext cx="51539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האם יש זוג כזה ?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87676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-171400"/>
            <a:ext cx="6554867" cy="1524000"/>
          </a:xfrm>
        </p:spPr>
        <p:txBody>
          <a:bodyPr/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שעות פעילות</a:t>
            </a:r>
            <a:r>
              <a:rPr lang="en-US" b="1" u="sng" dirty="0">
                <a:solidFill>
                  <a:srgbClr val="3333CC"/>
                </a:solidFill>
              </a:rPr>
              <a:t> </a:t>
            </a:r>
            <a:r>
              <a:rPr lang="he-IL" b="1" u="sng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1" y="1116350"/>
            <a:ext cx="7162866" cy="5132053"/>
          </a:xfrm>
        </p:spPr>
        <p:txBody>
          <a:bodyPr anchor="t">
            <a:normAutofit/>
          </a:bodyPr>
          <a:lstStyle/>
          <a:p>
            <a:r>
              <a:rPr lang="he-IL" dirty="0"/>
              <a:t>המעבדה תיפתח לעבודה בשעות קבלה  לפרויקט, ברובן עם מדריך </a:t>
            </a:r>
          </a:p>
          <a:p>
            <a:pPr lvl="1"/>
            <a:r>
              <a:rPr lang="he-IL" b="1" dirty="0">
                <a:solidFill>
                  <a:srgbClr val="FF0000"/>
                </a:solidFill>
              </a:rPr>
              <a:t>ניתן לעבוד באופן חופשי בגושים אם הם ריקים בזמן שיש מעבדה 1'א או 1'ב</a:t>
            </a:r>
          </a:p>
          <a:p>
            <a:r>
              <a:rPr lang="he-IL" b="1" dirty="0"/>
              <a:t>אל תגזימו </a:t>
            </a:r>
            <a:r>
              <a:rPr lang="he-IL" dirty="0"/>
              <a:t>– סטודנטים שעבדו 24 שעות רצוף ( והיו כאלה)</a:t>
            </a:r>
            <a:r>
              <a:rPr lang="en-US" dirty="0"/>
              <a:t> </a:t>
            </a:r>
            <a:r>
              <a:rPr lang="he-IL" dirty="0"/>
              <a:t> כתבו שטויות בסוף </a:t>
            </a:r>
          </a:p>
          <a:p>
            <a:endParaRPr lang="he-IL" dirty="0"/>
          </a:p>
          <a:p>
            <a:r>
              <a:rPr lang="he-IL" dirty="0"/>
              <a:t>עדיף לישון ולחזור רעננים </a:t>
            </a:r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אם נתקעתם  - </a:t>
            </a:r>
            <a:r>
              <a:rPr lang="he-IL" b="1" dirty="0"/>
              <a:t>תשאלו</a:t>
            </a:r>
            <a:r>
              <a:rPr lang="he-IL" dirty="0"/>
              <a:t> יהיו מדריכים לעזור לכם 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8194" name="Picture 2" descr="http://www.camoni.co.il/cms_files/headers/header_540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068960"/>
            <a:ext cx="2592288" cy="172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153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912276" y="917373"/>
            <a:ext cx="6291581" cy="268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52352" rIns="1050594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hangingPunct="0">
              <a:defRPr/>
            </a:pPr>
            <a:r>
              <a:rPr lang="he-IL" altLang="he-IL" sz="28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מעבדת </a:t>
            </a:r>
            <a:r>
              <a:rPr lang="en-US" altLang="he-IL" sz="28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DEBUG</a:t>
            </a:r>
            <a:endParaRPr lang="he-IL" altLang="he-IL" sz="2800" b="1" i="1" dirty="0">
              <a:solidFill>
                <a:srgbClr val="33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eaLnBrk="0" hangingPunct="0"/>
            <a:r>
              <a:rPr lang="he-IL" altLang="he-IL" sz="2000" b="1" dirty="0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במעבדה:</a:t>
            </a:r>
            <a:endParaRPr lang="en-US" altLang="he-IL" sz="2000" b="1" dirty="0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lvl="1" eaLnBrk="0" hangingPunct="0"/>
            <a:endParaRPr lang="en-US" altLang="he-IL" sz="2000" b="1" dirty="0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eaLnBrk="0" hangingPunct="0"/>
            <a:r>
              <a:rPr kumimoji="0" lang="he-IL" altLang="he-IL" sz="2000" b="0" i="0" u="none" strike="noStrike" cap="none" normalizeH="0" baseline="0" dirty="0" bmk="">
                <a:ln>
                  <a:noFill/>
                </a:ln>
                <a:solidFill>
                  <a:srgbClr val="33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קבלת המשימה מהמדריך  הבנת הדרישה- מה צריך לעשות – מנקודת מבטו של </a:t>
            </a:r>
            <a:r>
              <a:rPr kumimoji="0" lang="he-IL" altLang="he-IL" sz="2000" b="1" i="0" u="sng" strike="noStrike" cap="none" normalizeH="0" baseline="0" dirty="0" bmk="">
                <a:ln>
                  <a:noFill/>
                </a:ln>
                <a:solidFill>
                  <a:srgbClr val="33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הלקוח</a:t>
            </a:r>
            <a:r>
              <a:rPr kumimoji="0" lang="he-IL" altLang="he-IL" sz="2000" b="0" i="0" u="none" strike="noStrike" cap="none" normalizeH="0" baseline="0" dirty="0" bmk="">
                <a:ln>
                  <a:noFill/>
                </a:ln>
                <a:solidFill>
                  <a:srgbClr val="33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kumimoji="0" lang="en-US" altLang="he-IL" sz="2000" b="1" i="0" u="none" strike="noStrike" cap="none" normalizeH="0" baseline="0" dirty="0" bmk="">
                <a:ln>
                  <a:noFill/>
                </a:ln>
                <a:solidFill>
                  <a:srgbClr val="33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MRD</a:t>
            </a:r>
            <a:r>
              <a:rPr kumimoji="0" lang="en-US" altLang="he-IL" sz="2000" b="0" i="0" u="none" strike="noStrike" cap="none" normalizeH="0" baseline="0" dirty="0" bmk="">
                <a:ln>
                  <a:noFill/>
                </a:ln>
                <a:solidFill>
                  <a:srgbClr val="33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 (Marketing Requirement Document) </a:t>
            </a:r>
            <a:r>
              <a:rPr kumimoji="0" lang="he-IL" altLang="he-IL" sz="2000" b="0" i="0" u="none" strike="noStrike" cap="none" normalizeH="0" baseline="0" dirty="0" bmk="">
                <a:ln>
                  <a:noFill/>
                </a:ln>
                <a:solidFill>
                  <a:srgbClr val="33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- הגדרת אפיון </a:t>
            </a:r>
          </a:p>
          <a:p>
            <a:pPr marL="457200" marR="0" lvl="1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he-IL" altLang="he-IL" sz="1400" dirty="0" bmk="">
              <a:solidFill>
                <a:srgbClr val="3333CC"/>
              </a:solidFill>
              <a:latin typeface="Arial" panose="020B0604020202020204" pitchFamily="34" charset="0"/>
              <a:cs typeface="David" panose="020E0502060401010101" pitchFamily="34" charset="-79"/>
            </a:endParaRPr>
          </a:p>
        </p:txBody>
      </p:sp>
      <p:sp>
        <p:nvSpPr>
          <p:cNvPr id="3" name="Left Arrow 2"/>
          <p:cNvSpPr/>
          <p:nvPr/>
        </p:nvSpPr>
        <p:spPr>
          <a:xfrm>
            <a:off x="2954228" y="3715246"/>
            <a:ext cx="504056" cy="56530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2376D8-AF94-A3BD-1ECD-65FD6CF58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77" y="3861048"/>
            <a:ext cx="191479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401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92357" y="332656"/>
            <a:ext cx="7810522" cy="4593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2352" rIns="1050594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R="0" lvl="2" indent="0" defTabSz="914400" eaLnBrk="0" latinLnBrk="0" hangingPunct="0">
              <a:lnSpc>
                <a:spcPct val="100000"/>
              </a:lnSpc>
              <a:buClrTx/>
              <a:buSzTx/>
              <a:tabLst/>
            </a:pPr>
            <a:r>
              <a:rPr lang="he-IL" altLang="he-IL" sz="2800" b="1" i="1" dirty="0" bmk="_Toc451347673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מעבדת </a:t>
            </a:r>
            <a:r>
              <a:rPr lang="en-US" altLang="he-IL" sz="28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VGA</a:t>
            </a:r>
            <a:endParaRPr kumimoji="0" lang="he-IL" altLang="he-IL" sz="2000" b="1" i="0" u="none" strike="noStrike" cap="none" normalizeH="0" baseline="0" dirty="0">
              <a:ln>
                <a:noFill/>
              </a:ln>
              <a:solidFill>
                <a:srgbClr val="3333CC"/>
              </a:solidFill>
              <a:effectLst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1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rgbClr val="3333CC"/>
                </a:solidFill>
                <a:effectLst/>
                <a:ea typeface="Times New Roman" panose="02020603050405020304" pitchFamily="18" charset="0"/>
                <a:cs typeface="David" panose="020E0502060401010101" pitchFamily="34" charset="-79"/>
              </a:rPr>
              <a:t>עבודת הכנה: </a:t>
            </a:r>
            <a:endParaRPr kumimoji="0" lang="en-US" altLang="he-IL" sz="1050" b="0" i="0" u="none" strike="noStrike" cap="none" normalizeH="0" baseline="0" dirty="0">
              <a:ln>
                <a:noFill/>
              </a:ln>
              <a:solidFill>
                <a:srgbClr val="3333CC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תיאור המערכת – שרטוט סכמת מלבנים כללית כולל כל החיבורים</a:t>
            </a:r>
            <a:endParaRPr lang="en-US" altLang="he-IL" sz="20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תיאור מפורט של כל המכלולים, הכנסת המכלולים הקיימים</a:t>
            </a:r>
            <a:endParaRPr lang="en-US" altLang="he-IL" sz="20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PSD (Project Specifications Document)</a:t>
            </a: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הערה – ככל שתשקיעו יותר בהגדרה, תאלצו להשקיע פחות  זמן במימוש</a:t>
            </a:r>
            <a:endParaRPr lang="en-US" altLang="he-IL" sz="20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2000" b="1" dirty="0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2000" b="1" dirty="0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במעבדה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rgbClr val="33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: </a:t>
            </a:r>
          </a:p>
          <a:p>
            <a:pPr eaLnBrk="0" hangingPunct="0"/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במעבדה זו תקבלו את בלוק המקלדת כקופסא סגורה ( קוד בינארי).</a:t>
            </a:r>
            <a:endParaRPr kumimoji="0" lang="en-US" altLang="he-IL" sz="800" b="0" i="0" u="none" strike="noStrike" cap="none" normalizeH="0" baseline="0" dirty="0">
              <a:ln>
                <a:noFill/>
              </a:ln>
              <a:solidFill>
                <a:srgbClr val="3333CC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הסכמה עם המדריך על סכמת המלבנים ותפקיד כל מכלול </a:t>
            </a:r>
            <a:endParaRPr lang="en-US" altLang="he-IL" sz="20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הגדרת הסיבוכיות לכל מכלול</a:t>
            </a:r>
            <a:endParaRPr lang="en-US" altLang="he-IL" sz="20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התאמת והכנסת מכלולים הקיימים מראש</a:t>
            </a:r>
            <a:endParaRPr lang="en-US" altLang="he-IL" sz="20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כתיבת המכלולים הקשים, הגדרה כיצד לבדוק אותם </a:t>
            </a:r>
            <a:endParaRPr lang="en-US" altLang="he-IL" sz="20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he-IL" sz="1800" b="0" i="0" u="none" strike="noStrike" cap="none" normalizeH="0" baseline="0" dirty="0">
              <a:ln>
                <a:noFill/>
              </a:ln>
              <a:solidFill>
                <a:srgbClr val="3333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12948" y="4951075"/>
            <a:ext cx="3600400" cy="707886"/>
          </a:xfrm>
          <a:prstGeom prst="rect">
            <a:avLst/>
          </a:prstGeom>
          <a:solidFill>
            <a:srgbClr val="00B050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sz="2000" b="1" dirty="0">
                <a:solidFill>
                  <a:schemeClr val="accent4">
                    <a:lumMod val="50000"/>
                  </a:schemeClr>
                </a:solidFill>
              </a:rPr>
              <a:t>כתיבת ספתח –</a:t>
            </a:r>
          </a:p>
          <a:p>
            <a:pPr algn="ctr"/>
            <a:r>
              <a:rPr lang="he-IL" sz="2000" b="1" dirty="0">
                <a:solidFill>
                  <a:schemeClr val="accent4">
                    <a:lumMod val="50000"/>
                  </a:schemeClr>
                </a:solidFill>
              </a:rPr>
              <a:t>שילוב  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VGA </a:t>
            </a:r>
            <a:r>
              <a:rPr lang="he-IL" sz="2000" b="1" dirty="0">
                <a:solidFill>
                  <a:schemeClr val="accent4">
                    <a:lumMod val="50000"/>
                  </a:schemeClr>
                </a:solidFill>
              </a:rPr>
              <a:t>+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 KBD </a:t>
            </a:r>
            <a:r>
              <a:rPr lang="he-IL" sz="2000" b="1" dirty="0">
                <a:solidFill>
                  <a:schemeClr val="accent4">
                    <a:lumMod val="50000"/>
                  </a:schemeClr>
                </a:solidFill>
              </a:rPr>
              <a:t>+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 AUDIO</a:t>
            </a:r>
            <a:endParaRPr lang="he-IL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Left Arrow 7"/>
          <p:cNvSpPr/>
          <p:nvPr/>
        </p:nvSpPr>
        <p:spPr>
          <a:xfrm>
            <a:off x="2347593" y="4637878"/>
            <a:ext cx="504056" cy="56530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6E3A4-D581-4CBA-6BCC-B3A2C0CB0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61" y="4568196"/>
            <a:ext cx="191479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57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63644" y="1484784"/>
            <a:ext cx="5556700" cy="2993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2352" rIns="1050594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8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עבודה עצמאית</a:t>
            </a:r>
          </a:p>
          <a:p>
            <a:pPr marL="91440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8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בשבועות אלו אין מעבדות.</a:t>
            </a:r>
          </a:p>
          <a:p>
            <a:pPr marL="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יהיו מדריכים במעבדה ו/או בזום להתייעצות – </a:t>
            </a:r>
          </a:p>
          <a:p>
            <a:pPr marL="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ניתן לעבוד בזמנכם החופשי </a:t>
            </a:r>
            <a:endParaRPr kumimoji="0" lang="he-IL" altLang="he-IL" sz="2000" b="0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he-IL" sz="2400" b="0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he-IL" sz="2400" b="0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he-IL" sz="1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Left Arrow 6">
            <a:extLst>
              <a:ext uri="{FF2B5EF4-FFF2-40B4-BE49-F238E27FC236}">
                <a16:creationId xmlns:a16="http://schemas.microsoft.com/office/drawing/2014/main" id="{A7F019A3-6266-4CC4-958D-9D56F486B198}"/>
              </a:ext>
            </a:extLst>
          </p:cNvPr>
          <p:cNvSpPr/>
          <p:nvPr/>
        </p:nvSpPr>
        <p:spPr>
          <a:xfrm>
            <a:off x="2387130" y="4447793"/>
            <a:ext cx="504056" cy="56530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5" name="Left Arrow 6">
            <a:extLst>
              <a:ext uri="{FF2B5EF4-FFF2-40B4-BE49-F238E27FC236}">
                <a16:creationId xmlns:a16="http://schemas.microsoft.com/office/drawing/2014/main" id="{D8B78F51-81A0-DDA1-A0DB-A61885045538}"/>
              </a:ext>
            </a:extLst>
          </p:cNvPr>
          <p:cNvSpPr/>
          <p:nvPr/>
        </p:nvSpPr>
        <p:spPr>
          <a:xfrm>
            <a:off x="2411760" y="5400426"/>
            <a:ext cx="504056" cy="56530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1DC41EA6-887B-DCD8-8309-771AE523913C}"/>
              </a:ext>
            </a:extLst>
          </p:cNvPr>
          <p:cNvSpPr/>
          <p:nvPr/>
        </p:nvSpPr>
        <p:spPr>
          <a:xfrm>
            <a:off x="2436390" y="4924109"/>
            <a:ext cx="504056" cy="56530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9306DD-0C5C-D829-34BD-CE19170C9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53" y="3922330"/>
            <a:ext cx="191479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38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907704" y="219418"/>
            <a:ext cx="7036272" cy="680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2352" rIns="1050594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R="0" lvl="2" indent="0" defTabSz="914400" eaLnBrk="0" latinLnBrk="0" hangingPunct="0">
              <a:lnSpc>
                <a:spcPct val="100000"/>
              </a:lnSpc>
              <a:buClrTx/>
              <a:buSzTx/>
              <a:tabLst/>
            </a:pPr>
            <a:r>
              <a:rPr lang="he-IL" altLang="he-IL" sz="28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</a:t>
            </a:r>
            <a:r>
              <a:rPr lang="he-IL" altLang="he-IL" sz="2800" b="1" i="1" dirty="0" bmk="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עבדת אינטגרציה</a:t>
            </a:r>
            <a:r>
              <a:rPr lang="he-IL" altLang="he-IL" sz="28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2" indent="0" defTabSz="914400" eaLnBrk="0" latinLnBrk="0" hangingPunct="0">
              <a:lnSpc>
                <a:spcPct val="100000"/>
              </a:lnSpc>
              <a:buClrTx/>
              <a:buSzTx/>
              <a:tabLst/>
            </a:pPr>
            <a:r>
              <a:rPr lang="he-IL" altLang="he-IL" sz="28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2" defTabSz="914400" eaLnBrk="0" latinLnBrk="0" hangingPunct="0">
              <a:lnSpc>
                <a:spcPct val="100000"/>
              </a:lnSpc>
              <a:buClrTx/>
              <a:buSzTx/>
              <a:tabLst/>
            </a:pPr>
            <a:r>
              <a:rPr lang="he-IL" altLang="he-IL" sz="2000" b="1" dirty="0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עבודת הכנה: </a:t>
            </a:r>
            <a:endParaRPr lang="en-US" altLang="he-IL" sz="2000" b="1" dirty="0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כתיבת מכלולים ,  סיום אינטגרציה </a:t>
            </a:r>
            <a:r>
              <a:rPr lang="en-US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PIPE</a:t>
            </a:r>
            <a:endParaRPr lang="he-IL" altLang="he-IL" sz="20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lang="en-US" altLang="he-IL" sz="20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2000" b="1" dirty="0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במעבדה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rgbClr val="33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: </a:t>
            </a:r>
            <a:endParaRPr kumimoji="0" lang="en-US" altLang="he-IL" sz="800" b="0" i="0" u="none" strike="noStrike" cap="none" normalizeH="0" baseline="0" dirty="0">
              <a:ln>
                <a:noFill/>
              </a:ln>
              <a:solidFill>
                <a:srgbClr val="3333CC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הפעלת ה </a:t>
            </a:r>
            <a:r>
              <a:rPr lang="en-US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PIPE </a:t>
            </a: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 - התמודדות עם בעיות </a:t>
            </a: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הצגת התקדמות למדריך -  יעוץ לגבי ההתקדמות ופתרון בעיות</a:t>
            </a:r>
            <a:r>
              <a:rPr lang="en-US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endParaRPr lang="en-US" altLang="he-IL" sz="20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eaLnBrk="0" hangingPunct="0"/>
            <a:r>
              <a:rPr lang="en-US" altLang="he-IL" sz="24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CODE Review  -</a:t>
            </a:r>
            <a:r>
              <a:rPr lang="he-IL" altLang="he-IL" sz="24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 , </a:t>
            </a: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מעבר ראשוני על הקוד והכנה לבחינה</a:t>
            </a:r>
          </a:p>
          <a:p>
            <a:pPr marL="800100" lvl="1" indent="-342900" eaLnBrk="0" hangingPunct="0">
              <a:buFont typeface="Arial" panose="020B0604020202020204" pitchFamily="34" charset="0"/>
              <a:buChar char="•"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איכות הכתיבה </a:t>
            </a:r>
          </a:p>
          <a:p>
            <a:pPr marL="800100" lvl="1" indent="-342900" eaLnBrk="0" hangingPunct="0">
              <a:buFont typeface="Arial" panose="020B0604020202020204" pitchFamily="34" charset="0"/>
              <a:buChar char="•"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אלגוריתמים </a:t>
            </a:r>
          </a:p>
          <a:p>
            <a:pPr marL="800100" lvl="1" indent="-342900" eaLnBrk="0" hangingPunct="0">
              <a:buFont typeface="Arial" panose="020B0604020202020204" pitchFamily="34" charset="0"/>
              <a:buChar char="•"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הבנת החומר</a:t>
            </a:r>
          </a:p>
          <a:p>
            <a:pPr eaLnBrk="0" hangingPunct="0"/>
            <a:endParaRPr lang="he-IL" altLang="he-IL" sz="24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2" defTabSz="914400" eaLnBrk="0" latinLnBrk="0" hangingPunct="0">
              <a:lnSpc>
                <a:spcPct val="100000"/>
              </a:lnSpc>
              <a:buClrTx/>
              <a:buSzTx/>
              <a:tabLst/>
            </a:pPr>
            <a:r>
              <a:rPr lang="en-US" altLang="he-IL" sz="2000" b="1" dirty="0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MVP </a:t>
            </a:r>
            <a:r>
              <a:rPr lang="he-IL" altLang="he-IL" sz="2000" b="1" dirty="0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 - </a:t>
            </a:r>
            <a:r>
              <a:rPr lang="en-US" altLang="he-IL" sz="2000" b="1" dirty="0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minimal viable project </a:t>
            </a:r>
            <a:r>
              <a:rPr lang="he-IL" altLang="he-IL" sz="2000" b="1" dirty="0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endParaRPr lang="en-US" altLang="he-IL" sz="2000" b="1" dirty="0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פרויקט שמממש </a:t>
            </a:r>
            <a:r>
              <a:rPr lang="he-IL" altLang="he-IL" sz="2000" b="1" u="sng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רק חלק קטן </a:t>
            </a: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מהפונקציות של המוצר הסופי </a:t>
            </a:r>
          </a:p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he-IL" altLang="he-IL" sz="2000" dirty="0" bmk="">
                <a:solidFill>
                  <a:srgbClr val="3333CC"/>
                </a:solidFill>
                <a:ea typeface="Times New Roman" panose="02020603050405020304" pitchFamily="18" charset="0"/>
                <a:cs typeface="David" panose="020E0502060401010101" pitchFamily="34" charset="-79"/>
              </a:rPr>
              <a:t>אבל מראה רצינות ושאנו בכיוון</a:t>
            </a:r>
          </a:p>
          <a:p>
            <a:pPr eaLnBrk="0" hangingPunct="0"/>
            <a:endParaRPr lang="he-IL" altLang="he-IL" sz="24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eaLnBrk="0" hangingPunct="0"/>
            <a:endParaRPr lang="he-IL" altLang="he-IL" sz="2400" dirty="0" bmk="">
              <a:solidFill>
                <a:srgbClr val="3333CC"/>
              </a:solidFill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he-IL" sz="1800" b="0" i="0" u="none" strike="noStrike" cap="none" normalizeH="0" baseline="0" dirty="0">
              <a:ln>
                <a:noFill/>
              </a:ln>
              <a:solidFill>
                <a:srgbClr val="3333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Left Arrow 6">
            <a:extLst>
              <a:ext uri="{FF2B5EF4-FFF2-40B4-BE49-F238E27FC236}">
                <a16:creationId xmlns:a16="http://schemas.microsoft.com/office/drawing/2014/main" id="{2CB86009-5E1D-4D79-9E58-56F910383DEB}"/>
              </a:ext>
            </a:extLst>
          </p:cNvPr>
          <p:cNvSpPr/>
          <p:nvPr/>
        </p:nvSpPr>
        <p:spPr>
          <a:xfrm>
            <a:off x="2008849" y="4730525"/>
            <a:ext cx="504056" cy="56530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EA829A-B7AF-86B2-EF0E-C65C6C5A2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7" y="3922411"/>
            <a:ext cx="191479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72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403648" y="983567"/>
            <a:ext cx="6000605" cy="1946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52352" rIns="1050594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8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מעבדת הכרת מכשור</a:t>
            </a:r>
          </a:p>
          <a:p>
            <a:pPr marL="91440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8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he-IL" altLang="he-IL" sz="2000" b="1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000" b="1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קבלת משוב ביניים מהמדריך ותכנון התקדמות להמשך</a:t>
            </a:r>
            <a:endParaRPr kumimoji="0" lang="he-IL" altLang="he-IL" sz="2400" b="0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he-IL" sz="1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Left Arrow 6">
            <a:extLst>
              <a:ext uri="{FF2B5EF4-FFF2-40B4-BE49-F238E27FC236}">
                <a16:creationId xmlns:a16="http://schemas.microsoft.com/office/drawing/2014/main" id="{BF3F0E39-B2CE-4281-B754-5A1E30842D60}"/>
              </a:ext>
            </a:extLst>
          </p:cNvPr>
          <p:cNvSpPr/>
          <p:nvPr/>
        </p:nvSpPr>
        <p:spPr>
          <a:xfrm>
            <a:off x="2699792" y="4798570"/>
            <a:ext cx="864096" cy="38579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11B08-E17B-9B05-DD88-C46F24039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365104"/>
            <a:ext cx="191479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612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403648" y="968178"/>
            <a:ext cx="6000605" cy="1977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52352" rIns="1050594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8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מעבדת מעגלי מיתוג</a:t>
            </a:r>
          </a:p>
          <a:p>
            <a:pPr marL="91440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8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000" b="1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מעבדה אחרונה לפני הצגת הפרויקט</a:t>
            </a:r>
          </a:p>
          <a:p>
            <a:pPr marL="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he-IL" sz="2000" b="1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000" b="1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קבלת משוב אחרון מהמדריך ותכנון סיום הפרויקט</a:t>
            </a:r>
            <a:endParaRPr kumimoji="0" lang="en-US" altLang="he-IL" sz="1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Left Arrow 6">
            <a:extLst>
              <a:ext uri="{FF2B5EF4-FFF2-40B4-BE49-F238E27FC236}">
                <a16:creationId xmlns:a16="http://schemas.microsoft.com/office/drawing/2014/main" id="{BF3F0E39-B2CE-4281-B754-5A1E30842D60}"/>
              </a:ext>
            </a:extLst>
          </p:cNvPr>
          <p:cNvSpPr/>
          <p:nvPr/>
        </p:nvSpPr>
        <p:spPr>
          <a:xfrm>
            <a:off x="1994280" y="5367835"/>
            <a:ext cx="681437" cy="42128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A294A-1192-225E-6FF6-FB55D2E3F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4005064"/>
            <a:ext cx="191479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990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27584" y="1062027"/>
            <a:ext cx="7968358" cy="563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52352" rIns="1050594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91440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8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הגשה </a:t>
            </a:r>
          </a:p>
          <a:p>
            <a:pPr marL="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עבודת הכנה:</a:t>
            </a:r>
            <a:r>
              <a:rPr kumimoji="0" lang="en-US" alt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endParaRPr kumimoji="0" lang="he-IL" altLang="he-IL" sz="20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342900" marR="0" lvl="2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סיום הדוח </a:t>
            </a:r>
          </a:p>
          <a:p>
            <a:pPr marL="342900" marR="0" lvl="2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כתיבת המצגת </a:t>
            </a:r>
          </a:p>
          <a:p>
            <a:pPr marL="342900" marR="0" lvl="2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והכי חשוב – סיום הפרויקט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he-IL" sz="2000" b="0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במעבדה</a:t>
            </a: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: </a:t>
            </a:r>
            <a:endParaRPr kumimoji="0" lang="en-US" altLang="he-IL" sz="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באים לשעתיים  (ראשונות או שניות יפורסם בהמשך)</a:t>
            </a:r>
            <a:r>
              <a:rPr kumimoji="0" lang="en-US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endParaRPr kumimoji="0" lang="he-IL" altLang="he-IL" sz="2000" b="0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הדגמה מהירה - דקה לכ-20 סטודנטים </a:t>
            </a: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הדגמה של 10 דקות לקבוצה (</a:t>
            </a:r>
            <a:r>
              <a:rPr kumimoji="0" lang="en-US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r>
              <a:rPr kumimoji="0" lang="he-IL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6 סטודנטים)  ובחינה מול שני מדריכים </a:t>
            </a:r>
          </a:p>
          <a:p>
            <a:pPr marL="800100" marR="0" lvl="1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הפעלה </a:t>
            </a:r>
          </a:p>
          <a:p>
            <a:pPr marL="800100" marR="0" lvl="1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תיאור חלקים עיקריים </a:t>
            </a:r>
          </a:p>
          <a:p>
            <a:pPr marL="800100" marR="0" lvl="1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Times New Roman" panose="02020603050405020304" pitchFamily="18" charset="0"/>
                <a:cs typeface="David" panose="020E0502060401010101" pitchFamily="34" charset="-79"/>
              </a:rPr>
              <a:t>לקחים ומסקנות </a:t>
            </a:r>
            <a:endParaRPr kumimoji="0" lang="he-IL" altLang="he-IL" sz="2400" b="0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2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he-IL" sz="2000" b="0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he-IL" sz="2400" b="0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he-IL" sz="2400" b="0" i="0" u="none" strike="noStrike" kern="1200" cap="none" spc="0" normalizeH="0" baseline="0" noProof="0" dirty="0" bmk="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he-IL" sz="1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2294232" y="2996952"/>
            <a:ext cx="504056" cy="56530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213DA-5E5A-EB8C-6156-6A10FB021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13" y="1247471"/>
            <a:ext cx="191479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51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he-IL" b="1" u="sng" dirty="0">
                <a:solidFill>
                  <a:srgbClr val="3333CC"/>
                </a:solidFill>
              </a:rPr>
            </a:br>
            <a:r>
              <a:rPr lang="he-IL" b="1" u="sng" dirty="0">
                <a:solidFill>
                  <a:srgbClr val="3333CC"/>
                </a:solidFill>
              </a:rPr>
              <a:t>מבנה הציון, בסיסי ומלא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667404"/>
            <a:ext cx="7416824" cy="3633804"/>
          </a:xfrm>
        </p:spPr>
        <p:txBody>
          <a:bodyPr anchor="t">
            <a:normAutofit fontScale="77500" lnSpcReduction="20000"/>
          </a:bodyPr>
          <a:lstStyle/>
          <a:p>
            <a:endParaRPr lang="he-IL" dirty="0"/>
          </a:p>
          <a:p>
            <a:r>
              <a:rPr lang="he-IL" dirty="0">
                <a:solidFill>
                  <a:schemeClr val="bg2">
                    <a:lumMod val="60000"/>
                    <a:lumOff val="40000"/>
                  </a:schemeClr>
                </a:solidFill>
              </a:rPr>
              <a:t>ציון 70 – שלב בפיתוח בו יש משחק אבל הוא מוגבל מאוד </a:t>
            </a:r>
          </a:p>
          <a:p>
            <a:r>
              <a:rPr lang="he-IL" dirty="0">
                <a:solidFill>
                  <a:schemeClr val="bg2">
                    <a:lumMod val="60000"/>
                    <a:lumOff val="40000"/>
                  </a:schemeClr>
                </a:solidFill>
              </a:rPr>
              <a:t>ציון 90 – פיתוח מלא של כל מפרט המשחק, </a:t>
            </a:r>
          </a:p>
          <a:p>
            <a:r>
              <a:rPr lang="he-IL" dirty="0">
                <a:solidFill>
                  <a:schemeClr val="bg2">
                    <a:lumMod val="60000"/>
                    <a:lumOff val="40000"/>
                  </a:schemeClr>
                </a:solidFill>
              </a:rPr>
              <a:t>ציון 100 – פיתוח מלא של כל מפרט המשחק +תוספת של יצירתיות ויוזמה</a:t>
            </a:r>
          </a:p>
          <a:p>
            <a:r>
              <a:rPr lang="he-IL" dirty="0"/>
              <a:t>אתם יכולים להוסיף לפרויקט חלק משלכם – תוספת למימוש, פונקציה נוספת וכולי-  מומלץ להתייעץ עם המדריך כדי לראות שהיקף העבודה הנדרש הינו סביר !</a:t>
            </a:r>
          </a:p>
          <a:p>
            <a:r>
              <a:rPr lang="he-IL" dirty="0"/>
              <a:t>מותר לעשות כל מה שתרצו כתוספת,  אין נכון ולא נכון</a:t>
            </a:r>
          </a:p>
          <a:p>
            <a:r>
              <a:rPr lang="he-IL" dirty="0"/>
              <a:t>כמובן שלקחת פרויקט משנה שעברה, או אפילו חלקי קוד משם אינו תוספת אלא .....</a:t>
            </a:r>
          </a:p>
          <a:p>
            <a:endParaRPr lang="he-IL" dirty="0"/>
          </a:p>
          <a:p>
            <a:endParaRPr lang="he-IL" dirty="0"/>
          </a:p>
          <a:p>
            <a:r>
              <a:rPr lang="he-IL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3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גיבוי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667404"/>
            <a:ext cx="7416824" cy="4137860"/>
          </a:xfrm>
        </p:spPr>
        <p:txBody>
          <a:bodyPr anchor="t">
            <a:normAutofit/>
          </a:bodyPr>
          <a:lstStyle/>
          <a:p>
            <a:r>
              <a:rPr lang="he-IL" dirty="0">
                <a:solidFill>
                  <a:schemeClr val="bg2"/>
                </a:solidFill>
              </a:rPr>
              <a:t>יעילות בעבודה זה גם לקמפל ב</a:t>
            </a:r>
            <a:r>
              <a:rPr lang="en-US" dirty="0">
                <a:solidFill>
                  <a:schemeClr val="bg2"/>
                </a:solidFill>
              </a:rPr>
              <a:t> DESKTOP </a:t>
            </a:r>
            <a:r>
              <a:rPr lang="he-IL" dirty="0">
                <a:solidFill>
                  <a:schemeClr val="bg2"/>
                </a:solidFill>
              </a:rPr>
              <a:t>ולא לעבוד דרך הרשת </a:t>
            </a:r>
          </a:p>
          <a:p>
            <a:r>
              <a:rPr lang="he-IL" dirty="0">
                <a:solidFill>
                  <a:schemeClr val="bg2"/>
                </a:solidFill>
              </a:rPr>
              <a:t>אבל לשמור בענן </a:t>
            </a:r>
          </a:p>
          <a:p>
            <a:r>
              <a:rPr lang="he-IL" dirty="0">
                <a:solidFill>
                  <a:schemeClr val="bg2"/>
                </a:solidFill>
              </a:rPr>
              <a:t>יעילות זה לשמור גיבוי כל יום</a:t>
            </a:r>
          </a:p>
          <a:p>
            <a:pPr lvl="1"/>
            <a:r>
              <a:rPr lang="he-IL" dirty="0">
                <a:solidFill>
                  <a:schemeClr val="bg2"/>
                </a:solidFill>
              </a:rPr>
              <a:t>כל סמסטר לפחות זוג אחד מאבד את הקוד</a:t>
            </a:r>
            <a:r>
              <a:rPr lang="en-US" dirty="0">
                <a:solidFill>
                  <a:schemeClr val="bg2"/>
                </a:solidFill>
              </a:rPr>
              <a:t> </a:t>
            </a:r>
            <a:endParaRPr lang="he-IL" dirty="0">
              <a:solidFill>
                <a:schemeClr val="bg2"/>
              </a:solidFill>
            </a:endParaRPr>
          </a:p>
          <a:p>
            <a:pPr lvl="1"/>
            <a:endParaRPr lang="he-IL" dirty="0">
              <a:solidFill>
                <a:schemeClr val="bg2"/>
              </a:solidFill>
            </a:endParaRPr>
          </a:p>
          <a:p>
            <a:r>
              <a:rPr lang="he-IL" dirty="0">
                <a:solidFill>
                  <a:schemeClr val="bg2"/>
                </a:solidFill>
              </a:rPr>
              <a:t>אם משהו </a:t>
            </a:r>
            <a:r>
              <a:rPr lang="he-IL" b="1" dirty="0">
                <a:solidFill>
                  <a:schemeClr val="bg2"/>
                </a:solidFill>
              </a:rPr>
              <a:t>עובד</a:t>
            </a:r>
            <a:r>
              <a:rPr lang="he-IL" dirty="0">
                <a:solidFill>
                  <a:schemeClr val="bg2"/>
                </a:solidFill>
              </a:rPr>
              <a:t> – מיד לעשות </a:t>
            </a:r>
            <a:r>
              <a:rPr lang="en-US" dirty="0">
                <a:solidFill>
                  <a:schemeClr val="bg2"/>
                </a:solidFill>
              </a:rPr>
              <a:t>ZIP   (QAR)</a:t>
            </a:r>
            <a:endParaRPr lang="he-IL" dirty="0">
              <a:solidFill>
                <a:schemeClr val="bg2"/>
              </a:solidFill>
            </a:endParaRPr>
          </a:p>
          <a:p>
            <a:pPr lvl="1"/>
            <a:r>
              <a:rPr lang="he-IL" dirty="0">
                <a:solidFill>
                  <a:schemeClr val="bg2"/>
                </a:solidFill>
              </a:rPr>
              <a:t>בהרבה מקרים אח"כ מקלקלים וצריך לחזור 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98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he-IL" b="1" u="sng" dirty="0">
                <a:solidFill>
                  <a:srgbClr val="3333CC"/>
                </a:solidFill>
              </a:rPr>
            </a:br>
            <a:r>
              <a:rPr lang="he-IL" b="1" u="sng" dirty="0">
                <a:solidFill>
                  <a:srgbClr val="3333CC"/>
                </a:solidFill>
              </a:rPr>
              <a:t>יעילות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667404"/>
            <a:ext cx="7416824" cy="4137860"/>
          </a:xfrm>
        </p:spPr>
        <p:txBody>
          <a:bodyPr anchor="t">
            <a:normAutofit/>
          </a:bodyPr>
          <a:lstStyle/>
          <a:p>
            <a:r>
              <a:rPr lang="he-IL" dirty="0"/>
              <a:t>יש לממש קוד יעיל, קצר וקריא </a:t>
            </a:r>
          </a:p>
          <a:p>
            <a:r>
              <a:rPr lang="he-IL" dirty="0" err="1"/>
              <a:t>להמנע</a:t>
            </a:r>
            <a:r>
              <a:rPr lang="he-IL" dirty="0"/>
              <a:t> מ </a:t>
            </a:r>
            <a:r>
              <a:rPr lang="en-US" dirty="0"/>
              <a:t>PASTE </a:t>
            </a:r>
            <a:r>
              <a:rPr lang="he-IL" dirty="0"/>
              <a:t> </a:t>
            </a:r>
            <a:r>
              <a:rPr lang="en-US" dirty="0"/>
              <a:t>CUT &amp;</a:t>
            </a:r>
            <a:r>
              <a:rPr lang="he-IL" dirty="0"/>
              <a:t>  - חשבו טוב לפני שתשכפלו קוד</a:t>
            </a:r>
          </a:p>
          <a:p>
            <a:r>
              <a:rPr lang="he-IL" dirty="0"/>
              <a:t>רצוי למחזר קוד ממעבדות קודמות </a:t>
            </a:r>
          </a:p>
          <a:p>
            <a:r>
              <a:rPr lang="he-IL" dirty="0"/>
              <a:t>להשתמש בטבלאות ומערכים במקום </a:t>
            </a:r>
            <a:r>
              <a:rPr lang="en-US" dirty="0"/>
              <a:t>CASE </a:t>
            </a:r>
            <a:endParaRPr lang="he-IL" dirty="0"/>
          </a:p>
          <a:p>
            <a:r>
              <a:rPr lang="he-IL" dirty="0"/>
              <a:t>לא לתחזק משתנים מיותרים</a:t>
            </a:r>
          </a:p>
          <a:p>
            <a:endParaRPr lang="he-IL" dirty="0"/>
          </a:p>
          <a:p>
            <a:endParaRPr lang="he-IL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51520" y="2564904"/>
            <a:ext cx="2854250" cy="3517379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1518" y="2564904"/>
            <a:ext cx="2854252" cy="3517379"/>
          </a:xfrm>
          <a:prstGeom prst="line">
            <a:avLst/>
          </a:prstGeom>
          <a:ln w="28575">
            <a:solidFill>
              <a:srgbClr val="FF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51520" y="2564904"/>
            <a:ext cx="2854252" cy="3489788"/>
          </a:xfrm>
          <a:prstGeom prst="line">
            <a:avLst/>
          </a:prstGeom>
          <a:ln w="28575">
            <a:solidFill>
              <a:srgbClr val="FF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929" y="4302805"/>
            <a:ext cx="3640472" cy="1529694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022392" y="3669002"/>
            <a:ext cx="3431545" cy="2797299"/>
          </a:xfrm>
          <a:prstGeom prst="line">
            <a:avLst/>
          </a:prstGeom>
          <a:ln w="28575">
            <a:solidFill>
              <a:srgbClr val="FF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4199156" y="3573016"/>
            <a:ext cx="3044329" cy="2904931"/>
          </a:xfrm>
          <a:prstGeom prst="line">
            <a:avLst/>
          </a:prstGeom>
          <a:ln w="28575">
            <a:solidFill>
              <a:srgbClr val="FF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79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יעילות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667404"/>
            <a:ext cx="7416824" cy="4137860"/>
          </a:xfrm>
        </p:spPr>
        <p:txBody>
          <a:bodyPr anchor="t">
            <a:normAutofit/>
          </a:bodyPr>
          <a:lstStyle/>
          <a:p>
            <a:r>
              <a:rPr lang="he-IL" dirty="0">
                <a:solidFill>
                  <a:schemeClr val="bg2"/>
                </a:solidFill>
              </a:rPr>
              <a:t>היזהרו מ</a:t>
            </a:r>
            <a:r>
              <a:rPr lang="en-US" dirty="0">
                <a:solidFill>
                  <a:schemeClr val="bg2"/>
                </a:solidFill>
              </a:rPr>
              <a:t>BITMAPS </a:t>
            </a:r>
            <a:r>
              <a:rPr lang="he-IL" dirty="0">
                <a:solidFill>
                  <a:schemeClr val="bg2"/>
                </a:solidFill>
              </a:rPr>
              <a:t> ענקיים </a:t>
            </a:r>
          </a:p>
          <a:p>
            <a:r>
              <a:rPr lang="he-IL" dirty="0">
                <a:solidFill>
                  <a:schemeClr val="bg2"/>
                </a:solidFill>
              </a:rPr>
              <a:t>לולאת </a:t>
            </a:r>
            <a:r>
              <a:rPr lang="en-US" dirty="0">
                <a:solidFill>
                  <a:schemeClr val="bg2"/>
                </a:solidFill>
              </a:rPr>
              <a:t>FOR </a:t>
            </a:r>
            <a:r>
              <a:rPr lang="he-IL" dirty="0">
                <a:solidFill>
                  <a:schemeClr val="bg2"/>
                </a:solidFill>
              </a:rPr>
              <a:t> היא תמימה , אבל מייצרת המון טרנזיסטורים </a:t>
            </a:r>
          </a:p>
          <a:p>
            <a:r>
              <a:rPr lang="he-IL" dirty="0">
                <a:solidFill>
                  <a:schemeClr val="bg2"/>
                </a:solidFill>
              </a:rPr>
              <a:t>אל תבזבזו זמן על הקלטות מוזיקה </a:t>
            </a:r>
          </a:p>
          <a:p>
            <a:r>
              <a:rPr lang="he-IL" dirty="0">
                <a:solidFill>
                  <a:schemeClr val="bg2"/>
                </a:solidFill>
              </a:rPr>
              <a:t>עבדו במודולים קטנים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25" y="3121834"/>
            <a:ext cx="4345523" cy="32591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225" y="3509144"/>
            <a:ext cx="3251882" cy="19259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8162" y="5322968"/>
            <a:ext cx="23762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באדיבות נעם ליבוביץ' </a:t>
            </a:r>
          </a:p>
        </p:txBody>
      </p:sp>
    </p:spTree>
    <p:extLst>
      <p:ext uri="{BB962C8B-B14F-4D97-AF65-F5344CB8AC3E}">
        <p14:creationId xmlns:p14="http://schemas.microsoft.com/office/powerpoint/2010/main" val="1497587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3333CC"/>
                </a:solidFill>
              </a:rPr>
              <a:t>CHEAT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388" y="1283516"/>
            <a:ext cx="7416824" cy="4017692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he-IL" sz="3300" dirty="0">
                <a:solidFill>
                  <a:schemeClr val="bg2"/>
                </a:solidFill>
              </a:rPr>
              <a:t>כדי להקל על פיתוח הפרויקט </a:t>
            </a:r>
          </a:p>
          <a:p>
            <a:r>
              <a:rPr lang="he-IL" dirty="0">
                <a:solidFill>
                  <a:schemeClr val="bg2"/>
                </a:solidFill>
              </a:rPr>
              <a:t>הגדירו לחצני או מפסקי  </a:t>
            </a:r>
            <a:r>
              <a:rPr lang="en-US" dirty="0">
                <a:solidFill>
                  <a:schemeClr val="bg2"/>
                </a:solidFill>
              </a:rPr>
              <a:t>CHEAT</a:t>
            </a:r>
            <a:r>
              <a:rPr lang="he-IL" dirty="0">
                <a:solidFill>
                  <a:schemeClr val="bg2"/>
                </a:solidFill>
              </a:rPr>
              <a:t>, </a:t>
            </a:r>
          </a:p>
          <a:p>
            <a:pPr lvl="1"/>
            <a:r>
              <a:rPr lang="he-IL" dirty="0">
                <a:solidFill>
                  <a:schemeClr val="bg2"/>
                </a:solidFill>
              </a:rPr>
              <a:t>כך תוכלו לדלג בין שלבים ולהגיע לקטעים מעניינים </a:t>
            </a:r>
          </a:p>
          <a:p>
            <a:pPr lvl="1"/>
            <a:endParaRPr lang="he-IL" dirty="0">
              <a:solidFill>
                <a:schemeClr val="bg2"/>
              </a:solidFill>
            </a:endParaRPr>
          </a:p>
          <a:p>
            <a:r>
              <a:rPr lang="he-IL" dirty="0">
                <a:solidFill>
                  <a:schemeClr val="bg2"/>
                </a:solidFill>
              </a:rPr>
              <a:t>הגדירו מפסק שמונע להיכשל </a:t>
            </a:r>
            <a:r>
              <a:rPr lang="he-IL">
                <a:solidFill>
                  <a:schemeClr val="bg2"/>
                </a:solidFill>
              </a:rPr>
              <a:t>במשחק,</a:t>
            </a:r>
            <a:endParaRPr lang="he-IL" dirty="0">
              <a:solidFill>
                <a:schemeClr val="bg2"/>
              </a:solidFill>
            </a:endParaRPr>
          </a:p>
          <a:p>
            <a:pPr lvl="1"/>
            <a:r>
              <a:rPr lang="he-IL" dirty="0">
                <a:solidFill>
                  <a:schemeClr val="bg2"/>
                </a:solidFill>
              </a:rPr>
              <a:t>כך תוכלו לדבג בקלות התקדמות במשחק לשלבים מתקדמים </a:t>
            </a:r>
            <a:endParaRPr lang="en-US" dirty="0">
              <a:solidFill>
                <a:schemeClr val="bg2"/>
              </a:solidFill>
            </a:endParaRPr>
          </a:p>
          <a:p>
            <a:pPr marL="914400" lvl="2" indent="0">
              <a:buNone/>
            </a:pPr>
            <a:r>
              <a:rPr lang="he-IL" dirty="0">
                <a:solidFill>
                  <a:schemeClr val="bg2"/>
                </a:solidFill>
              </a:rPr>
              <a:t>(לפני שתהיו ספציפיים)</a:t>
            </a:r>
            <a:r>
              <a:rPr lang="en-US" dirty="0">
                <a:solidFill>
                  <a:schemeClr val="bg2"/>
                </a:solidFill>
              </a:rPr>
              <a:t> </a:t>
            </a:r>
            <a:endParaRPr lang="he-IL" dirty="0">
              <a:solidFill>
                <a:schemeClr val="bg2"/>
              </a:solidFill>
            </a:endParaRPr>
          </a:p>
          <a:p>
            <a:r>
              <a:rPr lang="he-IL" dirty="0">
                <a:solidFill>
                  <a:schemeClr val="bg2"/>
                </a:solidFill>
              </a:rPr>
              <a:t>הגדירו מפסק </a:t>
            </a:r>
            <a:r>
              <a:rPr lang="en-US" dirty="0">
                <a:solidFill>
                  <a:schemeClr val="bg2"/>
                </a:solidFill>
              </a:rPr>
              <a:t>TURBO</a:t>
            </a:r>
            <a:r>
              <a:rPr lang="he-IL" dirty="0">
                <a:solidFill>
                  <a:schemeClr val="bg2"/>
                </a:solidFill>
              </a:rPr>
              <a:t>,  שירוץ מהר </a:t>
            </a:r>
          </a:p>
          <a:p>
            <a:pPr lvl="1"/>
            <a:r>
              <a:rPr lang="he-IL" dirty="0">
                <a:solidFill>
                  <a:schemeClr val="bg2"/>
                </a:solidFill>
              </a:rPr>
              <a:t>כך תוכלו לדבג בקלות התקדמות במשחק לשלבים מתקדמים </a:t>
            </a:r>
            <a:endParaRPr lang="en-US" dirty="0">
              <a:solidFill>
                <a:schemeClr val="bg2"/>
              </a:solidFill>
            </a:endParaRPr>
          </a:p>
          <a:p>
            <a:pPr marL="914400" lvl="2" indent="0">
              <a:buNone/>
            </a:pPr>
            <a:r>
              <a:rPr lang="en-US" dirty="0">
                <a:solidFill>
                  <a:schemeClr val="bg2"/>
                </a:solidFill>
              </a:rPr>
              <a:t>)</a:t>
            </a:r>
            <a:r>
              <a:rPr lang="he-IL" dirty="0">
                <a:solidFill>
                  <a:schemeClr val="bg2"/>
                </a:solidFill>
              </a:rPr>
              <a:t>בלי לחכות שעות ששלב יגמר)</a:t>
            </a:r>
            <a:r>
              <a:rPr lang="en-US" dirty="0">
                <a:solidFill>
                  <a:schemeClr val="bg2"/>
                </a:solidFill>
              </a:rPr>
              <a:t> </a:t>
            </a:r>
            <a:endParaRPr lang="he-IL" dirty="0">
              <a:solidFill>
                <a:schemeClr val="bg2"/>
              </a:solidFill>
            </a:endParaRPr>
          </a:p>
          <a:p>
            <a:pPr marL="914400" lvl="2" indent="0">
              <a:buNone/>
            </a:pPr>
            <a:endParaRPr lang="he-IL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11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3333CC"/>
                </a:solidFill>
              </a:rPr>
              <a:t>SIGNAL_TAP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388" y="1283516"/>
            <a:ext cx="7416824" cy="2793556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he-IL" sz="3300" dirty="0">
                <a:solidFill>
                  <a:schemeClr val="bg2"/>
                </a:solidFill>
              </a:rPr>
              <a:t>תלמדו אותו במעבדת </a:t>
            </a:r>
            <a:r>
              <a:rPr lang="en-US" sz="3300" dirty="0">
                <a:solidFill>
                  <a:schemeClr val="bg2"/>
                </a:solidFill>
              </a:rPr>
              <a:t>VGA </a:t>
            </a:r>
            <a:r>
              <a:rPr lang="he-IL" sz="3300" dirty="0">
                <a:solidFill>
                  <a:schemeClr val="bg2"/>
                </a:solidFill>
              </a:rPr>
              <a:t> ושוב </a:t>
            </a:r>
            <a:r>
              <a:rPr lang="en-US" sz="3300" dirty="0">
                <a:solidFill>
                  <a:schemeClr val="bg2"/>
                </a:solidFill>
              </a:rPr>
              <a:t>DEBUG </a:t>
            </a:r>
            <a:endParaRPr lang="he-IL" sz="3300" dirty="0">
              <a:solidFill>
                <a:schemeClr val="bg2"/>
              </a:solidFill>
            </a:endParaRPr>
          </a:p>
          <a:p>
            <a:r>
              <a:rPr lang="he-IL" dirty="0">
                <a:solidFill>
                  <a:schemeClr val="bg2"/>
                </a:solidFill>
              </a:rPr>
              <a:t>נכון הכלי מסובך</a:t>
            </a:r>
          </a:p>
          <a:p>
            <a:r>
              <a:rPr lang="he-IL" dirty="0">
                <a:solidFill>
                  <a:schemeClr val="bg2"/>
                </a:solidFill>
              </a:rPr>
              <a:t>אבל בלעדיו קשה מאוד לעבוד ולמצוא תקלות </a:t>
            </a:r>
          </a:p>
          <a:p>
            <a:pPr lvl="1"/>
            <a:r>
              <a:rPr lang="he-IL" dirty="0">
                <a:solidFill>
                  <a:schemeClr val="bg2"/>
                </a:solidFill>
              </a:rPr>
              <a:t>וחוץ מזה- אנו מורידים ציון למי שלא השתמש  </a:t>
            </a:r>
          </a:p>
          <a:p>
            <a:pPr lvl="1"/>
            <a:endParaRPr lang="he-IL" dirty="0">
              <a:solidFill>
                <a:schemeClr val="bg2"/>
              </a:solidFill>
            </a:endParaRPr>
          </a:p>
          <a:p>
            <a:r>
              <a:rPr lang="he-IL" dirty="0">
                <a:solidFill>
                  <a:schemeClr val="bg2"/>
                </a:solidFill>
              </a:rPr>
              <a:t>אנא הקשיבו לעצות של חבריכם מסמסטרים שעברו </a:t>
            </a:r>
          </a:p>
          <a:p>
            <a:pPr lvl="1"/>
            <a:endParaRPr lang="he-IL" dirty="0">
              <a:solidFill>
                <a:schemeClr val="bg2"/>
              </a:solidFill>
            </a:endParaRPr>
          </a:p>
          <a:p>
            <a:pPr marL="914400" lvl="2" indent="0">
              <a:buNone/>
            </a:pPr>
            <a:endParaRPr lang="he-IL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45" y="3915496"/>
            <a:ext cx="3597851" cy="18245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239" y="3900671"/>
            <a:ext cx="3818973" cy="181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13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3333CC"/>
                </a:solidFill>
              </a:rPr>
              <a:t>SIGNAL_TAP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304" y="1435822"/>
            <a:ext cx="7442029" cy="423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61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9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0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19448</TotalTime>
  <Words>814</Words>
  <Application>Microsoft Office PowerPoint</Application>
  <PresentationFormat>On-screen Show (4:3)</PresentationFormat>
  <Paragraphs>178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Calibri Light</vt:lpstr>
      <vt:lpstr>Century Gothic</vt:lpstr>
      <vt:lpstr>Tahoma</vt:lpstr>
      <vt:lpstr>Times New Roman</vt:lpstr>
      <vt:lpstr>Wingdings</vt:lpstr>
      <vt:lpstr>Wingdings 3</vt:lpstr>
      <vt:lpstr>Slice</vt:lpstr>
      <vt:lpstr>Custom Design</vt:lpstr>
      <vt:lpstr>1_Slice</vt:lpstr>
      <vt:lpstr>פרויקט – הדרכה כללית - מנהלות   </vt:lpstr>
      <vt:lpstr>הנחיות לפרויקט סיום חורף/אביב/קיץ XX20</vt:lpstr>
      <vt:lpstr>שעות קבלה לפרויקט </vt:lpstr>
      <vt:lpstr>PowerPoint Presentation</vt:lpstr>
      <vt:lpstr>שעות פעילות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מבנה הציון, בסיסי ומלא</vt:lpstr>
      <vt:lpstr>גיבוי</vt:lpstr>
      <vt:lpstr> יעילות </vt:lpstr>
      <vt:lpstr>יעילות </vt:lpstr>
      <vt:lpstr>CHEAT</vt:lpstr>
      <vt:lpstr>SIGNAL_TAP</vt:lpstr>
      <vt:lpstr>SIGNAL_TAP</vt:lpstr>
    </vt:vector>
  </TitlesOfParts>
  <Company>Technion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Pavel</dc:creator>
  <cp:lastModifiedBy>Eyal Lev</cp:lastModifiedBy>
  <cp:revision>639</cp:revision>
  <dcterms:created xsi:type="dcterms:W3CDTF">2003-02-13T09:55:52Z</dcterms:created>
  <dcterms:modified xsi:type="dcterms:W3CDTF">2025-11-26T10:42:35Z</dcterms:modified>
</cp:coreProperties>
</file>