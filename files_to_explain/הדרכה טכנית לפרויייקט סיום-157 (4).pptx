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comments/comment2.xml" ContentType="application/vnd.openxmlformats-officedocument.presentationml.comments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6">
  <p:sldMasterIdLst>
    <p:sldMasterId id="2147483674" r:id="rId1"/>
    <p:sldMasterId id="2147483695" r:id="rId2"/>
  </p:sldMasterIdLst>
  <p:notesMasterIdLst>
    <p:notesMasterId r:id="rId42"/>
  </p:notesMasterIdLst>
  <p:handoutMasterIdLst>
    <p:handoutMasterId r:id="rId43"/>
  </p:handoutMasterIdLst>
  <p:sldIdLst>
    <p:sldId id="348" r:id="rId3"/>
    <p:sldId id="589" r:id="rId4"/>
    <p:sldId id="588" r:id="rId5"/>
    <p:sldId id="404" r:id="rId6"/>
    <p:sldId id="538" r:id="rId7"/>
    <p:sldId id="599" r:id="rId8"/>
    <p:sldId id="479" r:id="rId9"/>
    <p:sldId id="464" r:id="rId10"/>
    <p:sldId id="419" r:id="rId11"/>
    <p:sldId id="574" r:id="rId12"/>
    <p:sldId id="575" r:id="rId13"/>
    <p:sldId id="451" r:id="rId14"/>
    <p:sldId id="460" r:id="rId15"/>
    <p:sldId id="580" r:id="rId16"/>
    <p:sldId id="473" r:id="rId17"/>
    <p:sldId id="425" r:id="rId18"/>
    <p:sldId id="500" r:id="rId19"/>
    <p:sldId id="475" r:id="rId20"/>
    <p:sldId id="556" r:id="rId21"/>
    <p:sldId id="595" r:id="rId22"/>
    <p:sldId id="577" r:id="rId23"/>
    <p:sldId id="477" r:id="rId24"/>
    <p:sldId id="502" r:id="rId25"/>
    <p:sldId id="600" r:id="rId26"/>
    <p:sldId id="471" r:id="rId27"/>
    <p:sldId id="596" r:id="rId28"/>
    <p:sldId id="597" r:id="rId29"/>
    <p:sldId id="598" r:id="rId30"/>
    <p:sldId id="465" r:id="rId31"/>
    <p:sldId id="601" r:id="rId32"/>
    <p:sldId id="468" r:id="rId33"/>
    <p:sldId id="501" r:id="rId34"/>
    <p:sldId id="578" r:id="rId35"/>
    <p:sldId id="579" r:id="rId36"/>
    <p:sldId id="603" r:id="rId37"/>
    <p:sldId id="581" r:id="rId38"/>
    <p:sldId id="582" r:id="rId39"/>
    <p:sldId id="583" r:id="rId40"/>
    <p:sldId id="602" r:id="rId41"/>
  </p:sldIdLst>
  <p:sldSz cx="9144000" cy="6858000" type="screen4x3"/>
  <p:notesSz cx="6797675" cy="9928225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ar-On" initials="DB" lastIdx="6" clrIdx="0">
    <p:extLst>
      <p:ext uri="{19B8F6BF-5375-455C-9EA6-DF929625EA0E}">
        <p15:presenceInfo xmlns:p15="http://schemas.microsoft.com/office/powerpoint/2012/main" userId="S-1-5-21-875234899-1626871297-367356602-11803" providerId="AD"/>
      </p:ext>
    </p:extLst>
  </p:cmAuthor>
  <p:cmAuthor id="2" name="Avraham Kaplan" initials="AK" lastIdx="14" clrIdx="1">
    <p:extLst>
      <p:ext uri="{19B8F6BF-5375-455C-9EA6-DF929625EA0E}">
        <p15:presenceInfo xmlns:p15="http://schemas.microsoft.com/office/powerpoint/2012/main" userId="S-1-5-21-875234899-1626871297-367356602-10813" providerId="AD"/>
      </p:ext>
    </p:extLst>
  </p:cmAuthor>
  <p:cmAuthor id="3" name="David Bar-On" initials="DB [2]" lastIdx="2" clrIdx="2">
    <p:extLst>
      <p:ext uri="{19B8F6BF-5375-455C-9EA6-DF929625EA0E}">
        <p15:presenceInfo xmlns:p15="http://schemas.microsoft.com/office/powerpoint/2012/main" userId="David Bar-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00"/>
    <a:srgbClr val="990033"/>
    <a:srgbClr val="052F61"/>
    <a:srgbClr val="FF00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47" autoAdjust="0"/>
    <p:restoredTop sz="94591" autoAdjust="0"/>
  </p:normalViewPr>
  <p:slideViewPr>
    <p:cSldViewPr>
      <p:cViewPr varScale="1">
        <p:scale>
          <a:sx n="108" d="100"/>
          <a:sy n="108" d="100"/>
        </p:scale>
        <p:origin x="186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18-11-07T09:10:58.648" idx="1">
    <p:pos x="575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03T09:40:10.389" idx="6">
    <p:pos x="5750" y="10"/>
    <p:text>לעשות שקופית כללית של יצירת רקע בזול</p:text>
    <p:extLst>
      <p:ext uri="{C676402C-5697-4E1C-873F-D02D1690AC5C}">
        <p15:threadingInfo xmlns:p15="http://schemas.microsoft.com/office/powerpoint/2012/main" timeZoneBias="-1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335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92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l">
              <a:defRPr sz="1200"/>
            </a:lvl1pPr>
          </a:lstStyle>
          <a:p>
            <a:fld id="{E9D2CE53-F455-4756-AE73-B4032F69F7EB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52335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92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l">
              <a:defRPr sz="1200"/>
            </a:lvl1pPr>
          </a:lstStyle>
          <a:p>
            <a:fld id="{BAB39A2C-75B5-4C56-B253-BDB8A27850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029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2335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92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715629"/>
            <a:ext cx="5438776" cy="446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52335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92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B0EA2CB-9693-432C-B07B-7C2E2F27AE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64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3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68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41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31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2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789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6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3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111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54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385357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8594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50376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4062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4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0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4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8192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649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459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660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34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7505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462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845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2069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96700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3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15 אוגוסט 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41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4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00B5C-68E1-45F9-A721-E2913B6DA463}" type="datetimeFigureOut">
              <a:rPr lang="he-IL" smtClean="0"/>
              <a:t>כ"ח/אב/תשפ"ג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98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comments" Target="../comments/commen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w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29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7.png"/><Relationship Id="rId4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Relationship Id="rId5" Type="http://schemas.openxmlformats.org/officeDocument/2006/relationships/image" Target="../media/image32.wmf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comments" Target="../comments/comment2.xml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52323"/>
              </p:ext>
            </p:extLst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3568" y="2885448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7668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הערות כלליות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31085"/>
            <a:ext cx="8568952" cy="4835627"/>
          </a:xfrm>
        </p:spPr>
        <p:txBody>
          <a:bodyPr>
            <a:normAutofit fontScale="77500" lnSpcReduction="20000"/>
          </a:bodyPr>
          <a:lstStyle/>
          <a:p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שקט במעבדה - </a:t>
            </a:r>
            <a:r>
              <a:rPr lang="he-IL" dirty="0"/>
              <a:t>יש לדבג </a:t>
            </a:r>
            <a:r>
              <a:rPr lang="he-IL" b="1" dirty="0"/>
              <a:t> רוב הזמן </a:t>
            </a:r>
            <a:r>
              <a:rPr lang="he-IL" dirty="0"/>
              <a:t> בלי רמקול – השתמשו באוזניות</a:t>
            </a:r>
          </a:p>
          <a:p>
            <a:r>
              <a:rPr lang="he-IL" dirty="0"/>
              <a:t>עבדו ביעילות –</a:t>
            </a:r>
          </a:p>
          <a:p>
            <a:pPr lvl="1"/>
            <a:r>
              <a:rPr lang="he-IL" dirty="0"/>
              <a:t>יש לבחור את סוג הקומפילציה (אנליזה, סינתזה, מלאה) בהתאם לשלב בו מבצעים קומפילציה, על מנת לחסוך בזמן.</a:t>
            </a:r>
          </a:p>
          <a:p>
            <a:pPr lvl="1"/>
            <a:r>
              <a:rPr lang="he-IL" dirty="0"/>
              <a:t>תכננו את עבודתכם, השתמשו בנייר ועפרון, אל תתחילו לכתוב קוד</a:t>
            </a:r>
          </a:p>
          <a:p>
            <a:pPr lvl="1"/>
            <a:r>
              <a:rPr lang="he-IL" dirty="0"/>
              <a:t>התקדמו בשלבים, כל שלב לדבג </a:t>
            </a:r>
            <a:r>
              <a:rPr lang="he-IL" dirty="0" err="1"/>
              <a:t>ולסמלט</a:t>
            </a:r>
            <a:r>
              <a:rPr lang="he-IL" dirty="0"/>
              <a:t>,  לא לקפוץ מהר לסוף </a:t>
            </a:r>
          </a:p>
          <a:p>
            <a:r>
              <a:rPr lang="he-IL" dirty="0"/>
              <a:t>יש </a:t>
            </a:r>
            <a:r>
              <a:rPr lang="he-IL" dirty="0" err="1"/>
              <a:t>לסמלט</a:t>
            </a:r>
            <a:r>
              <a:rPr lang="he-IL" dirty="0"/>
              <a:t>  במידת האפשר בבית ולבוא למעבדה רק כדי להריץ ולדבג</a:t>
            </a:r>
          </a:p>
          <a:p>
            <a:r>
              <a:rPr lang="he-IL" dirty="0"/>
              <a:t>כל זוג יקבל כרטיס </a:t>
            </a:r>
            <a:r>
              <a:rPr lang="en-US" dirty="0"/>
              <a:t>FPGA</a:t>
            </a:r>
            <a:r>
              <a:rPr lang="he-IL" dirty="0"/>
              <a:t>, אנא השתמשו בהם בבית ומנעו עומס במעבדה</a:t>
            </a:r>
          </a:p>
          <a:p>
            <a:pPr lvl="1"/>
            <a:r>
              <a:rPr lang="he-IL" dirty="0"/>
              <a:t>(וכמובן שמרו עליהם למען הדורות הבאים)</a:t>
            </a:r>
            <a:r>
              <a:rPr lang="en-US" dirty="0"/>
              <a:t> </a:t>
            </a:r>
            <a:r>
              <a:rPr lang="he-IL" dirty="0"/>
              <a:t> </a:t>
            </a:r>
          </a:p>
          <a:p>
            <a:r>
              <a:rPr lang="he-IL" dirty="0"/>
              <a:t>הדוחות אינם לצאת ידי חובה !!!!</a:t>
            </a:r>
          </a:p>
          <a:p>
            <a:pPr lvl="1"/>
            <a:r>
              <a:rPr lang="he-IL" dirty="0"/>
              <a:t>השתמשו ב</a:t>
            </a:r>
            <a:r>
              <a:rPr lang="en-US" dirty="0"/>
              <a:t> SIGNAL TAP </a:t>
            </a:r>
            <a:r>
              <a:rPr lang="he-IL" dirty="0" err="1"/>
              <a:t>ובסימולוציה</a:t>
            </a:r>
            <a:r>
              <a:rPr lang="he-IL" dirty="0"/>
              <a:t>, - ולא רק כדי למלא בדו"ח</a:t>
            </a:r>
          </a:p>
          <a:p>
            <a:pPr lvl="1"/>
            <a:r>
              <a:rPr lang="he-IL" dirty="0"/>
              <a:t>התחילו למלא את הדוח </a:t>
            </a:r>
            <a:r>
              <a:rPr lang="he-IL" sz="2400" b="1" dirty="0">
                <a:solidFill>
                  <a:srgbClr val="FF0000"/>
                </a:solidFill>
              </a:rPr>
              <a:t>מיד</a:t>
            </a:r>
            <a:r>
              <a:rPr lang="he-IL" sz="2400" dirty="0">
                <a:solidFill>
                  <a:srgbClr val="FF0000"/>
                </a:solidFill>
              </a:rPr>
              <a:t> </a:t>
            </a:r>
            <a:r>
              <a:rPr lang="he-IL" dirty="0"/>
              <a:t>עם תחילת העבודה על </a:t>
            </a:r>
            <a:r>
              <a:rPr lang="he-IL" dirty="0" err="1"/>
              <a:t>הפרוייקט</a:t>
            </a:r>
            <a:endParaRPr lang="he-IL" dirty="0"/>
          </a:p>
          <a:p>
            <a:r>
              <a:rPr lang="he-IL" dirty="0"/>
              <a:t>שמות קבצים וספריות – רק באנגלית וללא רווחים או - </a:t>
            </a:r>
          </a:p>
          <a:p>
            <a:r>
              <a:rPr lang="he-IL" dirty="0"/>
              <a:t>עבודה ב</a:t>
            </a:r>
            <a:r>
              <a:rPr lang="en-US" dirty="0"/>
              <a:t>DESKTOP </a:t>
            </a:r>
            <a:r>
              <a:rPr lang="he-IL" dirty="0"/>
              <a:t> למהירות </a:t>
            </a:r>
          </a:p>
          <a:p>
            <a:r>
              <a:rPr lang="he-IL" dirty="0"/>
              <a:t>לא לשכוח גיבוי</a:t>
            </a:r>
            <a:r>
              <a:rPr lang="en-US" dirty="0"/>
              <a:t> </a:t>
            </a:r>
            <a:r>
              <a:rPr lang="he-IL" dirty="0"/>
              <a:t> - בכל סמסטר למישהו נמחקים הקבצים </a:t>
            </a:r>
          </a:p>
          <a:p>
            <a:r>
              <a:rPr lang="he-IL" dirty="0"/>
              <a:t>לא לשכוח לישון,  עבודה של 24 שעות רצופות אינה יעילה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90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solidFill>
                  <a:srgbClr val="0066FF"/>
                </a:solidFill>
              </a:rPr>
              <a:t>רמות ציון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568952" cy="3888432"/>
          </a:xfrm>
        </p:spPr>
        <p:txBody>
          <a:bodyPr>
            <a:normAutofit/>
          </a:bodyPr>
          <a:lstStyle/>
          <a:p>
            <a:r>
              <a:rPr lang="he-IL" dirty="0">
                <a:solidFill>
                  <a:srgbClr val="0066FF"/>
                </a:solidFill>
              </a:rPr>
              <a:t>ציון 70 – שלב בפיתוח בו יש משחק אבל הוא מוגבל מאוד </a:t>
            </a:r>
          </a:p>
          <a:p>
            <a:r>
              <a:rPr lang="he-IL" dirty="0">
                <a:solidFill>
                  <a:srgbClr val="0066FF"/>
                </a:solidFill>
              </a:rPr>
              <a:t>ציון 100 – פיתוח מלא של כל מפרט המשחק.</a:t>
            </a:r>
          </a:p>
          <a:p>
            <a:pPr marL="0" indent="0">
              <a:buNone/>
            </a:pPr>
            <a:endParaRPr lang="he-IL" dirty="0">
              <a:solidFill>
                <a:srgbClr val="0066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>
                <a:solidFill>
                  <a:srgbClr val="0066FF"/>
                </a:solidFill>
              </a:rPr>
              <a:pPr>
                <a:defRPr/>
              </a:pPr>
              <a:t>3</a:t>
            </a:fld>
            <a:endParaRPr lang="en-US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148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0450" y="476672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rgbClr val="3333CC"/>
                </a:solidFill>
              </a:rPr>
              <a:t>מה מכיל פרויקט </a:t>
            </a:r>
            <a:endParaRPr lang="en-US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Down Arrow 5"/>
          <p:cNvSpPr/>
          <p:nvPr/>
        </p:nvSpPr>
        <p:spPr>
          <a:xfrm rot="5400000" flipV="1">
            <a:off x="6932062" y="2177649"/>
            <a:ext cx="433973" cy="124763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6062713" y="2436797"/>
            <a:ext cx="861317" cy="684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D2A</a:t>
            </a:r>
            <a:endParaRPr lang="he-IL" dirty="0"/>
          </a:p>
        </p:txBody>
      </p:sp>
      <p:sp>
        <p:nvSpPr>
          <p:cNvPr id="9" name="Rectangle 8"/>
          <p:cNvSpPr/>
          <p:nvPr/>
        </p:nvSpPr>
        <p:spPr>
          <a:xfrm>
            <a:off x="4460757" y="2460484"/>
            <a:ext cx="861317" cy="6849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Sin</a:t>
            </a:r>
            <a:endParaRPr lang="he-IL" dirty="0"/>
          </a:p>
        </p:txBody>
      </p:sp>
      <p:sp>
        <p:nvSpPr>
          <p:cNvPr id="10" name="Down Arrow 9"/>
          <p:cNvSpPr/>
          <p:nvPr/>
        </p:nvSpPr>
        <p:spPr>
          <a:xfrm rot="5400000" flipV="1">
            <a:off x="5401952" y="2363364"/>
            <a:ext cx="433973" cy="87620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/>
          <p:cNvSpPr/>
          <p:nvPr/>
        </p:nvSpPr>
        <p:spPr>
          <a:xfrm>
            <a:off x="2742050" y="2269389"/>
            <a:ext cx="1397902" cy="28191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err="1"/>
              <a:t>קןד</a:t>
            </a:r>
            <a:r>
              <a:rPr lang="he-IL" dirty="0"/>
              <a:t> שלכם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390" y="3462727"/>
            <a:ext cx="1080120" cy="653061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KBD</a:t>
            </a:r>
            <a:endParaRPr lang="he-IL" dirty="0"/>
          </a:p>
        </p:txBody>
      </p:sp>
      <p:sp>
        <p:nvSpPr>
          <p:cNvPr id="15" name="Rectangle 14"/>
          <p:cNvSpPr/>
          <p:nvPr/>
        </p:nvSpPr>
        <p:spPr>
          <a:xfrm>
            <a:off x="4457082" y="2495653"/>
            <a:ext cx="861317" cy="6849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Sin</a:t>
            </a:r>
            <a:endParaRPr lang="he-IL" dirty="0"/>
          </a:p>
        </p:txBody>
      </p:sp>
      <p:sp>
        <p:nvSpPr>
          <p:cNvPr id="20" name="Rectangle 19"/>
          <p:cNvSpPr/>
          <p:nvPr/>
        </p:nvSpPr>
        <p:spPr>
          <a:xfrm>
            <a:off x="5809349" y="3993918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ציורים</a:t>
            </a:r>
          </a:p>
          <a:p>
            <a:pPr algn="ctr"/>
            <a:endParaRPr lang="he-IL" dirty="0"/>
          </a:p>
        </p:txBody>
      </p:sp>
      <p:sp>
        <p:nvSpPr>
          <p:cNvPr id="21" name="Down Arrow 20"/>
          <p:cNvSpPr/>
          <p:nvPr/>
        </p:nvSpPr>
        <p:spPr>
          <a:xfrm rot="5400000" flipV="1">
            <a:off x="6865615" y="3956422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Rectangle 22"/>
          <p:cNvSpPr/>
          <p:nvPr/>
        </p:nvSpPr>
        <p:spPr>
          <a:xfrm>
            <a:off x="7471577" y="4146689"/>
            <a:ext cx="696538" cy="34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VGA</a:t>
            </a:r>
            <a:endParaRPr lang="he-IL" dirty="0"/>
          </a:p>
        </p:txBody>
      </p:sp>
      <p:sp>
        <p:nvSpPr>
          <p:cNvPr id="26" name="Rectangle 25"/>
          <p:cNvSpPr/>
          <p:nvPr/>
        </p:nvSpPr>
        <p:spPr>
          <a:xfrm>
            <a:off x="7668344" y="2348880"/>
            <a:ext cx="962989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רמקול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39952" y="2636912"/>
            <a:ext cx="317130" cy="38154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Right Arrow 27"/>
          <p:cNvSpPr/>
          <p:nvPr/>
        </p:nvSpPr>
        <p:spPr>
          <a:xfrm>
            <a:off x="4139952" y="4148040"/>
            <a:ext cx="1669397" cy="38154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Right Arrow 28"/>
          <p:cNvSpPr/>
          <p:nvPr/>
        </p:nvSpPr>
        <p:spPr>
          <a:xfrm>
            <a:off x="1980510" y="3609207"/>
            <a:ext cx="761540" cy="38154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425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31640" y="72201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rgbClr val="3333CC"/>
                </a:solidFill>
              </a:rPr>
              <a:t>מה מכיל פרויקט </a:t>
            </a:r>
            <a:endParaRPr lang="en-US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900390" y="965488"/>
            <a:ext cx="6679292" cy="5275020"/>
            <a:chOff x="900390" y="965488"/>
            <a:chExt cx="6679292" cy="5275020"/>
          </a:xfrm>
        </p:grpSpPr>
        <p:sp>
          <p:nvSpPr>
            <p:cNvPr id="6" name="Down Arrow 5"/>
            <p:cNvSpPr/>
            <p:nvPr/>
          </p:nvSpPr>
          <p:spPr>
            <a:xfrm rot="5400000" flipV="1">
              <a:off x="5448906" y="1351207"/>
              <a:ext cx="433973" cy="74431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449043" y="1389857"/>
              <a:ext cx="861317" cy="6849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צלילים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08378" y="965488"/>
              <a:ext cx="1397902" cy="1039606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t"/>
            <a:lstStyle/>
            <a:p>
              <a:pPr algn="ctr"/>
              <a:r>
                <a:rPr lang="he-IL" dirty="0"/>
                <a:t>מנהל משחק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00390" y="3462727"/>
              <a:ext cx="1080120" cy="65306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KBD</a:t>
              </a:r>
              <a:endParaRPr lang="he-IL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20916" y="3604570"/>
              <a:ext cx="864096" cy="256002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MUX</a:t>
              </a:r>
              <a:endParaRPr lang="he-IL" dirty="0"/>
            </a:p>
            <a:p>
              <a:pPr algn="ctr"/>
              <a:endParaRPr lang="he-IL" dirty="0"/>
            </a:p>
          </p:txBody>
        </p:sp>
        <p:sp>
          <p:nvSpPr>
            <p:cNvPr id="21" name="Down Arrow 20"/>
            <p:cNvSpPr/>
            <p:nvPr/>
          </p:nvSpPr>
          <p:spPr>
            <a:xfrm rot="5400000" flipV="1">
              <a:off x="6277182" y="4542540"/>
              <a:ext cx="413792" cy="73252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883144" y="4732807"/>
              <a:ext cx="696538" cy="34752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VGA</a:t>
              </a:r>
              <a:endParaRPr lang="he-IL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09053" y="1250416"/>
              <a:ext cx="962989" cy="9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רמקול</a:t>
              </a: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1980510" y="3609207"/>
              <a:ext cx="761540" cy="381540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742050" y="5555597"/>
              <a:ext cx="1091782" cy="6849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רקע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rot="16200000">
              <a:off x="4924555" y="3046578"/>
              <a:ext cx="1327942" cy="47059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  <a:p>
              <a:pPr algn="ctr"/>
              <a:r>
                <a:rPr lang="he-IL" dirty="0"/>
                <a:t>התנגשות</a:t>
              </a:r>
            </a:p>
            <a:p>
              <a:pPr algn="ctr"/>
              <a:endParaRPr lang="he-IL" dirty="0"/>
            </a:p>
          </p:txBody>
        </p:sp>
        <p:cxnSp>
          <p:nvCxnSpPr>
            <p:cNvPr id="3" name="Straight Arrow Connector 2"/>
            <p:cNvCxnSpPr>
              <a:stCxn id="22" idx="0"/>
            </p:cNvCxnSpPr>
            <p:nvPr/>
          </p:nvCxnSpPr>
          <p:spPr>
            <a:xfrm flipH="1" flipV="1">
              <a:off x="3000655" y="1827747"/>
              <a:ext cx="2352572" cy="1454130"/>
            </a:xfrm>
            <a:prstGeom prst="straightConnector1">
              <a:avLst/>
            </a:prstGeom>
            <a:ln w="571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2742051" y="2039987"/>
              <a:ext cx="749829" cy="1368009"/>
            </a:xfrm>
            <a:prstGeom prst="straightConnector1">
              <a:avLst/>
            </a:prstGeom>
            <a:ln w="571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2" idx="3"/>
              <a:endCxn id="8" idx="1"/>
            </p:cNvCxnSpPr>
            <p:nvPr/>
          </p:nvCxnSpPr>
          <p:spPr>
            <a:xfrm>
              <a:off x="3006280" y="1485291"/>
              <a:ext cx="1442763" cy="247022"/>
            </a:xfrm>
            <a:prstGeom prst="straightConnector1">
              <a:avLst/>
            </a:prstGeom>
            <a:ln w="571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2724823" y="2075707"/>
              <a:ext cx="385893" cy="2436096"/>
            </a:xfrm>
            <a:prstGeom prst="straightConnector1">
              <a:avLst/>
            </a:prstGeom>
            <a:ln w="571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2742049" y="2075707"/>
              <a:ext cx="206394" cy="3479890"/>
            </a:xfrm>
            <a:prstGeom prst="straightConnector1">
              <a:avLst/>
            </a:prstGeom>
            <a:ln w="571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2742050" y="3430877"/>
              <a:ext cx="1091782" cy="6849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שחקנים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742050" y="4493237"/>
              <a:ext cx="1091782" cy="6849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עצמים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1931664" y="1353382"/>
              <a:ext cx="648605" cy="595670"/>
              <a:chOff x="401097" y="1196752"/>
              <a:chExt cx="1057087" cy="805167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900390" y="1196752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1098942" y="1642767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62810" y="1628958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41" name="Arc 40"/>
              <p:cNvSpPr/>
              <p:nvPr/>
            </p:nvSpPr>
            <p:spPr>
              <a:xfrm>
                <a:off x="1187127" y="1346713"/>
                <a:ext cx="175558" cy="655205"/>
              </a:xfrm>
              <a:prstGeom prst="arc">
                <a:avLst/>
              </a:prstGeom>
              <a:ln w="3810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42" name="Arc 41"/>
              <p:cNvSpPr/>
              <p:nvPr/>
            </p:nvSpPr>
            <p:spPr>
              <a:xfrm rot="6690130">
                <a:off x="526672" y="1363759"/>
                <a:ext cx="497543" cy="748693"/>
              </a:xfrm>
              <a:prstGeom prst="arc">
                <a:avLst/>
              </a:prstGeom>
              <a:ln w="3810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44" name="Arc 43"/>
              <p:cNvSpPr/>
              <p:nvPr/>
            </p:nvSpPr>
            <p:spPr>
              <a:xfrm rot="15236873">
                <a:off x="727336" y="1120394"/>
                <a:ext cx="497543" cy="748693"/>
              </a:xfrm>
              <a:prstGeom prst="arc">
                <a:avLst/>
              </a:prstGeom>
              <a:ln w="3810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5257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5576" y="3402195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264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עקרון הפעולה 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6021" y="5373216"/>
            <a:ext cx="58702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>
              <a:spcAft>
                <a:spcPts val="0"/>
              </a:spcAft>
            </a:pPr>
            <a:r>
              <a:rPr lang="he-IL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ראו סרטון ב-</a:t>
            </a:r>
            <a:endParaRPr lang="en-US" u="sng" dirty="0">
              <a:solidFill>
                <a:srgbClr val="0000FF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 rtl="0">
              <a:spcAft>
                <a:spcPts val="0"/>
              </a:spcAft>
            </a:pP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https://www.youtube.com/watch?v=3BJU2drrtCM</a:t>
            </a:r>
            <a:r>
              <a:rPr lang="he-IL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&amp;</a:t>
            </a:r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t=575s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65" y="1124744"/>
            <a:ext cx="7062090" cy="39604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709" y="5321633"/>
            <a:ext cx="1352846" cy="11967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88116" y="6015554"/>
            <a:ext cx="23102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 ותודה ל- </a:t>
            </a:r>
            <a:r>
              <a:rPr lang="he-IL" dirty="0" err="1">
                <a:solidFill>
                  <a:schemeClr val="bg1"/>
                </a:solidFill>
              </a:rPr>
              <a:t>סגעאן</a:t>
            </a:r>
            <a:r>
              <a:rPr lang="he-IL" dirty="0">
                <a:solidFill>
                  <a:schemeClr val="bg1"/>
                </a:solidFill>
              </a:rPr>
              <a:t> </a:t>
            </a:r>
            <a:r>
              <a:rPr lang="he-IL" dirty="0" err="1">
                <a:solidFill>
                  <a:schemeClr val="bg1"/>
                </a:solidFill>
              </a:rPr>
              <a:t>חלאק</a:t>
            </a:r>
            <a:r>
              <a:rPr lang="he-IL" dirty="0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0165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182" y="1054407"/>
            <a:ext cx="1800200" cy="27841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VGA INTERFACE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483768" y="3815856"/>
            <a:ext cx="4750598" cy="2944584"/>
            <a:chOff x="2483768" y="3493264"/>
            <a:chExt cx="4894614" cy="3240360"/>
          </a:xfrm>
        </p:grpSpPr>
        <p:sp>
          <p:nvSpPr>
            <p:cNvPr id="3" name="Rectangle 2"/>
            <p:cNvSpPr/>
            <p:nvPr/>
          </p:nvSpPr>
          <p:spPr>
            <a:xfrm>
              <a:off x="2483768" y="3493264"/>
              <a:ext cx="4894614" cy="324036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1026" name="Picture 2" descr="http://www.xess.com/static/media/uploads/blog/devbisme/2011-06-11/app001_2.pn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3117" y="3500496"/>
              <a:ext cx="3817926" cy="289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Down Arrow 9"/>
            <p:cNvSpPr/>
            <p:nvPr/>
          </p:nvSpPr>
          <p:spPr>
            <a:xfrm rot="16200000" flipH="1">
              <a:off x="3176121" y="4292553"/>
              <a:ext cx="150188" cy="263804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Down Arrow 10"/>
            <p:cNvSpPr/>
            <p:nvPr/>
          </p:nvSpPr>
          <p:spPr>
            <a:xfrm rot="16200000">
              <a:off x="3222991" y="5696276"/>
              <a:ext cx="164020" cy="270308"/>
            </a:xfrm>
            <a:prstGeom prst="downArrow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Down Arrow 11"/>
            <p:cNvSpPr/>
            <p:nvPr/>
          </p:nvSpPr>
          <p:spPr>
            <a:xfrm rot="16200000" flipH="1">
              <a:off x="3193730" y="3631364"/>
              <a:ext cx="138062" cy="33820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Down Arrow 12"/>
            <p:cNvSpPr/>
            <p:nvPr/>
          </p:nvSpPr>
          <p:spPr>
            <a:xfrm rot="16200000">
              <a:off x="3187375" y="3783315"/>
              <a:ext cx="150774" cy="34654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Down Arrow 13"/>
            <p:cNvSpPr/>
            <p:nvPr/>
          </p:nvSpPr>
          <p:spPr>
            <a:xfrm rot="16200000">
              <a:off x="3187374" y="3472367"/>
              <a:ext cx="150775" cy="34654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Down Arrow 15"/>
            <p:cNvSpPr/>
            <p:nvPr/>
          </p:nvSpPr>
          <p:spPr>
            <a:xfrm rot="16200000" flipH="1">
              <a:off x="3193731" y="3631365"/>
              <a:ext cx="138062" cy="33820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Down Arrow 16"/>
            <p:cNvSpPr/>
            <p:nvPr/>
          </p:nvSpPr>
          <p:spPr>
            <a:xfrm rot="16200000">
              <a:off x="3187375" y="3472368"/>
              <a:ext cx="150775" cy="34654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pic>
        <p:nvPicPr>
          <p:cNvPr id="21" name="Picture 2" descr="http://www.digital-circuitry.com/IMAGES/webpage/MyLAB/VGA/thumbs/VGA_640x480_Layou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4164" y="1054407"/>
            <a:ext cx="381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Image result for vga signal explanation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225" y="4236888"/>
            <a:ext cx="1689100" cy="1210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170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000F2B8-78CE-4471-B434-3D418C3A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3" y="4440508"/>
            <a:ext cx="3035598" cy="8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035031"/>
            <a:ext cx="4680520" cy="28018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VGA INTERFACE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038454" y="3251738"/>
            <a:ext cx="4894614" cy="32403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26" name="Picture 2" descr="http://www.xess.com/static/media/uploads/blog/devbisme/2011-06-11/app001_2.pn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0748" y="3500496"/>
            <a:ext cx="3817926" cy="289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own Arrow 11"/>
          <p:cNvSpPr/>
          <p:nvPr/>
        </p:nvSpPr>
        <p:spPr>
          <a:xfrm rot="16200000" flipH="1">
            <a:off x="4341361" y="3631364"/>
            <a:ext cx="138062" cy="33820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Down Arrow 12"/>
          <p:cNvSpPr/>
          <p:nvPr/>
        </p:nvSpPr>
        <p:spPr>
          <a:xfrm rot="16200000">
            <a:off x="4335006" y="3783315"/>
            <a:ext cx="150774" cy="3465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Down Arrow 13"/>
          <p:cNvSpPr/>
          <p:nvPr/>
        </p:nvSpPr>
        <p:spPr>
          <a:xfrm rot="16200000">
            <a:off x="4335005" y="3472367"/>
            <a:ext cx="150775" cy="3465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Down Arrow 15"/>
          <p:cNvSpPr/>
          <p:nvPr/>
        </p:nvSpPr>
        <p:spPr>
          <a:xfrm rot="16200000" flipH="1">
            <a:off x="4341362" y="3631365"/>
            <a:ext cx="138062" cy="33820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Down Arrow 16"/>
          <p:cNvSpPr/>
          <p:nvPr/>
        </p:nvSpPr>
        <p:spPr>
          <a:xfrm rot="16200000">
            <a:off x="4335006" y="3472368"/>
            <a:ext cx="150775" cy="3465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3" name="Picture 22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398" t="44919"/>
          <a:stretch/>
        </p:blipFill>
        <p:spPr bwMode="auto">
          <a:xfrm>
            <a:off x="4032393" y="5593408"/>
            <a:ext cx="539609" cy="333632"/>
          </a:xfrm>
          <a:prstGeom prst="rect">
            <a:avLst/>
          </a:prstGeom>
          <a:noFill/>
        </p:spPr>
      </p:pic>
      <p:pic>
        <p:nvPicPr>
          <p:cNvPr id="24" name="Picture 23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845" b="46726"/>
          <a:stretch/>
        </p:blipFill>
        <p:spPr bwMode="auto">
          <a:xfrm>
            <a:off x="4111019" y="4340401"/>
            <a:ext cx="470478" cy="322684"/>
          </a:xfrm>
          <a:prstGeom prst="rect">
            <a:avLst/>
          </a:prstGeom>
          <a:noFill/>
        </p:spPr>
      </p:pic>
      <p:sp>
        <p:nvSpPr>
          <p:cNvPr id="21" name="Down Arrow 12">
            <a:extLst>
              <a:ext uri="{FF2B5EF4-FFF2-40B4-BE49-F238E27FC236}">
                <a16:creationId xmlns:a16="http://schemas.microsoft.com/office/drawing/2014/main" id="{46A2FF90-11C6-4C70-BDFC-23CED603E97E}"/>
              </a:ext>
            </a:extLst>
          </p:cNvPr>
          <p:cNvSpPr/>
          <p:nvPr/>
        </p:nvSpPr>
        <p:spPr>
          <a:xfrm rot="16200000">
            <a:off x="537869" y="4789035"/>
            <a:ext cx="150774" cy="3465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Down Arrow 15">
            <a:extLst>
              <a:ext uri="{FF2B5EF4-FFF2-40B4-BE49-F238E27FC236}">
                <a16:creationId xmlns:a16="http://schemas.microsoft.com/office/drawing/2014/main" id="{3FEF2257-A0F2-403D-AE66-849F44A67B35}"/>
              </a:ext>
            </a:extLst>
          </p:cNvPr>
          <p:cNvSpPr/>
          <p:nvPr/>
        </p:nvSpPr>
        <p:spPr>
          <a:xfrm rot="16200000" flipH="1">
            <a:off x="544225" y="4637085"/>
            <a:ext cx="138062" cy="33820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Down Arrow 16">
            <a:extLst>
              <a:ext uri="{FF2B5EF4-FFF2-40B4-BE49-F238E27FC236}">
                <a16:creationId xmlns:a16="http://schemas.microsoft.com/office/drawing/2014/main" id="{5ED7CBFD-8CCF-45A4-9FE3-79F1711BE8AC}"/>
              </a:ext>
            </a:extLst>
          </p:cNvPr>
          <p:cNvSpPr/>
          <p:nvPr/>
        </p:nvSpPr>
        <p:spPr>
          <a:xfrm rot="16200000">
            <a:off x="537869" y="4478088"/>
            <a:ext cx="150775" cy="3465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34C7566-32CF-4886-87AD-95AE26C66621}"/>
              </a:ext>
            </a:extLst>
          </p:cNvPr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398" t="44919"/>
          <a:stretch/>
        </p:blipFill>
        <p:spPr bwMode="auto">
          <a:xfrm>
            <a:off x="3492784" y="4716530"/>
            <a:ext cx="539609" cy="333632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66DE9DC-C0DD-4D64-A27F-675811F8B1F9}"/>
              </a:ext>
            </a:extLst>
          </p:cNvPr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845" b="46726"/>
          <a:stretch/>
        </p:blipFill>
        <p:spPr bwMode="auto">
          <a:xfrm>
            <a:off x="3557068" y="4483099"/>
            <a:ext cx="470478" cy="322684"/>
          </a:xfrm>
          <a:prstGeom prst="rect">
            <a:avLst/>
          </a:prstGeom>
          <a:noFill/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7"/>
          <a:srcRect l="22286" r="23867"/>
          <a:stretch/>
        </p:blipFill>
        <p:spPr>
          <a:xfrm>
            <a:off x="5652120" y="1340768"/>
            <a:ext cx="1930418" cy="15603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F016AD9-B4BE-45EF-BA64-6F9BB339A351}"/>
              </a:ext>
            </a:extLst>
          </p:cNvPr>
          <p:cNvSpPr/>
          <p:nvPr/>
        </p:nvSpPr>
        <p:spPr>
          <a:xfrm>
            <a:off x="3059832" y="2492896"/>
            <a:ext cx="1397644" cy="714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45EDCD-AE57-4F34-AC69-16CFD931A8CF}"/>
              </a:ext>
            </a:extLst>
          </p:cNvPr>
          <p:cNvSpPr/>
          <p:nvPr/>
        </p:nvSpPr>
        <p:spPr>
          <a:xfrm>
            <a:off x="6495108" y="2093685"/>
            <a:ext cx="1397644" cy="714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94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559" y="275002"/>
            <a:ext cx="6554867" cy="853644"/>
          </a:xfrm>
        </p:spPr>
        <p:txBody>
          <a:bodyPr>
            <a:normAutofit/>
          </a:bodyPr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בקר ה- </a:t>
            </a:r>
            <a:r>
              <a:rPr lang="en-US" dirty="0">
                <a:solidFill>
                  <a:srgbClr val="3333CC"/>
                </a:solidFill>
              </a:rPr>
              <a:t>VGA</a:t>
            </a:r>
            <a:r>
              <a:rPr lang="he-IL" dirty="0">
                <a:solidFill>
                  <a:srgbClr val="3333CC"/>
                </a:solidFill>
              </a:rPr>
              <a:t> ביישום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30363" y="3384621"/>
            <a:ext cx="2826759" cy="2676595"/>
            <a:chOff x="4416805" y="3921548"/>
            <a:chExt cx="2826759" cy="267659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2287"/>
            <a:stretch/>
          </p:blipFill>
          <p:spPr>
            <a:xfrm>
              <a:off x="5148064" y="4215154"/>
              <a:ext cx="2095500" cy="1806134"/>
            </a:xfrm>
            <a:prstGeom prst="rect">
              <a:avLst/>
            </a:prstGeom>
          </p:spPr>
        </p:pic>
        <p:sp>
          <p:nvSpPr>
            <p:cNvPr id="5" name="Down Arrow 4"/>
            <p:cNvSpPr/>
            <p:nvPr/>
          </p:nvSpPr>
          <p:spPr>
            <a:xfrm rot="5400000">
              <a:off x="4522067" y="4907915"/>
              <a:ext cx="413792" cy="624315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Down Arrow 6"/>
            <p:cNvSpPr/>
            <p:nvPr/>
          </p:nvSpPr>
          <p:spPr>
            <a:xfrm rot="13434226">
              <a:off x="6580528" y="3921548"/>
              <a:ext cx="413792" cy="62431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Down Arrow 7"/>
            <p:cNvSpPr/>
            <p:nvPr/>
          </p:nvSpPr>
          <p:spPr>
            <a:xfrm rot="19236619">
              <a:off x="6586116" y="5973828"/>
              <a:ext cx="413792" cy="62431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177704" y="3005842"/>
            <a:ext cx="6356225" cy="3669426"/>
            <a:chOff x="2339752" y="1052737"/>
            <a:chExt cx="6356225" cy="3669426"/>
          </a:xfrm>
        </p:grpSpPr>
        <p:pic>
          <p:nvPicPr>
            <p:cNvPr id="1026" name="Picture 2" descr="http://www.digital-circuitry.com/IMAGES/webpage/MyLAB/VGA/thumbs/VGA_640x480_Layo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806" y="1524001"/>
              <a:ext cx="3810000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Down Arrow 9"/>
            <p:cNvSpPr/>
            <p:nvPr/>
          </p:nvSpPr>
          <p:spPr>
            <a:xfrm rot="5400000" flipV="1">
              <a:off x="8150395" y="2520039"/>
              <a:ext cx="413792" cy="677373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Down Arrow 10"/>
            <p:cNvSpPr/>
            <p:nvPr/>
          </p:nvSpPr>
          <p:spPr>
            <a:xfrm rot="10800000">
              <a:off x="6750678" y="1052737"/>
              <a:ext cx="413792" cy="624315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Oval 8"/>
            <p:cNvSpPr/>
            <p:nvPr/>
          </p:nvSpPr>
          <p:spPr>
            <a:xfrm>
              <a:off x="5292080" y="3010465"/>
              <a:ext cx="166336" cy="2217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Rounded Rectangular Callout 11"/>
            <p:cNvSpPr/>
            <p:nvPr/>
          </p:nvSpPr>
          <p:spPr>
            <a:xfrm>
              <a:off x="2339752" y="4482014"/>
              <a:ext cx="1512168" cy="240149"/>
            </a:xfrm>
            <a:prstGeom prst="wedgeRoundRectCallout">
              <a:avLst>
                <a:gd name="adj1" fmla="val 148365"/>
                <a:gd name="adj2" fmla="val -601863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פיקסל בודד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213060"/>
            <a:ext cx="4680520" cy="20370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0032" y="1280141"/>
            <a:ext cx="401459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he-IL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הבקר מקבל מהמשתמש צבע </a:t>
            </a:r>
            <a:r>
              <a:rPr lang="en-US" dirty="0">
                <a:solidFill>
                  <a:schemeClr val="bg1"/>
                </a:solidFill>
                <a:latin typeface="David" panose="020E0502060401010101" pitchFamily="34" charset="-79"/>
                <a:ea typeface="Times New Roman" panose="02020603050405020304" pitchFamily="18" charset="0"/>
                <a:cs typeface="Miriam" panose="020B0502050101010101" pitchFamily="34" charset="-79"/>
              </a:rPr>
              <a:t>RGB</a:t>
            </a:r>
            <a:r>
              <a:rPr lang="he-IL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 שיש להקנות לפיקסל הנוכחי ומוציא אל המשתמש: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riam" panose="020B0502050101010101" pitchFamily="34" charset="-79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he-IL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הקואורדינטות של הפיקסל הבא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he-IL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אות </a:t>
            </a:r>
            <a:r>
              <a:rPr lang="en-US" dirty="0" err="1">
                <a:solidFill>
                  <a:schemeClr val="bg1"/>
                </a:solidFill>
                <a:latin typeface="David" panose="020E0502060401010101" pitchFamily="34" charset="-79"/>
                <a:ea typeface="Times New Roman" panose="02020603050405020304" pitchFamily="18" charset="0"/>
              </a:rPr>
              <a:t>startOfFrame</a:t>
            </a:r>
            <a:r>
              <a:rPr lang="he-IL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 – פולס התחלה/סיום של סריקת מסך</a:t>
            </a:r>
            <a:endParaRPr lang="en-US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76AE8C-FE31-42A4-82D5-29754F5F8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2116" y="1174488"/>
            <a:ext cx="1986660" cy="1082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F2EC23-D7A2-499B-B110-CD393FD8D2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51" y="2257002"/>
            <a:ext cx="2132637" cy="99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87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88640" y="307157"/>
            <a:ext cx="6291672" cy="933450"/>
          </a:xfrm>
        </p:spPr>
        <p:txBody>
          <a:bodyPr>
            <a:noAutofit/>
          </a:bodyPr>
          <a:lstStyle/>
          <a:p>
            <a:pPr algn="r"/>
            <a:r>
              <a:rPr lang="he-IL" dirty="0">
                <a:solidFill>
                  <a:srgbClr val="3333CC"/>
                </a:solidFill>
              </a:rPr>
              <a:t>סכמה כללית של יישום ה- </a:t>
            </a:r>
            <a:r>
              <a:rPr lang="en-US" dirty="0">
                <a:solidFill>
                  <a:srgbClr val="3333CC"/>
                </a:solidFill>
              </a:rPr>
              <a:t>S</a:t>
            </a:r>
            <a:r>
              <a:rPr lang="en-GB" dirty="0" err="1">
                <a:solidFill>
                  <a:srgbClr val="3333CC"/>
                </a:solidFill>
              </a:rPr>
              <a:t>miley</a:t>
            </a:r>
            <a:endParaRPr lang="en-US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520" y="1129968"/>
            <a:ext cx="85116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Smiley move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- קובע את מיקום הפינה השמאלית העליונה של האובייקט</a:t>
            </a:r>
          </a:p>
          <a:p>
            <a:pPr lvl="0">
              <a:spcAft>
                <a:spcPts val="0"/>
              </a:spcAft>
              <a:buSzPts val="1100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Smiley draw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 - מצייר את הסמילי – מכיל שני מודולים: תחום (מלבן)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ותוכן </a:t>
            </a:r>
            <a:r>
              <a:rPr lang="en-US" sz="2000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BitMap</a:t>
            </a:r>
            <a:endParaRPr lang="he-IL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רקע – מצייר רקע קבוע </a:t>
            </a:r>
            <a:endParaRPr lang="en-US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Mux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- בורר מה להציג </a:t>
            </a:r>
            <a:endParaRPr lang="en-US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VGA Controller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– מייצר את התזמונים ומתמשק עם המסך</a:t>
            </a:r>
          </a:p>
          <a:p>
            <a:pPr lvl="0">
              <a:spcAft>
                <a:spcPts val="0"/>
              </a:spcAft>
              <a:buSzPts val="1100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MSS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- צלילים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088640" y="2708920"/>
            <a:ext cx="6902455" cy="3617662"/>
            <a:chOff x="1088640" y="2708920"/>
            <a:chExt cx="6902455" cy="3617662"/>
          </a:xfrm>
        </p:grpSpPr>
        <p:sp>
          <p:nvSpPr>
            <p:cNvPr id="7" name="Down Arrow 6"/>
            <p:cNvSpPr/>
            <p:nvPr/>
          </p:nvSpPr>
          <p:spPr>
            <a:xfrm rot="5400000" flipV="1">
              <a:off x="7416862" y="3908056"/>
              <a:ext cx="321659" cy="826807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7" name="Down Arrow 16"/>
            <p:cNvSpPr/>
            <p:nvPr/>
          </p:nvSpPr>
          <p:spPr>
            <a:xfrm rot="5400000" flipV="1">
              <a:off x="5675611" y="4018125"/>
              <a:ext cx="302483" cy="580659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8193" y="3684053"/>
              <a:ext cx="750422" cy="131275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Mux</a:t>
              </a:r>
              <a:endParaRPr lang="he-IL" sz="1400" dirty="0"/>
            </a:p>
          </p:txBody>
        </p:sp>
        <p:cxnSp>
          <p:nvCxnSpPr>
            <p:cNvPr id="19" name="Elbow Connector 18"/>
            <p:cNvCxnSpPr>
              <a:stCxn id="20" idx="3"/>
            </p:cNvCxnSpPr>
            <p:nvPr/>
          </p:nvCxnSpPr>
          <p:spPr>
            <a:xfrm>
              <a:off x="4120257" y="3554518"/>
              <a:ext cx="844792" cy="626275"/>
            </a:xfrm>
            <a:prstGeom prst="bentConnector3">
              <a:avLst>
                <a:gd name="adj1" fmla="val 50000"/>
              </a:avLst>
            </a:prstGeom>
            <a:solidFill>
              <a:srgbClr val="7030A0"/>
            </a:solidFill>
            <a:ln w="762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264064" y="3148929"/>
              <a:ext cx="856193" cy="81117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Smiley-draw</a:t>
              </a:r>
              <a:r>
                <a:rPr lang="he-IL" sz="1400" dirty="0"/>
                <a:t> </a:t>
              </a:r>
            </a:p>
          </p:txBody>
        </p:sp>
        <p:cxnSp>
          <p:nvCxnSpPr>
            <p:cNvPr id="30" name="Elbow Connector 29"/>
            <p:cNvCxnSpPr>
              <a:stCxn id="32" idx="3"/>
            </p:cNvCxnSpPr>
            <p:nvPr/>
          </p:nvCxnSpPr>
          <p:spPr>
            <a:xfrm flipV="1">
              <a:off x="3912566" y="4804899"/>
              <a:ext cx="1020907" cy="718833"/>
            </a:xfrm>
            <a:prstGeom prst="bentConnector3">
              <a:avLst>
                <a:gd name="adj1" fmla="val 50000"/>
              </a:avLst>
            </a:prstGeom>
            <a:solidFill>
              <a:srgbClr val="7030A0"/>
            </a:solidFill>
            <a:ln w="7620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3080249" y="5236285"/>
              <a:ext cx="832317" cy="57489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he-IL" dirty="0"/>
                <a:t>רקע</a:t>
              </a:r>
            </a:p>
          </p:txBody>
        </p:sp>
        <p:cxnSp>
          <p:nvCxnSpPr>
            <p:cNvPr id="38" name="Elbow Connector 37"/>
            <p:cNvCxnSpPr>
              <a:stCxn id="20" idx="2"/>
            </p:cNvCxnSpPr>
            <p:nvPr/>
          </p:nvCxnSpPr>
          <p:spPr>
            <a:xfrm rot="16200000" flipH="1">
              <a:off x="4048577" y="3603690"/>
              <a:ext cx="536124" cy="1248956"/>
            </a:xfrm>
            <a:prstGeom prst="bentConnector2">
              <a:avLst/>
            </a:prstGeom>
            <a:ln w="19050">
              <a:solidFill>
                <a:srgbClr val="0066FF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024027" y="4459696"/>
              <a:ext cx="1359667" cy="276999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Drawing Request</a:t>
              </a:r>
              <a:endParaRPr lang="he-IL" sz="1200" dirty="0">
                <a:solidFill>
                  <a:srgbClr val="FF0000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32655" y="2780929"/>
              <a:ext cx="856193" cy="70571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Smiley</a:t>
              </a:r>
            </a:p>
            <a:p>
              <a:pPr algn="ctr"/>
              <a:r>
                <a:rPr lang="en-US" sz="1400" dirty="0"/>
                <a:t>move</a:t>
              </a:r>
              <a:r>
                <a:rPr lang="he-IL" sz="1400" dirty="0"/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52844" y="3194268"/>
              <a:ext cx="78208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RGB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41249" y="5262544"/>
              <a:ext cx="78208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RGB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159353" y="3933056"/>
              <a:ext cx="653007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RGB</a:t>
              </a:r>
              <a:endParaRPr lang="he-IL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Elbow Connector 27"/>
            <p:cNvCxnSpPr>
              <a:stCxn id="10" idx="2"/>
            </p:cNvCxnSpPr>
            <p:nvPr/>
          </p:nvCxnSpPr>
          <p:spPr>
            <a:xfrm rot="5400000">
              <a:off x="2985389" y="2671735"/>
              <a:ext cx="1758101" cy="5551590"/>
            </a:xfrm>
            <a:prstGeom prst="bentConnector2">
              <a:avLst/>
            </a:prstGeom>
            <a:solidFill>
              <a:srgbClr val="7030A0"/>
            </a:solidFill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Elbow Connector 30"/>
            <p:cNvCxnSpPr/>
            <p:nvPr/>
          </p:nvCxnSpPr>
          <p:spPr>
            <a:xfrm rot="5400000" flipH="1" flipV="1">
              <a:off x="820285" y="3873127"/>
              <a:ext cx="2704435" cy="2167718"/>
            </a:xfrm>
            <a:prstGeom prst="bentConnector2">
              <a:avLst/>
            </a:prstGeom>
            <a:solidFill>
              <a:srgbClr val="7030A0"/>
            </a:solidFill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Elbow Connector 32"/>
            <p:cNvCxnSpPr/>
            <p:nvPr/>
          </p:nvCxnSpPr>
          <p:spPr>
            <a:xfrm flipV="1">
              <a:off x="1088640" y="5523732"/>
              <a:ext cx="1966889" cy="802850"/>
            </a:xfrm>
            <a:prstGeom prst="bentConnector3">
              <a:avLst>
                <a:gd name="adj1" fmla="val 381"/>
              </a:avLst>
            </a:prstGeom>
            <a:solidFill>
              <a:srgbClr val="7030A0"/>
            </a:solidFill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466671" y="5100426"/>
              <a:ext cx="54708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XY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070347" y="2708920"/>
              <a:ext cx="10890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Top-left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44" name="Elbow Connector 43"/>
            <p:cNvCxnSpPr>
              <a:stCxn id="23" idx="3"/>
            </p:cNvCxnSpPr>
            <p:nvPr/>
          </p:nvCxnSpPr>
          <p:spPr>
            <a:xfrm>
              <a:off x="1988848" y="3133786"/>
              <a:ext cx="1252617" cy="194293"/>
            </a:xfrm>
            <a:prstGeom prst="bentConnector3">
              <a:avLst>
                <a:gd name="adj1" fmla="val 50000"/>
              </a:avLst>
            </a:prstGeom>
            <a:solidFill>
              <a:srgbClr val="7030A0"/>
            </a:solidFill>
            <a:ln w="7620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116180" y="3933056"/>
              <a:ext cx="1048108" cy="635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200" dirty="0"/>
                <a:t>VGA controller</a:t>
              </a:r>
              <a:endParaRPr lang="he-I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2417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6554867" cy="1524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Row column &amp; RGB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3" name="Down Arrow 12"/>
          <p:cNvSpPr/>
          <p:nvPr/>
        </p:nvSpPr>
        <p:spPr>
          <a:xfrm rot="16200000">
            <a:off x="1329826" y="3853275"/>
            <a:ext cx="504056" cy="375586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Y</a:t>
            </a:r>
            <a:endParaRPr lang="he-IL" dirty="0"/>
          </a:p>
        </p:txBody>
      </p:sp>
      <p:sp>
        <p:nvSpPr>
          <p:cNvPr id="14" name="Down Arrow 13"/>
          <p:cNvSpPr/>
          <p:nvPr/>
        </p:nvSpPr>
        <p:spPr>
          <a:xfrm rot="16200000">
            <a:off x="1344228" y="3333537"/>
            <a:ext cx="475251" cy="42910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X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 rot="16200000" flipH="1">
            <a:off x="3579476" y="3719243"/>
            <a:ext cx="205261" cy="33820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Down Arrow 15"/>
          <p:cNvSpPr/>
          <p:nvPr/>
        </p:nvSpPr>
        <p:spPr>
          <a:xfrm rot="16200000">
            <a:off x="3565857" y="4231904"/>
            <a:ext cx="224160" cy="3465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Down Arrow 16"/>
          <p:cNvSpPr/>
          <p:nvPr/>
        </p:nvSpPr>
        <p:spPr>
          <a:xfrm rot="16200000">
            <a:off x="3553072" y="3222561"/>
            <a:ext cx="224161" cy="3465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1796407" y="2636912"/>
            <a:ext cx="1695473" cy="23762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לוגיקה</a:t>
            </a:r>
          </a:p>
        </p:txBody>
      </p:sp>
      <p:pic>
        <p:nvPicPr>
          <p:cNvPr id="21" name="Picture 2" descr="http://www.digital-circuitry.com/IMAGES/webpage/MyLAB/VGA/thumbs/VGA_640x480_Layo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8555" y="2174414"/>
            <a:ext cx="381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Down Arrow 21"/>
          <p:cNvSpPr/>
          <p:nvPr/>
        </p:nvSpPr>
        <p:spPr>
          <a:xfrm rot="5400000" flipV="1">
            <a:off x="8242144" y="3170452"/>
            <a:ext cx="413792" cy="677373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Down Arrow 22"/>
          <p:cNvSpPr/>
          <p:nvPr/>
        </p:nvSpPr>
        <p:spPr>
          <a:xfrm rot="10800000">
            <a:off x="6842427" y="1703150"/>
            <a:ext cx="413792" cy="62431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/>
          <p:cNvSpPr/>
          <p:nvPr/>
        </p:nvSpPr>
        <p:spPr>
          <a:xfrm>
            <a:off x="5796136" y="2634951"/>
            <a:ext cx="72008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Oval 28"/>
          <p:cNvSpPr/>
          <p:nvPr/>
        </p:nvSpPr>
        <p:spPr>
          <a:xfrm>
            <a:off x="5398205" y="3785716"/>
            <a:ext cx="551209" cy="6513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TextBox 17"/>
          <p:cNvSpPr txBox="1"/>
          <p:nvPr/>
        </p:nvSpPr>
        <p:spPr>
          <a:xfrm>
            <a:off x="4474411" y="5181576"/>
            <a:ext cx="2403222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לציור הריבוע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(200&lt; X) &amp;&amp; (X &lt;400)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&amp;&amp; 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(0&lt;Y) &amp;&amp; (Y &lt;180)</a:t>
            </a:r>
          </a:p>
        </p:txBody>
      </p:sp>
    </p:spTree>
    <p:extLst>
      <p:ext uri="{BB962C8B-B14F-4D97-AF65-F5344CB8AC3E}">
        <p14:creationId xmlns:p14="http://schemas.microsoft.com/office/powerpoint/2010/main" val="4010646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942" y="1466415"/>
            <a:ext cx="4322912" cy="1170497"/>
          </a:xfrm>
          <a:prstGeom prst="rect">
            <a:avLst/>
          </a:prstGeom>
        </p:spPr>
      </p:pic>
      <p:sp>
        <p:nvSpPr>
          <p:cNvPr id="9" name="Flowchart: Process 8"/>
          <p:cNvSpPr/>
          <p:nvPr/>
        </p:nvSpPr>
        <p:spPr>
          <a:xfrm>
            <a:off x="2666052" y="2048581"/>
            <a:ext cx="1169550" cy="117071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solidFill>
                  <a:srgbClr val="3333CC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BITMAP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59151" y="368937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XY</a:t>
            </a:r>
            <a:r>
              <a:rPr lang="he-IL" dirty="0"/>
              <a:t> במסך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62482" y="1087716"/>
            <a:ext cx="7529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מערך הצבעים</a:t>
            </a: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18897" y="4514020"/>
            <a:ext cx="1080120" cy="68468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X Y OFFSET</a:t>
            </a:r>
            <a:endParaRPr lang="he-IL" sz="1600" dirty="0"/>
          </a:p>
        </p:txBody>
      </p:sp>
      <p:cxnSp>
        <p:nvCxnSpPr>
          <p:cNvPr id="16" name="Elbow Connector 15"/>
          <p:cNvCxnSpPr>
            <a:stCxn id="19" idx="3"/>
            <a:endCxn id="13" idx="1"/>
          </p:cNvCxnSpPr>
          <p:nvPr/>
        </p:nvCxnSpPr>
        <p:spPr>
          <a:xfrm>
            <a:off x="1323247" y="4015904"/>
            <a:ext cx="1795650" cy="840458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52344" y="3674988"/>
            <a:ext cx="808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X0 Y0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4" name="Oval Callout 23"/>
          <p:cNvSpPr/>
          <p:nvPr/>
        </p:nvSpPr>
        <p:spPr>
          <a:xfrm>
            <a:off x="259122" y="1042105"/>
            <a:ext cx="1658659" cy="939262"/>
          </a:xfrm>
          <a:prstGeom prst="wedgeEllipseCallout">
            <a:avLst>
              <a:gd name="adj1" fmla="val 93928"/>
              <a:gd name="adj2" fmla="val 57564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- פינה שמאלית עליונה</a:t>
            </a:r>
          </a:p>
        </p:txBody>
      </p:sp>
      <p:pic>
        <p:nvPicPr>
          <p:cNvPr id="2052" name="Picture 4" descr="קובץ:Smiley.sv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6052" y="2049751"/>
            <a:ext cx="1169550" cy="116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Flowchart: Process 26"/>
          <p:cNvSpPr/>
          <p:nvPr/>
        </p:nvSpPr>
        <p:spPr>
          <a:xfrm>
            <a:off x="4572000" y="4044905"/>
            <a:ext cx="1169550" cy="117071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8" name="Picture 4" descr="קובץ:Smiley.sv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0" y="4046075"/>
            <a:ext cx="1169550" cy="116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4572000" y="4039323"/>
            <a:ext cx="417501" cy="369658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666052" y="1684235"/>
            <a:ext cx="1506973" cy="255641"/>
          </a:xfrm>
          <a:prstGeom prst="straightConnector1">
            <a:avLst/>
          </a:prstGeom>
          <a:ln w="57150">
            <a:solidFill>
              <a:srgbClr val="052F61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9151" y="4921453"/>
            <a:ext cx="1217982" cy="113295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- פינה שמאלית עליונה</a:t>
            </a:r>
          </a:p>
        </p:txBody>
      </p:sp>
      <p:cxnSp>
        <p:nvCxnSpPr>
          <p:cNvPr id="39" name="Elbow Connector 38"/>
          <p:cNvCxnSpPr>
            <a:stCxn id="37" idx="3"/>
            <a:endCxn id="13" idx="1"/>
          </p:cNvCxnSpPr>
          <p:nvPr/>
        </p:nvCxnSpPr>
        <p:spPr>
          <a:xfrm flipV="1">
            <a:off x="1677133" y="4856362"/>
            <a:ext cx="1441764" cy="631567"/>
          </a:xfrm>
          <a:prstGeom prst="bentConnector3">
            <a:avLst>
              <a:gd name="adj1" fmla="val 39633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955789" y="4630264"/>
            <a:ext cx="513432" cy="5418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b="1" dirty="0"/>
              <a:t>-</a:t>
            </a:r>
            <a:endParaRPr lang="he-IL" sz="4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5476445" y="5208889"/>
            <a:ext cx="808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X1 Y1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68142" y="3032115"/>
            <a:ext cx="75299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משימות להצגה על המסך: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בדיקה האם בתחום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פענוח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OFFSET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בתוך העצם 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הוצאת הצבע והמסכה 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9096" y="5658458"/>
            <a:ext cx="7529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הזזת הסמיילי 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שינוי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X0 Y0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99608" y="5850073"/>
            <a:ext cx="2255746" cy="646331"/>
          </a:xfrm>
          <a:prstGeom prst="rect">
            <a:avLst/>
          </a:prstGeom>
          <a:solidFill>
            <a:srgbClr val="3333CC"/>
          </a:solidFill>
        </p:spPr>
        <p:txBody>
          <a:bodyPr wrap="none" rtlCol="1">
            <a:spAutoFit/>
          </a:bodyPr>
          <a:lstStyle/>
          <a:p>
            <a:pPr algn="ctr"/>
            <a:r>
              <a:rPr lang="en-US" dirty="0"/>
              <a:t>X0 &lt;= X0 + </a:t>
            </a:r>
            <a:r>
              <a:rPr lang="en-US" dirty="0" err="1"/>
              <a:t>Xspeed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Y0 &lt;= Y0 + </a:t>
            </a:r>
            <a:r>
              <a:rPr lang="en-US" dirty="0" err="1"/>
              <a:t>Yspeed</a:t>
            </a:r>
            <a:endParaRPr lang="he-IL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199017" y="1672381"/>
            <a:ext cx="790484" cy="526006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603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" grpId="0" animBg="1"/>
      <p:bldP spid="18" grpId="0"/>
      <p:bldP spid="27" grpId="0" animBg="1"/>
      <p:bldP spid="37" grpId="0" animBg="1"/>
      <p:bldP spid="43" grpId="0" animBg="1"/>
      <p:bldP spid="45" grpId="0"/>
      <p:bldP spid="23" grpId="0"/>
      <p:bldP spid="26" grpId="0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68" y="-91837"/>
            <a:ext cx="7742511" cy="1524000"/>
          </a:xfrm>
        </p:spPr>
        <p:txBody>
          <a:bodyPr>
            <a:normAutofit/>
          </a:bodyPr>
          <a:lstStyle/>
          <a:p>
            <a:pPr algn="ctr"/>
            <a:r>
              <a:rPr lang="he-IL" sz="2400" dirty="0">
                <a:solidFill>
                  <a:srgbClr val="3333CC"/>
                </a:solidFill>
              </a:rPr>
              <a:t>שימוש ב</a:t>
            </a:r>
            <a:r>
              <a:rPr lang="en-US" sz="2400" dirty="0">
                <a:solidFill>
                  <a:srgbClr val="3333CC"/>
                </a:solidFill>
              </a:rPr>
              <a:t>BITMAP </a:t>
            </a:r>
            <a:r>
              <a:rPr lang="he-IL" sz="2400" dirty="0">
                <a:solidFill>
                  <a:srgbClr val="3333CC"/>
                </a:solidFill>
              </a:rPr>
              <a:t> אחד עבור כמה אובייקטים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t="3763" r="44425"/>
          <a:stretch/>
        </p:blipFill>
        <p:spPr>
          <a:xfrm>
            <a:off x="1005952" y="1124744"/>
            <a:ext cx="3854080" cy="266408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57351" y="1988840"/>
            <a:ext cx="988089" cy="1440160"/>
            <a:chOff x="205626" y="71276"/>
            <a:chExt cx="835774" cy="1198724"/>
          </a:xfrm>
        </p:grpSpPr>
        <p:sp>
          <p:nvSpPr>
            <p:cNvPr id="8" name="Rounded Rectangular Callout 7"/>
            <p:cNvSpPr/>
            <p:nvPr/>
          </p:nvSpPr>
          <p:spPr>
            <a:xfrm>
              <a:off x="205626" y="666750"/>
              <a:ext cx="800100" cy="603250"/>
            </a:xfrm>
            <a:prstGeom prst="wedgeRoundRectCallout">
              <a:avLst>
                <a:gd name="adj1" fmla="val 80501"/>
                <a:gd name="adj2" fmla="val -65243"/>
                <a:gd name="adj3" fmla="val 16667"/>
              </a:avLst>
            </a:prstGeom>
            <a:solidFill>
              <a:srgbClr val="00B050"/>
            </a:solidFill>
            <a:ln w="12700" cap="rnd" cmpd="sng" algn="ctr">
              <a:solidFill>
                <a:srgbClr val="E87D37">
                  <a:shade val="50000"/>
                  <a:hueMod val="94000"/>
                </a:srgbClr>
              </a:solidFill>
              <a:prstDash val="solid"/>
            </a:ln>
            <a:effectLst/>
          </p:spPr>
          <p:txBody>
            <a:bodyPr wrap="square" rtlCol="1" anchor="ctr">
              <a:noAutofit/>
            </a:bodyPr>
            <a:lstStyle/>
            <a:p>
              <a:pPr marL="0" marR="0" algn="ctr" rtl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XY</a:t>
              </a:r>
              <a:r>
                <a:rPr lang="he-IL" sz="1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- פינה שמאלית עליונה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900" y="71276"/>
              <a:ext cx="444500" cy="328140"/>
            </a:xfrm>
            <a:prstGeom prst="rect">
              <a:avLst/>
            </a:prstGeom>
            <a:noFill/>
          </p:spPr>
        </p:pic>
      </p:grpSp>
      <p:sp>
        <p:nvSpPr>
          <p:cNvPr id="11" name="Oval Callout 10"/>
          <p:cNvSpPr/>
          <p:nvPr/>
        </p:nvSpPr>
        <p:spPr>
          <a:xfrm>
            <a:off x="6804248" y="2847867"/>
            <a:ext cx="2160240" cy="856595"/>
          </a:xfrm>
          <a:prstGeom prst="wedgeEllipseCallout">
            <a:avLst>
              <a:gd name="adj1" fmla="val -50600"/>
              <a:gd name="adj2" fmla="val -95432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משרטט את האובייקט לפי </a:t>
            </a:r>
            <a:r>
              <a:rPr lang="en-US" dirty="0"/>
              <a:t>bit map </a:t>
            </a:r>
          </a:p>
        </p:txBody>
      </p:sp>
      <p:pic>
        <p:nvPicPr>
          <p:cNvPr id="22" name="Picture 21"/>
          <p:cNvPicPr/>
          <p:nvPr/>
        </p:nvPicPr>
        <p:blipFill rotWithShape="1">
          <a:blip r:embed="rId3"/>
          <a:srcRect t="727" r="46068"/>
          <a:stretch/>
        </p:blipFill>
        <p:spPr>
          <a:xfrm>
            <a:off x="1119932" y="3645024"/>
            <a:ext cx="3740100" cy="2748129"/>
          </a:xfrm>
          <a:prstGeom prst="rect">
            <a:avLst/>
          </a:prstGeom>
        </p:spPr>
      </p:pic>
      <p:sp>
        <p:nvSpPr>
          <p:cNvPr id="10" name="Oval Callout 9"/>
          <p:cNvSpPr/>
          <p:nvPr/>
        </p:nvSpPr>
        <p:spPr>
          <a:xfrm>
            <a:off x="130661" y="5641861"/>
            <a:ext cx="2945207" cy="1173699"/>
          </a:xfrm>
          <a:prstGeom prst="wedgeEllipseCallout">
            <a:avLst>
              <a:gd name="adj1" fmla="val 41971"/>
              <a:gd name="adj2" fmla="val -8219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בודק אם הקואורדינטה הנתונה נמצאת בתחום האובייקט </a:t>
            </a:r>
          </a:p>
        </p:txBody>
      </p:sp>
      <p:pic>
        <p:nvPicPr>
          <p:cNvPr id="23" name="Picture 22"/>
          <p:cNvPicPr/>
          <p:nvPr/>
        </p:nvPicPr>
        <p:blipFill rotWithShape="1">
          <a:blip r:embed="rId3"/>
          <a:srcRect l="54017" b="896"/>
          <a:stretch/>
        </p:blipFill>
        <p:spPr>
          <a:xfrm>
            <a:off x="5716658" y="1223106"/>
            <a:ext cx="3188836" cy="274344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60032" y="980728"/>
            <a:ext cx="989271" cy="55446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Oval Callout 26"/>
          <p:cNvSpPr/>
          <p:nvPr/>
        </p:nvSpPr>
        <p:spPr>
          <a:xfrm>
            <a:off x="6207480" y="5019088"/>
            <a:ext cx="2698014" cy="870826"/>
          </a:xfrm>
          <a:prstGeom prst="wedgeEllipseCallout">
            <a:avLst>
              <a:gd name="adj1" fmla="val -79289"/>
              <a:gd name="adj2" fmla="val -320348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כאן להוסיף </a:t>
            </a:r>
            <a:r>
              <a:rPr lang="en-US" dirty="0"/>
              <a:t> MUX </a:t>
            </a:r>
            <a:r>
              <a:rPr lang="he-IL" dirty="0"/>
              <a:t> חכם</a:t>
            </a:r>
          </a:p>
        </p:txBody>
      </p:sp>
    </p:spTree>
    <p:extLst>
      <p:ext uri="{BB962C8B-B14F-4D97-AF65-F5344CB8AC3E}">
        <p14:creationId xmlns:p14="http://schemas.microsoft.com/office/powerpoint/2010/main" val="3551417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92D8D-58BD-42F7-A90B-58B84E18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569" y="1848892"/>
            <a:ext cx="6801799" cy="2000529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4"/>
          <a:stretch>
            <a:fillRect/>
          </a:stretch>
        </p:blipFill>
        <p:spPr>
          <a:xfrm>
            <a:off x="3221810" y="4451376"/>
            <a:ext cx="2563507" cy="1787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509" y="0"/>
            <a:ext cx="6554867" cy="1524000"/>
          </a:xfrm>
        </p:spPr>
        <p:txBody>
          <a:bodyPr/>
          <a:lstStyle/>
          <a:p>
            <a:pPr algn="ctr"/>
            <a:r>
              <a:rPr lang="en-US" dirty="0" err="1">
                <a:solidFill>
                  <a:srgbClr val="3333CC"/>
                </a:solidFill>
              </a:rPr>
              <a:t>vga</a:t>
            </a:r>
            <a:r>
              <a:rPr lang="en-US" dirty="0">
                <a:solidFill>
                  <a:srgbClr val="3333CC"/>
                </a:solidFill>
              </a:rPr>
              <a:t> controller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8" name="Oval Callout 7"/>
          <p:cNvSpPr/>
          <p:nvPr/>
        </p:nvSpPr>
        <p:spPr>
          <a:xfrm>
            <a:off x="6766314" y="5119387"/>
            <a:ext cx="2016224" cy="720080"/>
          </a:xfrm>
          <a:prstGeom prst="wedgeEllipseCallout">
            <a:avLst>
              <a:gd name="adj1" fmla="val -100962"/>
              <a:gd name="adj2" fmla="val -298904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VGA controller</a:t>
            </a:r>
            <a:endParaRPr lang="he-IL" dirty="0"/>
          </a:p>
        </p:txBody>
      </p:sp>
      <p:sp>
        <p:nvSpPr>
          <p:cNvPr id="10" name="Oval Callout 9"/>
          <p:cNvSpPr/>
          <p:nvPr/>
        </p:nvSpPr>
        <p:spPr>
          <a:xfrm>
            <a:off x="6726026" y="1437689"/>
            <a:ext cx="2016224" cy="720080"/>
          </a:xfrm>
          <a:prstGeom prst="wedgeEllipseCallout">
            <a:avLst>
              <a:gd name="adj1" fmla="val -101038"/>
              <a:gd name="adj2" fmla="val 107159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של הנקודה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0714" y="1114020"/>
            <a:ext cx="394531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 dirty="0">
                <a:solidFill>
                  <a:schemeClr val="bg2"/>
                </a:solidFill>
              </a:rPr>
              <a:t>מיצר </a:t>
            </a:r>
            <a:r>
              <a:rPr lang="en-US" sz="2000" dirty="0">
                <a:solidFill>
                  <a:schemeClr val="bg2"/>
                </a:solidFill>
              </a:rPr>
              <a:t>XY</a:t>
            </a:r>
            <a:r>
              <a:rPr lang="he-IL" sz="2000" dirty="0">
                <a:solidFill>
                  <a:schemeClr val="bg2"/>
                </a:solidFill>
              </a:rPr>
              <a:t> למשתמש</a:t>
            </a:r>
          </a:p>
          <a:p>
            <a:r>
              <a:rPr lang="he-IL" sz="2000" dirty="0">
                <a:solidFill>
                  <a:schemeClr val="bg2"/>
                </a:solidFill>
              </a:rPr>
              <a:t>מקבל מהמשתמש את הצבע לנקודה זו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309663" y="1513029"/>
            <a:ext cx="2016224" cy="720080"/>
          </a:xfrm>
          <a:prstGeom prst="wedgeEllipseCallout">
            <a:avLst>
              <a:gd name="adj1" fmla="val 54356"/>
              <a:gd name="adj2" fmla="val 94980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</a:t>
            </a:r>
            <a:r>
              <a:rPr lang="he-IL" dirty="0"/>
              <a:t>צבע של הנקודה</a:t>
            </a:r>
          </a:p>
        </p:txBody>
      </p:sp>
      <p:sp>
        <p:nvSpPr>
          <p:cNvPr id="13" name="Oval Callout 12"/>
          <p:cNvSpPr/>
          <p:nvPr/>
        </p:nvSpPr>
        <p:spPr>
          <a:xfrm>
            <a:off x="6977256" y="3845933"/>
            <a:ext cx="2016224" cy="720080"/>
          </a:xfrm>
          <a:prstGeom prst="wedgeEllipseCallout">
            <a:avLst>
              <a:gd name="adj1" fmla="val -82397"/>
              <a:gd name="adj2" fmla="val -156713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ENABLE </a:t>
            </a:r>
            <a:r>
              <a:rPr lang="he-IL" dirty="0"/>
              <a:t> איטי לתזוזה</a:t>
            </a:r>
          </a:p>
        </p:txBody>
      </p:sp>
      <p:sp>
        <p:nvSpPr>
          <p:cNvPr id="15" name="Oval Callout 7">
            <a:extLst>
              <a:ext uri="{FF2B5EF4-FFF2-40B4-BE49-F238E27FC236}">
                <a16:creationId xmlns:a16="http://schemas.microsoft.com/office/drawing/2014/main" id="{B49673BE-2D92-425D-9BC5-4B4F85D903C7}"/>
              </a:ext>
            </a:extLst>
          </p:cNvPr>
          <p:cNvSpPr/>
          <p:nvPr/>
        </p:nvSpPr>
        <p:spPr>
          <a:xfrm>
            <a:off x="899592" y="5344971"/>
            <a:ext cx="2016224" cy="976628"/>
          </a:xfrm>
          <a:prstGeom prst="wedgeEllipseCallout">
            <a:avLst>
              <a:gd name="adj1" fmla="val 149575"/>
              <a:gd name="adj2" fmla="val -3684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VGA standard signals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7510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F527D3-BB89-427E-BC4E-C2BF5DE9F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314" y="2276740"/>
            <a:ext cx="3839235" cy="27236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164" y="347132"/>
            <a:ext cx="6554867" cy="1195256"/>
          </a:xfrm>
        </p:spPr>
        <p:txBody>
          <a:bodyPr/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צבעים ב- </a:t>
            </a:r>
            <a:r>
              <a:rPr lang="en-US" dirty="0">
                <a:solidFill>
                  <a:srgbClr val="3333CC"/>
                </a:solidFill>
              </a:rPr>
              <a:t>VGA</a:t>
            </a:r>
            <a:r>
              <a:rPr lang="he-IL" dirty="0">
                <a:solidFill>
                  <a:srgbClr val="3333CC"/>
                </a:solidFill>
              </a:rPr>
              <a:t> (דחיסה ל- 8 ביט) </a:t>
            </a:r>
            <a:r>
              <a:rPr lang="en-US" dirty="0">
                <a:solidFill>
                  <a:srgbClr val="3333CC"/>
                </a:solidFill>
              </a:rPr>
              <a:t>RGB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606306"/>
              </p:ext>
            </p:extLst>
          </p:nvPr>
        </p:nvGraphicFramePr>
        <p:xfrm>
          <a:off x="875928" y="1628800"/>
          <a:ext cx="2442446" cy="3657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24398">
                  <a:extLst>
                    <a:ext uri="{9D8B030D-6E8A-4147-A177-3AD203B41FA5}">
                      <a16:colId xmlns:a16="http://schemas.microsoft.com/office/drawing/2014/main" val="242957793"/>
                    </a:ext>
                  </a:extLst>
                </a:gridCol>
                <a:gridCol w="518048">
                  <a:extLst>
                    <a:ext uri="{9D8B030D-6E8A-4147-A177-3AD203B41FA5}">
                      <a16:colId xmlns:a16="http://schemas.microsoft.com/office/drawing/2014/main" val="220832831"/>
                    </a:ext>
                  </a:extLst>
                </a:gridCol>
              </a:tblGrid>
              <a:tr h="34186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3459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R[0]</a:t>
                      </a:r>
                      <a:endParaRPr lang="he-IL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20524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R[1]</a:t>
                      </a:r>
                      <a:endParaRPr lang="he-IL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04197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R[2]</a:t>
                      </a:r>
                      <a:endParaRPr lang="he-IL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31762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G[0]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3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784231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G[1]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052133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G[2]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133917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B[0]</a:t>
                      </a:r>
                      <a:endParaRPr lang="he-IL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6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59352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B[1]</a:t>
                      </a:r>
                      <a:endParaRPr lang="he-IL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7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687153"/>
                  </a:ext>
                </a:extLst>
              </a:tr>
              <a:tr h="34186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748243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493231" y="3312071"/>
            <a:ext cx="1296009" cy="233858"/>
            <a:chOff x="3613881" y="3123133"/>
            <a:chExt cx="1296009" cy="233858"/>
          </a:xfrm>
        </p:grpSpPr>
        <p:sp>
          <p:nvSpPr>
            <p:cNvPr id="13" name="Down Arrow 12"/>
            <p:cNvSpPr/>
            <p:nvPr/>
          </p:nvSpPr>
          <p:spPr>
            <a:xfrm rot="16200000">
              <a:off x="4117208" y="3066788"/>
              <a:ext cx="233856" cy="34654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Down Arrow 13"/>
            <p:cNvSpPr/>
            <p:nvPr/>
          </p:nvSpPr>
          <p:spPr>
            <a:xfrm rot="16200000" flipH="1">
              <a:off x="3675914" y="3061101"/>
              <a:ext cx="214142" cy="33820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Down Arrow 17"/>
            <p:cNvSpPr/>
            <p:nvPr/>
          </p:nvSpPr>
          <p:spPr>
            <a:xfrm rot="16200000">
              <a:off x="4619689" y="3066789"/>
              <a:ext cx="233858" cy="34654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920777" y="2496984"/>
            <a:ext cx="564204" cy="631750"/>
            <a:chOff x="8031569" y="2878948"/>
            <a:chExt cx="346546" cy="461722"/>
          </a:xfrm>
        </p:grpSpPr>
        <p:sp>
          <p:nvSpPr>
            <p:cNvPr id="20" name="Down Arrow 19"/>
            <p:cNvSpPr/>
            <p:nvPr/>
          </p:nvSpPr>
          <p:spPr>
            <a:xfrm rot="16200000">
              <a:off x="8129455" y="3092010"/>
              <a:ext cx="150774" cy="34654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Down Arrow 20"/>
            <p:cNvSpPr/>
            <p:nvPr/>
          </p:nvSpPr>
          <p:spPr>
            <a:xfrm rot="16200000" flipH="1">
              <a:off x="8135812" y="2940061"/>
              <a:ext cx="138062" cy="33820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Down Arrow 21"/>
            <p:cNvSpPr/>
            <p:nvPr/>
          </p:nvSpPr>
          <p:spPr>
            <a:xfrm rot="16200000">
              <a:off x="8129455" y="2781063"/>
              <a:ext cx="150775" cy="34654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485663" y="3616424"/>
            <a:ext cx="1296009" cy="233858"/>
            <a:chOff x="3613881" y="3123133"/>
            <a:chExt cx="1296009" cy="233858"/>
          </a:xfrm>
        </p:grpSpPr>
        <p:sp>
          <p:nvSpPr>
            <p:cNvPr id="24" name="Down Arrow 23"/>
            <p:cNvSpPr/>
            <p:nvPr/>
          </p:nvSpPr>
          <p:spPr>
            <a:xfrm rot="16200000">
              <a:off x="4117208" y="3066788"/>
              <a:ext cx="233856" cy="34654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5" name="Down Arrow 24"/>
            <p:cNvSpPr/>
            <p:nvPr/>
          </p:nvSpPr>
          <p:spPr>
            <a:xfrm rot="16200000" flipH="1">
              <a:off x="3675914" y="3061101"/>
              <a:ext cx="214142" cy="338207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Down Arrow 25"/>
            <p:cNvSpPr/>
            <p:nvPr/>
          </p:nvSpPr>
          <p:spPr>
            <a:xfrm rot="16200000">
              <a:off x="4619689" y="3066789"/>
              <a:ext cx="233858" cy="34654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5" name="Oval Callout 4"/>
          <p:cNvSpPr/>
          <p:nvPr/>
        </p:nvSpPr>
        <p:spPr>
          <a:xfrm>
            <a:off x="3190618" y="5578478"/>
            <a:ext cx="1598622" cy="504056"/>
          </a:xfrm>
          <a:prstGeom prst="wedgeEllipseCallout">
            <a:avLst>
              <a:gd name="adj1" fmla="val -16438"/>
              <a:gd name="adj2" fmla="val -2113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8 Bit</a:t>
            </a:r>
            <a:endParaRPr lang="he-IL" dirty="0"/>
          </a:p>
        </p:txBody>
      </p:sp>
      <p:sp>
        <p:nvSpPr>
          <p:cNvPr id="27" name="Oval Callout 26"/>
          <p:cNvSpPr/>
          <p:nvPr/>
        </p:nvSpPr>
        <p:spPr>
          <a:xfrm>
            <a:off x="7308304" y="4538785"/>
            <a:ext cx="1598622" cy="504056"/>
          </a:xfrm>
          <a:prstGeom prst="wedgeEllipseCallout">
            <a:avLst>
              <a:gd name="adj1" fmla="val 2812"/>
              <a:gd name="adj2" fmla="val -2671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8 Bit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4355976" y="1445743"/>
            <a:ext cx="392383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solidFill>
                  <a:schemeClr val="accent1"/>
                </a:solidFill>
              </a:rPr>
              <a:t>משמש לאפסון יעיל של </a:t>
            </a:r>
            <a:r>
              <a:rPr lang="en-US" sz="2400" dirty="0">
                <a:solidFill>
                  <a:schemeClr val="accent1"/>
                </a:solidFill>
              </a:rPr>
              <a:t>BITMAP </a:t>
            </a:r>
            <a:r>
              <a:rPr lang="he-IL" sz="2400" dirty="0">
                <a:solidFill>
                  <a:schemeClr val="accent1"/>
                </a:solidFill>
              </a:rPr>
              <a:t> ולחסכון בלוגיקה </a:t>
            </a:r>
          </a:p>
        </p:txBody>
      </p:sp>
    </p:spTree>
    <p:extLst>
      <p:ext uri="{BB962C8B-B14F-4D97-AF65-F5344CB8AC3E}">
        <p14:creationId xmlns:p14="http://schemas.microsoft.com/office/powerpoint/2010/main" val="2074720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8" y="214313"/>
            <a:ext cx="5268912" cy="93345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rgbClr val="3333CC"/>
                </a:solidFill>
              </a:rPr>
              <a:t>בורר הצגת עצמים  </a:t>
            </a:r>
            <a:r>
              <a:rPr lang="en-US" dirty="0">
                <a:solidFill>
                  <a:srgbClr val="3333CC"/>
                </a:solidFill>
              </a:rPr>
              <a:t>MUX 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90125" y="1360961"/>
            <a:ext cx="75963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יש להציג פריט אחד מעל השני </a:t>
            </a: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בורר העדיפויות יציג את העליון- אלא אם כן אין  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Drawing Request</a:t>
            </a:r>
            <a:endParaRPr lang="he-IL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7" name="Down Arrow 6"/>
          <p:cNvSpPr/>
          <p:nvPr/>
        </p:nvSpPr>
        <p:spPr>
          <a:xfrm rot="5400000" flipV="1">
            <a:off x="7973216" y="3189533"/>
            <a:ext cx="321659" cy="826807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/>
          </a:p>
        </p:txBody>
      </p:sp>
      <p:sp>
        <p:nvSpPr>
          <p:cNvPr id="10" name="Rectangle 9"/>
          <p:cNvSpPr/>
          <p:nvPr/>
        </p:nvSpPr>
        <p:spPr>
          <a:xfrm>
            <a:off x="7234620" y="3345720"/>
            <a:ext cx="570795" cy="507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RGB</a:t>
            </a:r>
            <a:endParaRPr lang="he-IL" sz="1400" dirty="0"/>
          </a:p>
        </p:txBody>
      </p:sp>
      <p:sp>
        <p:nvSpPr>
          <p:cNvPr id="12" name="Rectangle 11"/>
          <p:cNvSpPr/>
          <p:nvPr/>
        </p:nvSpPr>
        <p:spPr>
          <a:xfrm>
            <a:off x="6084168" y="3345720"/>
            <a:ext cx="570795" cy="507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mux</a:t>
            </a:r>
            <a:endParaRPr lang="he-IL" sz="1400" dirty="0"/>
          </a:p>
        </p:txBody>
      </p:sp>
      <p:sp>
        <p:nvSpPr>
          <p:cNvPr id="17" name="Down Arrow 16"/>
          <p:cNvSpPr/>
          <p:nvPr/>
        </p:nvSpPr>
        <p:spPr>
          <a:xfrm rot="5400000" flipV="1">
            <a:off x="6784463" y="3312607"/>
            <a:ext cx="321659" cy="580659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/>
          </a:p>
        </p:txBody>
      </p:sp>
      <p:cxnSp>
        <p:nvCxnSpPr>
          <p:cNvPr id="19" name="Elbow Connector 18"/>
          <p:cNvCxnSpPr>
            <a:stCxn id="20" idx="3"/>
          </p:cNvCxnSpPr>
          <p:nvPr/>
        </p:nvCxnSpPr>
        <p:spPr>
          <a:xfrm>
            <a:off x="5263307" y="2780248"/>
            <a:ext cx="844792" cy="66808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07114" y="2526421"/>
            <a:ext cx="856193" cy="5076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#1</a:t>
            </a:r>
            <a:endParaRPr lang="he-IL" sz="1400" dirty="0"/>
          </a:p>
        </p:txBody>
      </p:sp>
      <p:cxnSp>
        <p:nvCxnSpPr>
          <p:cNvPr id="30" name="Elbow Connector 29"/>
          <p:cNvCxnSpPr>
            <a:stCxn id="32" idx="3"/>
            <a:endCxn id="12" idx="1"/>
          </p:cNvCxnSpPr>
          <p:nvPr/>
        </p:nvCxnSpPr>
        <p:spPr>
          <a:xfrm flipV="1">
            <a:off x="5188293" y="3599547"/>
            <a:ext cx="895875" cy="226741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55976" y="5579511"/>
            <a:ext cx="832317" cy="574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#2</a:t>
            </a:r>
            <a:endParaRPr lang="he-IL" dirty="0"/>
          </a:p>
        </p:txBody>
      </p:sp>
      <p:cxnSp>
        <p:nvCxnSpPr>
          <p:cNvPr id="38" name="Elbow Connector 37"/>
          <p:cNvCxnSpPr>
            <a:stCxn id="20" idx="2"/>
          </p:cNvCxnSpPr>
          <p:nvPr/>
        </p:nvCxnSpPr>
        <p:spPr>
          <a:xfrm rot="16200000" flipH="1">
            <a:off x="5094844" y="2774441"/>
            <a:ext cx="729691" cy="1248957"/>
          </a:xfrm>
          <a:prstGeom prst="bentConnector2">
            <a:avLst/>
          </a:prstGeom>
          <a:ln w="57150">
            <a:solidFill>
              <a:srgbClr val="0066FF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328673" y="3808901"/>
            <a:ext cx="20313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Drawing Request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5536" y="2517628"/>
            <a:ext cx="2088232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Rectangle 25"/>
          <p:cNvSpPr/>
          <p:nvPr/>
        </p:nvSpPr>
        <p:spPr>
          <a:xfrm>
            <a:off x="971600" y="2996952"/>
            <a:ext cx="2088232" cy="16561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Rectangle 21"/>
          <p:cNvSpPr/>
          <p:nvPr/>
        </p:nvSpPr>
        <p:spPr>
          <a:xfrm>
            <a:off x="1588498" y="5540517"/>
            <a:ext cx="2925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הרקע מוצג תמיד לכן אין לו  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Drawing Request</a:t>
            </a:r>
            <a:endParaRPr lang="he-IL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8660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0457CD-996F-4B33-884B-212F3C540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2259182"/>
            <a:ext cx="4753638" cy="3372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360" y="24901"/>
            <a:ext cx="6554867" cy="1524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MUX  - Priority 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Oval Callout 4"/>
          <p:cNvSpPr/>
          <p:nvPr/>
        </p:nvSpPr>
        <p:spPr>
          <a:xfrm>
            <a:off x="1015064" y="2484919"/>
            <a:ext cx="1440160" cy="720080"/>
          </a:xfrm>
          <a:prstGeom prst="wedgeEllipseCallout">
            <a:avLst>
              <a:gd name="adj1" fmla="val 76333"/>
              <a:gd name="adj2" fmla="val 109979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הסמיילי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5206994" y="5791662"/>
            <a:ext cx="1440160" cy="720080"/>
          </a:xfrm>
          <a:prstGeom prst="wedgeEllipseCallout">
            <a:avLst>
              <a:gd name="adj1" fmla="val -23886"/>
              <a:gd name="adj2" fmla="val -10722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MUX</a:t>
            </a:r>
            <a:endParaRPr lang="he-IL" dirty="0"/>
          </a:p>
        </p:txBody>
      </p:sp>
      <p:sp>
        <p:nvSpPr>
          <p:cNvPr id="9" name="Oval Callout 8"/>
          <p:cNvSpPr/>
          <p:nvPr/>
        </p:nvSpPr>
        <p:spPr>
          <a:xfrm>
            <a:off x="691028" y="5631503"/>
            <a:ext cx="2088232" cy="720080"/>
          </a:xfrm>
          <a:prstGeom prst="wedgeEllipseCallout">
            <a:avLst>
              <a:gd name="adj1" fmla="val 50476"/>
              <a:gd name="adj2" fmla="val -156007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ציור הרקע הסטטי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5831" y="1226497"/>
            <a:ext cx="4086375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bg2"/>
                </a:solidFill>
              </a:rPr>
              <a:t>בלוגיקה יש לבחור מה להציג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he-IL" sz="2400" dirty="0">
                <a:solidFill>
                  <a:schemeClr val="bg2"/>
                </a:solidFill>
              </a:rPr>
              <a:t>יציאה לתצוגה - 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he-IL" sz="2400" dirty="0">
                <a:solidFill>
                  <a:schemeClr val="bg2"/>
                </a:solidFill>
              </a:rPr>
              <a:t>8 </a:t>
            </a:r>
            <a:r>
              <a:rPr lang="en-US" sz="2400" dirty="0">
                <a:solidFill>
                  <a:schemeClr val="bg2"/>
                </a:solidFill>
              </a:rPr>
              <a:t> BIT</a:t>
            </a:r>
            <a:endParaRPr lang="he-IL" sz="2400" dirty="0">
              <a:solidFill>
                <a:schemeClr val="bg2"/>
              </a:solidFill>
            </a:endParaRPr>
          </a:p>
        </p:txBody>
      </p:sp>
      <p:sp>
        <p:nvSpPr>
          <p:cNvPr id="12" name="Oval Callout 11"/>
          <p:cNvSpPr/>
          <p:nvPr/>
        </p:nvSpPr>
        <p:spPr>
          <a:xfrm>
            <a:off x="892206" y="3530202"/>
            <a:ext cx="1440160" cy="720080"/>
          </a:xfrm>
          <a:prstGeom prst="wedgeEllipseCallout">
            <a:avLst>
              <a:gd name="adj1" fmla="val 77881"/>
              <a:gd name="adj2" fmla="val 29451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אובייקט נוסף</a:t>
            </a:r>
          </a:p>
        </p:txBody>
      </p:sp>
    </p:spTree>
    <p:extLst>
      <p:ext uri="{BB962C8B-B14F-4D97-AF65-F5344CB8AC3E}">
        <p14:creationId xmlns:p14="http://schemas.microsoft.com/office/powerpoint/2010/main" val="3930926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0"/>
            <a:ext cx="6554867" cy="1524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MUX</a:t>
            </a:r>
            <a:r>
              <a:rPr lang="he-IL" dirty="0">
                <a:solidFill>
                  <a:srgbClr val="3333CC"/>
                </a:solidFill>
              </a:rPr>
              <a:t> - הירארכיה </a:t>
            </a:r>
            <a:r>
              <a:rPr lang="en-US" dirty="0">
                <a:solidFill>
                  <a:srgbClr val="3333CC"/>
                </a:solidFill>
              </a:rPr>
              <a:t> 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39952" y="2189049"/>
            <a:ext cx="3928144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solidFill>
                  <a:schemeClr val="bg2"/>
                </a:solidFill>
              </a:rPr>
              <a:t>שימו לב </a:t>
            </a:r>
          </a:p>
          <a:p>
            <a:r>
              <a:rPr lang="he-IL" sz="2400" dirty="0">
                <a:solidFill>
                  <a:schemeClr val="bg2"/>
                </a:solidFill>
              </a:rPr>
              <a:t>כשהוא גדול מדי – כדאי לחלקו הירארכית </a:t>
            </a:r>
          </a:p>
          <a:p>
            <a:r>
              <a:rPr lang="he-IL" sz="2400" dirty="0">
                <a:solidFill>
                  <a:schemeClr val="bg2"/>
                </a:solidFill>
              </a:rPr>
              <a:t>¼ גמר </a:t>
            </a:r>
            <a:r>
              <a:rPr lang="he-IL" sz="2400" dirty="0">
                <a:solidFill>
                  <a:schemeClr val="bg2"/>
                </a:solidFill>
                <a:sym typeface="Wingdings" panose="05000000000000000000" pitchFamily="2" charset="2"/>
              </a:rPr>
              <a:t>  </a:t>
            </a:r>
            <a:r>
              <a:rPr lang="he-IL" sz="2400" dirty="0">
                <a:solidFill>
                  <a:schemeClr val="bg2"/>
                </a:solidFill>
              </a:rPr>
              <a:t> ½ גמר </a:t>
            </a:r>
            <a:r>
              <a:rPr lang="he-IL" sz="2400" dirty="0">
                <a:solidFill>
                  <a:schemeClr val="bg2"/>
                </a:solidFill>
                <a:sym typeface="Wingdings" panose="05000000000000000000" pitchFamily="2" charset="2"/>
              </a:rPr>
              <a:t> </a:t>
            </a:r>
            <a:r>
              <a:rPr lang="he-IL" sz="2400" dirty="0">
                <a:solidFill>
                  <a:schemeClr val="bg2"/>
                </a:solidFill>
              </a:rPr>
              <a:t>  גמר </a:t>
            </a:r>
          </a:p>
          <a:p>
            <a:endParaRPr lang="he-IL" sz="2400" dirty="0">
              <a:solidFill>
                <a:schemeClr val="bg2"/>
              </a:solidFill>
            </a:endParaRPr>
          </a:p>
          <a:p>
            <a:r>
              <a:rPr lang="he-IL" sz="2400" dirty="0">
                <a:solidFill>
                  <a:schemeClr val="bg2"/>
                </a:solidFill>
              </a:rPr>
              <a:t>אל תחזיקו "מפלצות"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endParaRPr lang="he-IL" sz="2400" dirty="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00305"/>
            <a:ext cx="3048841" cy="4861665"/>
          </a:xfrm>
          <a:prstGeom prst="rect">
            <a:avLst/>
          </a:prstGeom>
        </p:spPr>
      </p:pic>
      <p:pic>
        <p:nvPicPr>
          <p:cNvPr id="2050" name="Picture 2" descr="Smiley Sadness Emoticon Clip Art, PNG, 758x721px, Smiley, Blog, Crying,  Emoticon, Face Download Free">
            <a:extLst>
              <a:ext uri="{FF2B5EF4-FFF2-40B4-BE49-F238E27FC236}">
                <a16:creationId xmlns:a16="http://schemas.microsoft.com/office/drawing/2014/main" id="{43D640C3-0467-4FD8-822A-A2BD243E4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515467"/>
            <a:ext cx="1712524" cy="150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457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387" y="-27285"/>
            <a:ext cx="6721903" cy="1524000"/>
          </a:xfrm>
        </p:spPr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תנועת הסמיילי </a:t>
            </a:r>
            <a:r>
              <a:rPr lang="en-US" b="1" u="sng" dirty="0">
                <a:solidFill>
                  <a:srgbClr val="3333CC"/>
                </a:solidFill>
              </a:rPr>
              <a:t>SMILY-Face-MOVE</a:t>
            </a:r>
            <a:endParaRPr lang="he-IL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Oval Callout 5"/>
          <p:cNvSpPr/>
          <p:nvPr/>
        </p:nvSpPr>
        <p:spPr>
          <a:xfrm>
            <a:off x="6966745" y="4339336"/>
            <a:ext cx="1699708" cy="720080"/>
          </a:xfrm>
          <a:prstGeom prst="wedgeEllipseCallout">
            <a:avLst>
              <a:gd name="adj1" fmla="val -85644"/>
              <a:gd name="adj2" fmla="val -4904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מכונה להזזת עצם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6228184" y="1524000"/>
            <a:ext cx="2688213" cy="939262"/>
          </a:xfrm>
          <a:prstGeom prst="wedgeEllipseCallout">
            <a:avLst>
              <a:gd name="adj1" fmla="val -46618"/>
              <a:gd name="adj2" fmla="val 184905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- פינה שמאלית עליונה של הסמיילי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51" y="5406746"/>
            <a:ext cx="7948010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>
                <a:solidFill>
                  <a:schemeClr val="bg2"/>
                </a:solidFill>
              </a:rPr>
              <a:t>פעולה - חישוב תנועת הפינה העליונה שמאלית של ה-</a:t>
            </a:r>
            <a:r>
              <a:rPr lang="en-US" sz="2400" b="1" dirty="0">
                <a:solidFill>
                  <a:schemeClr val="bg2"/>
                </a:solidFill>
              </a:rPr>
              <a:t>SMILEY</a:t>
            </a:r>
            <a:r>
              <a:rPr lang="he-IL" sz="2400" b="1" dirty="0">
                <a:solidFill>
                  <a:schemeClr val="bg2"/>
                </a:solidFill>
              </a:rPr>
              <a:t> </a:t>
            </a:r>
          </a:p>
          <a:p>
            <a:r>
              <a:rPr lang="he-IL" sz="2400" b="1" dirty="0">
                <a:solidFill>
                  <a:schemeClr val="bg2"/>
                </a:solidFill>
              </a:rPr>
              <a:t>על פי משוואות תנועה, לפי כיוון </a:t>
            </a:r>
            <a:r>
              <a:rPr lang="en-US" sz="2400" b="1" dirty="0">
                <a:solidFill>
                  <a:schemeClr val="bg2"/>
                </a:solidFill>
              </a:rPr>
              <a:t>X</a:t>
            </a:r>
            <a:r>
              <a:rPr lang="he-IL" sz="2400" b="1" dirty="0">
                <a:solidFill>
                  <a:schemeClr val="bg2"/>
                </a:solidFill>
              </a:rPr>
              <a:t> ו-</a:t>
            </a:r>
            <a:r>
              <a:rPr lang="en-US" sz="2400" b="1" dirty="0">
                <a:solidFill>
                  <a:schemeClr val="bg2"/>
                </a:solidFill>
              </a:rPr>
              <a:t>Y</a:t>
            </a:r>
            <a:endParaRPr lang="he-IL" sz="2400" b="1" dirty="0">
              <a:solidFill>
                <a:schemeClr val="bg2"/>
              </a:solidFill>
            </a:endParaRPr>
          </a:p>
        </p:txBody>
      </p:sp>
      <p:sp>
        <p:nvSpPr>
          <p:cNvPr id="14" name="Oval Callout 13"/>
          <p:cNvSpPr/>
          <p:nvPr/>
        </p:nvSpPr>
        <p:spPr>
          <a:xfrm>
            <a:off x="473323" y="1600538"/>
            <a:ext cx="2376264" cy="1234128"/>
          </a:xfrm>
          <a:prstGeom prst="wedgeEllipseCallout">
            <a:avLst>
              <a:gd name="adj1" fmla="val 70235"/>
              <a:gd name="adj2" fmla="val 139953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TRIGGER </a:t>
            </a:r>
            <a:r>
              <a:rPr lang="he-IL" dirty="0"/>
              <a:t> איטי</a:t>
            </a:r>
          </a:p>
          <a:p>
            <a:pPr algn="ctr"/>
            <a:r>
              <a:rPr lang="he-IL" dirty="0"/>
              <a:t>עבור תנועה מבקר ה- </a:t>
            </a:r>
            <a:r>
              <a:rPr lang="en-US" dirty="0"/>
              <a:t>VGA</a:t>
            </a:r>
            <a:r>
              <a:rPr lang="he-IL" dirty="0"/>
              <a:t> </a:t>
            </a:r>
          </a:p>
        </p:txBody>
      </p:sp>
      <p:sp>
        <p:nvSpPr>
          <p:cNvPr id="15" name="Oval Callout 14"/>
          <p:cNvSpPr/>
          <p:nvPr/>
        </p:nvSpPr>
        <p:spPr>
          <a:xfrm>
            <a:off x="46691" y="2700876"/>
            <a:ext cx="2196244" cy="1234128"/>
          </a:xfrm>
          <a:prstGeom prst="wedgeEllipseCallout">
            <a:avLst>
              <a:gd name="adj1" fmla="val 98742"/>
              <a:gd name="adj2" fmla="val 74428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שליטה בתנועת הסמיילי מהמקלדת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529094"/>
            <a:ext cx="2838846" cy="3705742"/>
          </a:xfrm>
          <a:prstGeom prst="rect">
            <a:avLst/>
          </a:prstGeom>
        </p:spPr>
      </p:pic>
      <p:sp>
        <p:nvSpPr>
          <p:cNvPr id="11" name="Oval Callout 10"/>
          <p:cNvSpPr/>
          <p:nvPr/>
        </p:nvSpPr>
        <p:spPr>
          <a:xfrm>
            <a:off x="68299" y="4106914"/>
            <a:ext cx="2196244" cy="1234128"/>
          </a:xfrm>
          <a:prstGeom prst="wedgeEllipseCallout">
            <a:avLst>
              <a:gd name="adj1" fmla="val 104579"/>
              <a:gd name="adj2" fmla="val -7282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זיהוי ההתנגשות וכיוונה</a:t>
            </a:r>
          </a:p>
        </p:txBody>
      </p:sp>
    </p:spTree>
    <p:extLst>
      <p:ext uri="{BB962C8B-B14F-4D97-AF65-F5344CB8AC3E}">
        <p14:creationId xmlns:p14="http://schemas.microsoft.com/office/powerpoint/2010/main" val="33725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042" y="4359822"/>
            <a:ext cx="4106666" cy="11119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953" y="6395"/>
            <a:ext cx="6784232" cy="1524000"/>
          </a:xfrm>
        </p:spPr>
        <p:txBody>
          <a:bodyPr/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שרטוט הסמיילי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276872"/>
            <a:ext cx="6554867" cy="37676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005952" y="1020570"/>
            <a:ext cx="6934904" cy="2768257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57351" y="1988840"/>
            <a:ext cx="988089" cy="1440160"/>
            <a:chOff x="205626" y="71276"/>
            <a:chExt cx="835774" cy="1198724"/>
          </a:xfrm>
        </p:grpSpPr>
        <p:sp>
          <p:nvSpPr>
            <p:cNvPr id="8" name="Rounded Rectangular Callout 7"/>
            <p:cNvSpPr/>
            <p:nvPr/>
          </p:nvSpPr>
          <p:spPr>
            <a:xfrm>
              <a:off x="205626" y="666750"/>
              <a:ext cx="800100" cy="603250"/>
            </a:xfrm>
            <a:prstGeom prst="wedgeRoundRectCallout">
              <a:avLst>
                <a:gd name="adj1" fmla="val 80501"/>
                <a:gd name="adj2" fmla="val -65243"/>
                <a:gd name="adj3" fmla="val 16667"/>
              </a:avLst>
            </a:prstGeom>
            <a:solidFill>
              <a:srgbClr val="00B050"/>
            </a:solidFill>
            <a:ln w="12700" cap="rnd" cmpd="sng" algn="ctr">
              <a:solidFill>
                <a:srgbClr val="E87D37">
                  <a:shade val="50000"/>
                  <a:hueMod val="94000"/>
                </a:srgbClr>
              </a:solidFill>
              <a:prstDash val="solid"/>
            </a:ln>
            <a:effectLst/>
          </p:spPr>
          <p:txBody>
            <a:bodyPr wrap="square" rtlCol="1" anchor="ctr">
              <a:noAutofit/>
            </a:bodyPr>
            <a:lstStyle/>
            <a:p>
              <a:pPr marL="0" marR="0" algn="ctr" rtl="1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XY</a:t>
              </a:r>
              <a:r>
                <a:rPr lang="he-IL" sz="10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- פינה שמאלית עליונה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900" y="71276"/>
              <a:ext cx="444500" cy="328140"/>
            </a:xfrm>
            <a:prstGeom prst="rect">
              <a:avLst/>
            </a:prstGeom>
            <a:noFill/>
          </p:spPr>
        </p:pic>
      </p:grpSp>
      <p:sp>
        <p:nvSpPr>
          <p:cNvPr id="10" name="Oval Callout 9"/>
          <p:cNvSpPr/>
          <p:nvPr/>
        </p:nvSpPr>
        <p:spPr>
          <a:xfrm>
            <a:off x="258641" y="4055501"/>
            <a:ext cx="2945207" cy="1173699"/>
          </a:xfrm>
          <a:prstGeom prst="wedgeEllipseCallout">
            <a:avLst>
              <a:gd name="adj1" fmla="val 17510"/>
              <a:gd name="adj2" fmla="val -14122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בודק אם הקואורדינטה הנתונה נמצאת בתחום האובייקט 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6804248" y="2847867"/>
            <a:ext cx="2160240" cy="856595"/>
          </a:xfrm>
          <a:prstGeom prst="wedgeEllipseCallout">
            <a:avLst>
              <a:gd name="adj1" fmla="val -50600"/>
              <a:gd name="adj2" fmla="val -95432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משרטט את האובייקט לפי </a:t>
            </a:r>
            <a:r>
              <a:rPr lang="en-US" dirty="0"/>
              <a:t>bit map </a:t>
            </a:r>
          </a:p>
        </p:txBody>
      </p:sp>
      <p:pic>
        <p:nvPicPr>
          <p:cNvPr id="13" name="Picture 4" descr="קובץ:Smiley.sv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98536" y="4164650"/>
            <a:ext cx="1169550" cy="1169550"/>
          </a:xfrm>
          <a:prstGeom prst="rect">
            <a:avLst/>
          </a:prstGeom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>
            <a:off x="4977245" y="4409929"/>
            <a:ext cx="1241571" cy="389287"/>
          </a:xfrm>
          <a:prstGeom prst="straightConnector1">
            <a:avLst/>
          </a:prstGeom>
          <a:ln w="57150">
            <a:solidFill>
              <a:srgbClr val="052F61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37617" y="4511252"/>
            <a:ext cx="808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X0 Y0</a:t>
            </a:r>
            <a:endParaRPr lang="he-IL" dirty="0">
              <a:solidFill>
                <a:srgbClr val="7030A0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887329" y="2688387"/>
            <a:ext cx="1663342" cy="874725"/>
            <a:chOff x="4887329" y="2688387"/>
            <a:chExt cx="1663342" cy="943467"/>
          </a:xfrm>
        </p:grpSpPr>
        <p:sp>
          <p:nvSpPr>
            <p:cNvPr id="26" name="Oval Callout 25"/>
            <p:cNvSpPr/>
            <p:nvPr/>
          </p:nvSpPr>
          <p:spPr>
            <a:xfrm>
              <a:off x="4892012" y="2688387"/>
              <a:ext cx="1658659" cy="939262"/>
            </a:xfrm>
            <a:prstGeom prst="wedgeEllipseCallout">
              <a:avLst>
                <a:gd name="adj1" fmla="val -113281"/>
                <a:gd name="adj2" fmla="val 118694"/>
              </a:avLst>
            </a:prstGeom>
            <a:solidFill>
              <a:srgbClr val="00B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 XY</a:t>
              </a:r>
              <a:r>
                <a:rPr lang="he-IL" dirty="0"/>
                <a:t>- פינה שמאלית עליונה</a:t>
              </a:r>
            </a:p>
          </p:txBody>
        </p:sp>
        <p:sp>
          <p:nvSpPr>
            <p:cNvPr id="27" name="Oval Callout 26"/>
            <p:cNvSpPr/>
            <p:nvPr/>
          </p:nvSpPr>
          <p:spPr>
            <a:xfrm>
              <a:off x="4887329" y="2692592"/>
              <a:ext cx="1658659" cy="939262"/>
            </a:xfrm>
            <a:prstGeom prst="wedgeEllipseCallout">
              <a:avLst>
                <a:gd name="adj1" fmla="val 35630"/>
                <a:gd name="adj2" fmla="val 112395"/>
              </a:avLst>
            </a:prstGeom>
            <a:solidFill>
              <a:srgbClr val="00B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 XY</a:t>
              </a:r>
              <a:r>
                <a:rPr lang="he-IL" dirty="0"/>
                <a:t>- פינה שמאלית עליונה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971286" y="6059864"/>
            <a:ext cx="604203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>
                <a:solidFill>
                  <a:schemeClr val="bg2"/>
                </a:solidFill>
              </a:rPr>
              <a:t>פעולה –לפי המרחק מהפינה השמאלית העליונה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2813" y="5584826"/>
            <a:ext cx="3201517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dirty="0">
                <a:solidFill>
                  <a:schemeClr val="bg2"/>
                </a:solidFill>
              </a:rPr>
              <a:t>אם צבע הפיקסל </a:t>
            </a:r>
            <a:r>
              <a:rPr lang="en-US" sz="1600" dirty="0">
                <a:solidFill>
                  <a:schemeClr val="bg2"/>
                </a:solidFill>
              </a:rPr>
              <a:t>8’FF </a:t>
            </a:r>
            <a:r>
              <a:rPr lang="he-IL" sz="1600" dirty="0">
                <a:solidFill>
                  <a:schemeClr val="bg2"/>
                </a:solidFill>
              </a:rPr>
              <a:t> הפיקסל שקוף </a:t>
            </a:r>
          </a:p>
        </p:txBody>
      </p:sp>
    </p:spTree>
    <p:extLst>
      <p:ext uri="{BB962C8B-B14F-4D97-AF65-F5344CB8AC3E}">
        <p14:creationId xmlns:p14="http://schemas.microsoft.com/office/powerpoint/2010/main" val="569520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6554867" cy="1524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Back-ground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5303A-C264-4D52-93A2-0003C50B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944560"/>
            <a:ext cx="4280852" cy="3525865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3347864" y="5193360"/>
            <a:ext cx="2088232" cy="720080"/>
          </a:xfrm>
          <a:prstGeom prst="wedgeEllipseCallout">
            <a:avLst>
              <a:gd name="adj1" fmla="val 18093"/>
              <a:gd name="adj2" fmla="val -20960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ציור הרקע הסטטי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C51D4-8146-46E2-B3ED-0189B5390536}"/>
              </a:ext>
            </a:extLst>
          </p:cNvPr>
          <p:cNvSpPr txBox="1"/>
          <p:nvPr/>
        </p:nvSpPr>
        <p:spPr>
          <a:xfrm>
            <a:off x="5537704" y="4509956"/>
            <a:ext cx="1778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קובץ </a:t>
            </a:r>
            <a:r>
              <a:rPr lang="en-US" dirty="0">
                <a:solidFill>
                  <a:schemeClr val="bg1"/>
                </a:solidFill>
              </a:rPr>
              <a:t>MIF</a:t>
            </a:r>
            <a:r>
              <a:rPr lang="he-IL" dirty="0">
                <a:solidFill>
                  <a:schemeClr val="bg1"/>
                </a:solidFill>
              </a:rPr>
              <a:t> שמכיל את הרקע הסטטי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Oval Callout 8">
            <a:extLst>
              <a:ext uri="{FF2B5EF4-FFF2-40B4-BE49-F238E27FC236}">
                <a16:creationId xmlns:a16="http://schemas.microsoft.com/office/drawing/2014/main" id="{2C632E61-7234-40C9-B0F0-383E68A48C7E}"/>
              </a:ext>
            </a:extLst>
          </p:cNvPr>
          <p:cNvSpPr/>
          <p:nvPr/>
        </p:nvSpPr>
        <p:spPr>
          <a:xfrm>
            <a:off x="7020272" y="1988840"/>
            <a:ext cx="1904588" cy="934623"/>
          </a:xfrm>
          <a:prstGeom prst="wedgeEllipseCallout">
            <a:avLst>
              <a:gd name="adj1" fmla="val -112955"/>
              <a:gd name="adj2" fmla="val -23196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שם קובץ הרקע עם סיומת </a:t>
            </a:r>
            <a:r>
              <a:rPr lang="en-US" dirty="0"/>
              <a:t>MIF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16388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03648" y="332656"/>
            <a:ext cx="5908170" cy="932752"/>
          </a:xfrm>
        </p:spPr>
        <p:txBody>
          <a:bodyPr>
            <a:normAutofit fontScale="90000"/>
          </a:bodyPr>
          <a:lstStyle/>
          <a:p>
            <a:pPr algn="r"/>
            <a:r>
              <a:rPr lang="he-IL" b="1" u="sng" dirty="0" err="1">
                <a:solidFill>
                  <a:srgbClr val="3333CC"/>
                </a:solidFill>
              </a:rPr>
              <a:t>אופטימיזציות</a:t>
            </a:r>
            <a:r>
              <a:rPr lang="he-IL" b="1" u="sng" dirty="0">
                <a:solidFill>
                  <a:srgbClr val="3333CC"/>
                </a:solidFill>
              </a:rPr>
              <a:t> לקומפילציה מהירה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74857" y="1147639"/>
            <a:ext cx="7596336" cy="3762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300"/>
              </a:spcAft>
              <a:tabLst>
                <a:tab pos="566420" algn="l"/>
              </a:tabLst>
            </a:pPr>
            <a:endParaRPr lang="he-IL" sz="2000" b="1" i="1" kern="0" dirty="0">
              <a:solidFill>
                <a:srgbClr val="222222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Arial" panose="020B0604020202020204" pitchFamily="34" charset="0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מהר מאוד ה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BITMAPS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יהיו ענקיים – וזמן הקומפילציה יהיה לא סביר</a:t>
            </a: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ישנם מספר דרכים לחסוך: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יצירת רקע המרצפות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TILES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טבלה של עצמים דומים (טיפול במרצפות דינמיות)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r>
              <a:rPr lang="he-IL" strike="sngStrike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שימוש בקובץ </a:t>
            </a:r>
            <a:r>
              <a:rPr lang="en-US" strike="sngStrike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MIF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יש להגביל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BITMAP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ל 32*32 גם אם הוא קצת פחות יפה </a:t>
            </a: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AutoNum type="arabicPeriod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הקטנת הרזולוציה, באמצעות הכלי הבא 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751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21" y="3861048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2359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48259" y="306516"/>
            <a:ext cx="5268912" cy="933450"/>
          </a:xfrm>
        </p:spPr>
        <p:txBody>
          <a:bodyPr>
            <a:normAutofit/>
          </a:bodyPr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זיהוי התנגשות </a:t>
            </a:r>
            <a:r>
              <a:rPr lang="en-US" dirty="0">
                <a:solidFill>
                  <a:srgbClr val="3333CC"/>
                </a:solidFill>
              </a:rPr>
              <a:t>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MUX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של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VGA</a:t>
            </a:r>
            <a:endParaRPr lang="en-US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53156" y="1528942"/>
            <a:ext cx="7596336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300"/>
              </a:spcAft>
              <a:tabLst>
                <a:tab pos="566420" algn="l"/>
              </a:tabLst>
            </a:pPr>
            <a:endParaRPr lang="he-IL" sz="2000" b="1" i="1" kern="0" dirty="0">
              <a:solidFill>
                <a:srgbClr val="222222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אם שני עצמים מנסים להציג באותו מקום (באותו רגע)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</a:p>
        </p:txBody>
      </p:sp>
      <p:sp>
        <p:nvSpPr>
          <p:cNvPr id="7" name="Down Arrow 6"/>
          <p:cNvSpPr/>
          <p:nvPr/>
        </p:nvSpPr>
        <p:spPr>
          <a:xfrm rot="5400000" flipV="1">
            <a:off x="7973216" y="3189533"/>
            <a:ext cx="321659" cy="826807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/>
          </a:p>
        </p:txBody>
      </p:sp>
      <p:sp>
        <p:nvSpPr>
          <p:cNvPr id="10" name="Rectangle 9"/>
          <p:cNvSpPr/>
          <p:nvPr/>
        </p:nvSpPr>
        <p:spPr>
          <a:xfrm>
            <a:off x="7234620" y="3345720"/>
            <a:ext cx="570795" cy="507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RGB</a:t>
            </a:r>
            <a:endParaRPr lang="he-IL" sz="1400" dirty="0"/>
          </a:p>
        </p:txBody>
      </p:sp>
      <p:sp>
        <p:nvSpPr>
          <p:cNvPr id="12" name="Rectangle 11"/>
          <p:cNvSpPr/>
          <p:nvPr/>
        </p:nvSpPr>
        <p:spPr>
          <a:xfrm>
            <a:off x="6084168" y="3345720"/>
            <a:ext cx="570795" cy="507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mux</a:t>
            </a:r>
            <a:endParaRPr lang="he-IL" sz="1400" dirty="0"/>
          </a:p>
        </p:txBody>
      </p:sp>
      <p:sp>
        <p:nvSpPr>
          <p:cNvPr id="17" name="Down Arrow 16"/>
          <p:cNvSpPr/>
          <p:nvPr/>
        </p:nvSpPr>
        <p:spPr>
          <a:xfrm rot="5400000" flipV="1">
            <a:off x="6784463" y="3312607"/>
            <a:ext cx="321659" cy="580659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/>
          </a:p>
        </p:txBody>
      </p:sp>
      <p:cxnSp>
        <p:nvCxnSpPr>
          <p:cNvPr id="19" name="Elbow Connector 18"/>
          <p:cNvCxnSpPr>
            <a:stCxn id="20" idx="3"/>
          </p:cNvCxnSpPr>
          <p:nvPr/>
        </p:nvCxnSpPr>
        <p:spPr>
          <a:xfrm>
            <a:off x="5263307" y="2780248"/>
            <a:ext cx="844792" cy="66808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07114" y="2526421"/>
            <a:ext cx="856193" cy="5076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#1</a:t>
            </a:r>
            <a:endParaRPr lang="he-IL" sz="1400" dirty="0"/>
          </a:p>
        </p:txBody>
      </p:sp>
      <p:cxnSp>
        <p:nvCxnSpPr>
          <p:cNvPr id="30" name="Elbow Connector 29"/>
          <p:cNvCxnSpPr>
            <a:stCxn id="32" idx="3"/>
            <a:endCxn id="12" idx="1"/>
          </p:cNvCxnSpPr>
          <p:nvPr/>
        </p:nvCxnSpPr>
        <p:spPr>
          <a:xfrm flipV="1">
            <a:off x="5188293" y="3599547"/>
            <a:ext cx="895875" cy="226741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55976" y="5579511"/>
            <a:ext cx="832317" cy="574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#2</a:t>
            </a:r>
            <a:endParaRPr lang="he-IL" dirty="0"/>
          </a:p>
        </p:txBody>
      </p:sp>
      <p:cxnSp>
        <p:nvCxnSpPr>
          <p:cNvPr id="38" name="Elbow Connector 37"/>
          <p:cNvCxnSpPr>
            <a:stCxn id="20" idx="2"/>
          </p:cNvCxnSpPr>
          <p:nvPr/>
        </p:nvCxnSpPr>
        <p:spPr>
          <a:xfrm rot="16200000" flipH="1">
            <a:off x="4866486" y="3002799"/>
            <a:ext cx="1186407" cy="1248957"/>
          </a:xfrm>
          <a:prstGeom prst="bentConnector2">
            <a:avLst/>
          </a:prstGeom>
          <a:ln w="57150">
            <a:solidFill>
              <a:srgbClr val="0066FF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524260" y="4692371"/>
            <a:ext cx="23006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en-US" dirty="0">
                <a:solidFill>
                  <a:srgbClr val="0066FF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Drawing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536" y="2636912"/>
            <a:ext cx="2088232" cy="1656184"/>
          </a:xfrm>
          <a:prstGeom prst="rect">
            <a:avLst/>
          </a:prstGeom>
          <a:solidFill>
            <a:srgbClr val="052F61">
              <a:alpha val="4392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Rectangle 25"/>
          <p:cNvSpPr/>
          <p:nvPr/>
        </p:nvSpPr>
        <p:spPr>
          <a:xfrm>
            <a:off x="2051719" y="3853374"/>
            <a:ext cx="1130457" cy="1002442"/>
          </a:xfrm>
          <a:prstGeom prst="rect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1" name="Elbow Connector 20"/>
          <p:cNvCxnSpPr>
            <a:stCxn id="32" idx="0"/>
          </p:cNvCxnSpPr>
          <p:nvPr/>
        </p:nvCxnSpPr>
        <p:spPr>
          <a:xfrm rot="5400000" flipH="1" flipV="1">
            <a:off x="4900634" y="4415396"/>
            <a:ext cx="1035616" cy="1292615"/>
          </a:xfrm>
          <a:prstGeom prst="bentConnector2">
            <a:avLst/>
          </a:prstGeom>
          <a:ln w="57150">
            <a:solidFill>
              <a:srgbClr val="0066FF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ord 8"/>
          <p:cNvSpPr/>
          <p:nvPr/>
        </p:nvSpPr>
        <p:spPr>
          <a:xfrm rot="12151895">
            <a:off x="5808692" y="4050121"/>
            <a:ext cx="742450" cy="689771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2051719" y="3853374"/>
            <a:ext cx="432049" cy="43972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TextBox 22"/>
          <p:cNvSpPr txBox="1"/>
          <p:nvPr/>
        </p:nvSpPr>
        <p:spPr>
          <a:xfrm>
            <a:off x="3638138" y="3709119"/>
            <a:ext cx="23006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en-US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Drawing Request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90413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8" y="214313"/>
            <a:ext cx="5914032" cy="933450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תנועת כדור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03556" y="1092380"/>
            <a:ext cx="7596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נקדם את המיקום בכל שעון איטי </a:t>
            </a: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בתנועה ב45 מעלות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Xspeed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=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Yspeed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2" name="Oval 1"/>
          <p:cNvSpPr/>
          <p:nvPr/>
        </p:nvSpPr>
        <p:spPr>
          <a:xfrm>
            <a:off x="3131840" y="1731868"/>
            <a:ext cx="845840" cy="86688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TextBox 30"/>
          <p:cNvSpPr txBox="1"/>
          <p:nvPr/>
        </p:nvSpPr>
        <p:spPr>
          <a:xfrm>
            <a:off x="5331922" y="2021085"/>
            <a:ext cx="2255746" cy="646331"/>
          </a:xfrm>
          <a:prstGeom prst="rect">
            <a:avLst/>
          </a:prstGeom>
          <a:solidFill>
            <a:srgbClr val="3333CC"/>
          </a:solidFill>
        </p:spPr>
        <p:txBody>
          <a:bodyPr wrap="none" rtlCol="1">
            <a:spAutoFit/>
          </a:bodyPr>
          <a:lstStyle/>
          <a:p>
            <a:pPr algn="ctr"/>
            <a:r>
              <a:rPr lang="he-IL" dirty="0"/>
              <a:t>כל שעון איטי </a:t>
            </a:r>
            <a:endParaRPr lang="en-US" dirty="0"/>
          </a:p>
          <a:p>
            <a:pPr algn="ctr"/>
            <a:r>
              <a:rPr lang="en-US" dirty="0"/>
              <a:t>X0 &lt;= X0 + </a:t>
            </a:r>
            <a:r>
              <a:rPr lang="en-US" dirty="0" err="1"/>
              <a:t>Xspeed</a:t>
            </a:r>
            <a:r>
              <a:rPr lang="en-US" dirty="0"/>
              <a:t> </a:t>
            </a:r>
          </a:p>
        </p:txBody>
      </p:sp>
      <p:sp>
        <p:nvSpPr>
          <p:cNvPr id="18" name="AutoShape 6" descr="תוצאת תמונה"/>
          <p:cNvSpPr>
            <a:spLocks noChangeAspect="1" noChangeArrowheads="1"/>
          </p:cNvSpPr>
          <p:nvPr/>
        </p:nvSpPr>
        <p:spPr bwMode="auto">
          <a:xfrm>
            <a:off x="155575" y="-4191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2" name="AutoShape 8" descr="תוצאת תמונה"/>
          <p:cNvSpPr>
            <a:spLocks noChangeAspect="1" noChangeArrowheads="1"/>
          </p:cNvSpPr>
          <p:nvPr/>
        </p:nvSpPr>
        <p:spPr bwMode="auto">
          <a:xfrm>
            <a:off x="307975" y="-2667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7" name="AutoShape 10" descr="תוצאת תמונה עבור ‪ball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9" name="AutoShape 12" descr="×ª××¦××ª ×ª××× × ×¢×××¨ âªballâ¬â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3499139" y="1092380"/>
            <a:ext cx="1466818" cy="1133120"/>
          </a:xfrm>
          <a:prstGeom prst="straightConnector1">
            <a:avLst/>
          </a:prstGeom>
          <a:ln w="57150">
            <a:solidFill>
              <a:srgbClr val="3333CC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207649" y="2973257"/>
            <a:ext cx="759633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he-IL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עבודה ב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INTEGER </a:t>
            </a:r>
            <a:r>
              <a:rPr lang="he-IL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ולא ב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REAL </a:t>
            </a:r>
            <a:endParaRPr lang="he-IL" sz="28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על מנת לשפר רזולוציה ניתן לעשות את החישובים עם מספרים גדולים פי 256 (</a:t>
            </a:r>
            <a:r>
              <a:rPr lang="en-GB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FIXED_POINT_MULTIPLIER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)</a:t>
            </a: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ו"לחלק" לפני ששולחים למודלים האחרים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1840" y="4407858"/>
            <a:ext cx="5287006" cy="2308324"/>
          </a:xfrm>
          <a:prstGeom prst="rect">
            <a:avLst/>
          </a:prstGeom>
          <a:solidFill>
            <a:srgbClr val="3333CC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כל שעון איטי </a:t>
            </a:r>
            <a:endParaRPr lang="en-US" dirty="0"/>
          </a:p>
          <a:p>
            <a:pPr algn="ctr"/>
            <a:r>
              <a:rPr lang="en-US" dirty="0"/>
              <a:t>X0 &lt;= X0 + </a:t>
            </a:r>
            <a:r>
              <a:rPr lang="en-US" dirty="0" err="1"/>
              <a:t>Xspeed</a:t>
            </a:r>
            <a:r>
              <a:rPr lang="en-US" dirty="0"/>
              <a:t> </a:t>
            </a:r>
            <a:endParaRPr lang="he-IL" dirty="0"/>
          </a:p>
          <a:p>
            <a:pPr algn="ctr"/>
            <a:endParaRPr lang="he-IL" dirty="0"/>
          </a:p>
          <a:p>
            <a:pPr algn="ctr"/>
            <a:r>
              <a:rPr lang="he-IL" dirty="0"/>
              <a:t>למשל </a:t>
            </a:r>
            <a:r>
              <a:rPr lang="en-US" dirty="0"/>
              <a:t>FIXED_POINT_MULTIPLIER=256</a:t>
            </a:r>
          </a:p>
          <a:p>
            <a:pPr algn="ctr"/>
            <a:endParaRPr lang="he-IL" dirty="0"/>
          </a:p>
          <a:p>
            <a:pPr algn="ctr"/>
            <a:r>
              <a:rPr lang="he-IL" dirty="0"/>
              <a:t>לבסוף </a:t>
            </a:r>
            <a:endParaRPr lang="en-US" dirty="0"/>
          </a:p>
          <a:p>
            <a:pPr algn="ctr"/>
            <a:r>
              <a:rPr lang="en-US" dirty="0"/>
              <a:t>X0out = X0 / FIXED_POINT_MULTIPLIER</a:t>
            </a: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55575" y="3920876"/>
            <a:ext cx="1879377" cy="1452901"/>
          </a:xfrm>
          <a:prstGeom prst="wedgeEllipseCallout">
            <a:avLst>
              <a:gd name="adj1" fmla="val 128014"/>
              <a:gd name="adj2" fmla="val 11126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לבצע אסינכרונית מחוץ לתהליך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311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8" y="214313"/>
            <a:ext cx="5914032" cy="933450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התנגשות של כדור במסגרת או בפינה משולשת   </a:t>
            </a:r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9166" y="1140726"/>
            <a:ext cx="7596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נצבע כל דופן ואת הפינה בצבע אחר</a:t>
            </a:r>
          </a:p>
          <a:p>
            <a:pPr marL="342900" lvl="0" indent="-342900">
              <a:spcAft>
                <a:spcPts val="0"/>
              </a:spcAft>
              <a:buSzPts val="1100"/>
              <a:buFont typeface="Times New Roman" panose="02020603050405020304" pitchFamily="18" charset="0"/>
              <a:buChar char="-"/>
            </a:pPr>
            <a:r>
              <a:rPr lang="he-IL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התנועה ב45 מעלות ללא קשר לאיזו פינה של הכדור פגעה בקיר  </a:t>
            </a: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85310" y="6309320"/>
            <a:ext cx="184730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1">
            <a:spAutoFit/>
          </a:bodyPr>
          <a:lstStyle/>
          <a:p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8" name="AutoShape 6" descr="תוצאת תמונה"/>
          <p:cNvSpPr>
            <a:spLocks noChangeAspect="1" noChangeArrowheads="1"/>
          </p:cNvSpPr>
          <p:nvPr/>
        </p:nvSpPr>
        <p:spPr bwMode="auto">
          <a:xfrm>
            <a:off x="155575" y="-4191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2" name="AutoShape 8" descr="תוצאת תמונה"/>
          <p:cNvSpPr>
            <a:spLocks noChangeAspect="1" noChangeArrowheads="1"/>
          </p:cNvSpPr>
          <p:nvPr/>
        </p:nvSpPr>
        <p:spPr bwMode="auto">
          <a:xfrm>
            <a:off x="307975" y="-2667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7" name="AutoShape 10" descr="תוצאת תמונה עבור ‪ball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9" name="AutoShape 12" descr="×ª××¦××ª ×ª××× × ×¢×××¨ âªballâ¬â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5557530" y="1832842"/>
            <a:ext cx="2184710" cy="1919444"/>
          </a:xfrm>
          <a:prstGeom prst="straightConnector1">
            <a:avLst/>
          </a:prstGeom>
          <a:ln w="28575">
            <a:solidFill>
              <a:srgbClr val="3333CC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99451" y="3790568"/>
            <a:ext cx="1332304" cy="1754326"/>
          </a:xfrm>
          <a:prstGeom prst="rect">
            <a:avLst/>
          </a:prstGeom>
          <a:solidFill>
            <a:srgbClr val="FF0000"/>
          </a:solidFill>
        </p:spPr>
        <p:txBody>
          <a:bodyPr wrap="square" rtlCol="1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0010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Xspeed</a:t>
            </a:r>
            <a:r>
              <a:rPr lang="en-US" dirty="0">
                <a:solidFill>
                  <a:schemeClr val="bg1"/>
                </a:solidFill>
              </a:rPr>
              <a:t>  &lt;=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|</a:t>
            </a:r>
            <a:r>
              <a:rPr lang="en-US" dirty="0" err="1">
                <a:solidFill>
                  <a:schemeClr val="bg1"/>
                </a:solidFill>
              </a:rPr>
              <a:t>Xspeed</a:t>
            </a:r>
            <a:r>
              <a:rPr lang="en-US" dirty="0">
                <a:solidFill>
                  <a:schemeClr val="bg1"/>
                </a:solidFill>
              </a:rPr>
              <a:t>|</a:t>
            </a:r>
          </a:p>
          <a:p>
            <a:pPr algn="ctr"/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7183" y="5549488"/>
            <a:ext cx="2928182" cy="738664"/>
          </a:xfrm>
          <a:prstGeom prst="rect">
            <a:avLst/>
          </a:prstGeom>
          <a:solidFill>
            <a:srgbClr val="00B050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0100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Yspeed</a:t>
            </a:r>
            <a:r>
              <a:rPr lang="en-US" dirty="0">
                <a:solidFill>
                  <a:schemeClr val="bg1"/>
                </a:solidFill>
              </a:rPr>
              <a:t> &lt;= </a:t>
            </a:r>
            <a:r>
              <a:rPr lang="en-US" sz="2400" b="1" dirty="0">
                <a:solidFill>
                  <a:schemeClr val="bg1"/>
                </a:solidFill>
              </a:rPr>
              <a:t>+</a:t>
            </a:r>
            <a:r>
              <a:rPr lang="en-US" dirty="0">
                <a:solidFill>
                  <a:schemeClr val="bg1"/>
                </a:solidFill>
              </a:rPr>
              <a:t>|</a:t>
            </a:r>
            <a:r>
              <a:rPr lang="en-US" dirty="0" err="1">
                <a:solidFill>
                  <a:schemeClr val="bg1"/>
                </a:solidFill>
              </a:rPr>
              <a:t>Yspeed</a:t>
            </a:r>
            <a:r>
              <a:rPr lang="en-US" dirty="0">
                <a:solidFill>
                  <a:schemeClr val="bg1"/>
                </a:solidFill>
              </a:rPr>
              <a:t>|</a:t>
            </a:r>
            <a:endParaRPr lang="he-IL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4028879" y="2311164"/>
            <a:ext cx="1138917" cy="1252659"/>
          </a:xfrm>
          <a:prstGeom prst="straightConnector1">
            <a:avLst/>
          </a:prstGeom>
          <a:ln w="28575">
            <a:solidFill>
              <a:srgbClr val="00B05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3927391" y="2426550"/>
            <a:ext cx="573454" cy="1045106"/>
          </a:xfrm>
          <a:prstGeom prst="straightConnector1">
            <a:avLst/>
          </a:prstGeom>
          <a:ln w="28575">
            <a:solidFill>
              <a:srgbClr val="00B05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501" y="3176635"/>
            <a:ext cx="2927830" cy="738664"/>
          </a:xfrm>
          <a:prstGeom prst="rect">
            <a:avLst/>
          </a:prstGeom>
          <a:solidFill>
            <a:srgbClr val="00B050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0100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Yspeed</a:t>
            </a:r>
            <a:r>
              <a:rPr lang="en-US" dirty="0">
                <a:solidFill>
                  <a:schemeClr val="bg1"/>
                </a:solidFill>
              </a:rPr>
              <a:t> &lt;= </a:t>
            </a:r>
            <a:r>
              <a:rPr lang="en-US" sz="2400" b="1" dirty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|</a:t>
            </a:r>
            <a:r>
              <a:rPr lang="en-US" dirty="0" err="1">
                <a:solidFill>
                  <a:schemeClr val="bg1"/>
                </a:solidFill>
              </a:rPr>
              <a:t>Yspeed</a:t>
            </a:r>
            <a:r>
              <a:rPr lang="en-US" dirty="0">
                <a:solidFill>
                  <a:schemeClr val="bg1"/>
                </a:solidFill>
              </a:rPr>
              <a:t>|</a:t>
            </a:r>
            <a:endParaRPr lang="he-IL" dirty="0">
              <a:solidFill>
                <a:schemeClr val="bg1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7770163" y="3934810"/>
            <a:ext cx="859010" cy="979263"/>
          </a:xfrm>
          <a:prstGeom prst="straightConnector1">
            <a:avLst/>
          </a:prstGeom>
          <a:ln w="28575">
            <a:solidFill>
              <a:srgbClr val="00B05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758042" y="4925469"/>
            <a:ext cx="528664" cy="814500"/>
          </a:xfrm>
          <a:prstGeom prst="straightConnector1">
            <a:avLst/>
          </a:prstGeom>
          <a:ln w="28575">
            <a:solidFill>
              <a:srgbClr val="00B05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7738" y="23725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pt-BR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logic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hit_colors</a:t>
            </a:r>
            <a:endParaRPr lang="he-IL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16'hC446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</a:p>
          <a:p>
            <a:pPr algn="l" rtl="0"/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16'h8C62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 rtl="0"/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    16'h8932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 rtl="0"/>
            <a:r>
              <a:rPr lang="pt-BR" sz="2000" dirty="0">
                <a:solidFill>
                  <a:srgbClr val="FF8000"/>
                </a:solidFill>
                <a:latin typeface="Courier New" panose="02070309020205020404" pitchFamily="49" charset="0"/>
              </a:rPr>
              <a:t>    16'h9113</a:t>
            </a:r>
            <a:r>
              <a:rPr lang="pt-BR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};</a:t>
            </a:r>
            <a:r>
              <a:rPr lang="pt-B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090" y="1842422"/>
            <a:ext cx="80636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//hit bit map has one bit per edge: </a:t>
            </a:r>
            <a:r>
              <a:rPr lang="en-US" sz="1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hit_colors</a:t>
            </a: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[3:0] = {Left, Top, Right, Bottom} //there is one bit per edge, in the corner two bits are set </a:t>
            </a:r>
            <a:endParaRPr lang="en-US" sz="3200" dirty="0">
              <a:effectLst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83768" y="3820918"/>
            <a:ext cx="1476924" cy="1754326"/>
          </a:xfrm>
          <a:prstGeom prst="rect">
            <a:avLst/>
          </a:prstGeom>
          <a:solidFill>
            <a:srgbClr val="FF0000"/>
          </a:solidFill>
        </p:spPr>
        <p:txBody>
          <a:bodyPr wrap="square" rtlCol="1">
            <a:spAutoFit/>
          </a:bodyPr>
          <a:lstStyle/>
          <a:p>
            <a:pPr algn="ctr"/>
            <a:endParaRPr lang="he-IL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1000 1Xspeed  &lt;=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- |</a:t>
            </a:r>
            <a:r>
              <a:rPr lang="en-US" dirty="0" err="1">
                <a:solidFill>
                  <a:schemeClr val="bg1"/>
                </a:solidFill>
              </a:rPr>
              <a:t>Xspeed</a:t>
            </a:r>
            <a:r>
              <a:rPr lang="en-US" dirty="0">
                <a:solidFill>
                  <a:schemeClr val="bg1"/>
                </a:solidFill>
              </a:rPr>
              <a:t>|</a:t>
            </a:r>
          </a:p>
          <a:p>
            <a:pPr algn="ctr"/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488049" y="3011016"/>
            <a:ext cx="477670" cy="2852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TextBox 30"/>
          <p:cNvSpPr txBox="1"/>
          <p:nvPr/>
        </p:nvSpPr>
        <p:spPr>
          <a:xfrm>
            <a:off x="6274683" y="3118001"/>
            <a:ext cx="2341346" cy="923330"/>
          </a:xfrm>
          <a:prstGeom prst="rect">
            <a:avLst/>
          </a:prstGeom>
          <a:solidFill>
            <a:srgbClr val="3333CC"/>
          </a:solidFill>
        </p:spPr>
        <p:txBody>
          <a:bodyPr wrap="none" rtlCol="1">
            <a:spAutoFit/>
          </a:bodyPr>
          <a:lstStyle/>
          <a:p>
            <a:pPr algn="ctr"/>
            <a:r>
              <a:rPr lang="he-IL" dirty="0"/>
              <a:t>0110</a:t>
            </a:r>
            <a:endParaRPr lang="en-US" dirty="0"/>
          </a:p>
          <a:p>
            <a:pPr algn="ctr"/>
            <a:r>
              <a:rPr lang="en-US" dirty="0" err="1"/>
              <a:t>Xspeed</a:t>
            </a:r>
            <a:r>
              <a:rPr lang="en-US" dirty="0"/>
              <a:t> &lt;= ~ </a:t>
            </a:r>
            <a:r>
              <a:rPr lang="en-US" dirty="0" err="1"/>
              <a:t>Yspeed</a:t>
            </a:r>
            <a:endParaRPr lang="en-US" dirty="0"/>
          </a:p>
          <a:p>
            <a:pPr algn="ctr"/>
            <a:r>
              <a:rPr lang="en-US" dirty="0" err="1"/>
              <a:t>Yspeed</a:t>
            </a:r>
            <a:r>
              <a:rPr lang="en-US" dirty="0"/>
              <a:t> &lt;= ~ </a:t>
            </a:r>
            <a:r>
              <a:rPr lang="en-US" dirty="0" err="1"/>
              <a:t>Xspeed</a:t>
            </a:r>
            <a:endParaRPr lang="he-IL" dirty="0"/>
          </a:p>
        </p:txBody>
      </p:sp>
      <p:sp>
        <p:nvSpPr>
          <p:cNvPr id="32" name="Oval 31"/>
          <p:cNvSpPr/>
          <p:nvPr/>
        </p:nvSpPr>
        <p:spPr>
          <a:xfrm>
            <a:off x="1307228" y="3296295"/>
            <a:ext cx="333813" cy="6190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Freeform 12"/>
          <p:cNvSpPr/>
          <p:nvPr/>
        </p:nvSpPr>
        <p:spPr>
          <a:xfrm>
            <a:off x="1835697" y="2750326"/>
            <a:ext cx="2744888" cy="404446"/>
          </a:xfrm>
          <a:custGeom>
            <a:avLst/>
            <a:gdLst>
              <a:gd name="connsiteX0" fmla="*/ 0 w 2215661"/>
              <a:gd name="connsiteY0" fmla="*/ 228600 h 404446"/>
              <a:gd name="connsiteX1" fmla="*/ 79131 w 2215661"/>
              <a:gd name="connsiteY1" fmla="*/ 202223 h 404446"/>
              <a:gd name="connsiteX2" fmla="*/ 184638 w 2215661"/>
              <a:gd name="connsiteY2" fmla="*/ 175846 h 404446"/>
              <a:gd name="connsiteX3" fmla="*/ 290146 w 2215661"/>
              <a:gd name="connsiteY3" fmla="*/ 140677 h 404446"/>
              <a:gd name="connsiteX4" fmla="*/ 351692 w 2215661"/>
              <a:gd name="connsiteY4" fmla="*/ 123092 h 404446"/>
              <a:gd name="connsiteX5" fmla="*/ 457200 w 2215661"/>
              <a:gd name="connsiteY5" fmla="*/ 87923 h 404446"/>
              <a:gd name="connsiteX6" fmla="*/ 527538 w 2215661"/>
              <a:gd name="connsiteY6" fmla="*/ 79131 h 404446"/>
              <a:gd name="connsiteX7" fmla="*/ 720969 w 2215661"/>
              <a:gd name="connsiteY7" fmla="*/ 43961 h 404446"/>
              <a:gd name="connsiteX8" fmla="*/ 764931 w 2215661"/>
              <a:gd name="connsiteY8" fmla="*/ 35169 h 404446"/>
              <a:gd name="connsiteX9" fmla="*/ 870438 w 2215661"/>
              <a:gd name="connsiteY9" fmla="*/ 17584 h 404446"/>
              <a:gd name="connsiteX10" fmla="*/ 914400 w 2215661"/>
              <a:gd name="connsiteY10" fmla="*/ 8792 h 404446"/>
              <a:gd name="connsiteX11" fmla="*/ 1028700 w 2215661"/>
              <a:gd name="connsiteY11" fmla="*/ 0 h 404446"/>
              <a:gd name="connsiteX12" fmla="*/ 1617784 w 2215661"/>
              <a:gd name="connsiteY12" fmla="*/ 8792 h 404446"/>
              <a:gd name="connsiteX13" fmla="*/ 1767254 w 2215661"/>
              <a:gd name="connsiteY13" fmla="*/ 26377 h 404446"/>
              <a:gd name="connsiteX14" fmla="*/ 1837592 w 2215661"/>
              <a:gd name="connsiteY14" fmla="*/ 43961 h 404446"/>
              <a:gd name="connsiteX15" fmla="*/ 1899138 w 2215661"/>
              <a:gd name="connsiteY15" fmla="*/ 61546 h 404446"/>
              <a:gd name="connsiteX16" fmla="*/ 1951892 w 2215661"/>
              <a:gd name="connsiteY16" fmla="*/ 87923 h 404446"/>
              <a:gd name="connsiteX17" fmla="*/ 1978269 w 2215661"/>
              <a:gd name="connsiteY17" fmla="*/ 105508 h 404446"/>
              <a:gd name="connsiteX18" fmla="*/ 2004646 w 2215661"/>
              <a:gd name="connsiteY18" fmla="*/ 114300 h 404446"/>
              <a:gd name="connsiteX19" fmla="*/ 2057400 w 2215661"/>
              <a:gd name="connsiteY19" fmla="*/ 149469 h 404446"/>
              <a:gd name="connsiteX20" fmla="*/ 2083777 w 2215661"/>
              <a:gd name="connsiteY20" fmla="*/ 167054 h 404446"/>
              <a:gd name="connsiteX21" fmla="*/ 2110154 w 2215661"/>
              <a:gd name="connsiteY21" fmla="*/ 219808 h 404446"/>
              <a:gd name="connsiteX22" fmla="*/ 2118946 w 2215661"/>
              <a:gd name="connsiteY22" fmla="*/ 254977 h 404446"/>
              <a:gd name="connsiteX23" fmla="*/ 2145323 w 2215661"/>
              <a:gd name="connsiteY23" fmla="*/ 290146 h 404446"/>
              <a:gd name="connsiteX24" fmla="*/ 2154115 w 2215661"/>
              <a:gd name="connsiteY24" fmla="*/ 316523 h 404446"/>
              <a:gd name="connsiteX25" fmla="*/ 2189284 w 2215661"/>
              <a:gd name="connsiteY25" fmla="*/ 369277 h 404446"/>
              <a:gd name="connsiteX26" fmla="*/ 2215661 w 2215661"/>
              <a:gd name="connsiteY26" fmla="*/ 404446 h 404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15661" h="404446">
                <a:moveTo>
                  <a:pt x="0" y="228600"/>
                </a:moveTo>
                <a:cubicBezTo>
                  <a:pt x="149035" y="198794"/>
                  <a:pt x="-50292" y="242668"/>
                  <a:pt x="79131" y="202223"/>
                </a:cubicBezTo>
                <a:cubicBezTo>
                  <a:pt x="113732" y="191410"/>
                  <a:pt x="150247" y="187310"/>
                  <a:pt x="184638" y="175846"/>
                </a:cubicBezTo>
                <a:cubicBezTo>
                  <a:pt x="219807" y="164123"/>
                  <a:pt x="254501" y="150862"/>
                  <a:pt x="290146" y="140677"/>
                </a:cubicBezTo>
                <a:cubicBezTo>
                  <a:pt x="310661" y="134815"/>
                  <a:pt x="331451" y="129839"/>
                  <a:pt x="351692" y="123092"/>
                </a:cubicBezTo>
                <a:cubicBezTo>
                  <a:pt x="410858" y="103370"/>
                  <a:pt x="386706" y="102022"/>
                  <a:pt x="457200" y="87923"/>
                </a:cubicBezTo>
                <a:cubicBezTo>
                  <a:pt x="480370" y="83289"/>
                  <a:pt x="504092" y="82062"/>
                  <a:pt x="527538" y="79131"/>
                </a:cubicBezTo>
                <a:cubicBezTo>
                  <a:pt x="705218" y="34711"/>
                  <a:pt x="561552" y="65217"/>
                  <a:pt x="720969" y="43961"/>
                </a:cubicBezTo>
                <a:cubicBezTo>
                  <a:pt x="735782" y="41986"/>
                  <a:pt x="750214" y="37766"/>
                  <a:pt x="764931" y="35169"/>
                </a:cubicBezTo>
                <a:cubicBezTo>
                  <a:pt x="800043" y="28973"/>
                  <a:pt x="835476" y="24576"/>
                  <a:pt x="870438" y="17584"/>
                </a:cubicBezTo>
                <a:cubicBezTo>
                  <a:pt x="885092" y="14653"/>
                  <a:pt x="899547" y="10442"/>
                  <a:pt x="914400" y="8792"/>
                </a:cubicBezTo>
                <a:cubicBezTo>
                  <a:pt x="952379" y="4572"/>
                  <a:pt x="990600" y="2931"/>
                  <a:pt x="1028700" y="0"/>
                </a:cubicBezTo>
                <a:lnTo>
                  <a:pt x="1617784" y="8792"/>
                </a:lnTo>
                <a:cubicBezTo>
                  <a:pt x="1657595" y="9826"/>
                  <a:pt x="1724911" y="20327"/>
                  <a:pt x="1767254" y="26377"/>
                </a:cubicBezTo>
                <a:cubicBezTo>
                  <a:pt x="1814393" y="42089"/>
                  <a:pt x="1773926" y="29813"/>
                  <a:pt x="1837592" y="43961"/>
                </a:cubicBezTo>
                <a:cubicBezTo>
                  <a:pt x="1870704" y="51320"/>
                  <a:pt x="1869770" y="51757"/>
                  <a:pt x="1899138" y="61546"/>
                </a:cubicBezTo>
                <a:cubicBezTo>
                  <a:pt x="1974731" y="111942"/>
                  <a:pt x="1879088" y="51521"/>
                  <a:pt x="1951892" y="87923"/>
                </a:cubicBezTo>
                <a:cubicBezTo>
                  <a:pt x="1961344" y="92649"/>
                  <a:pt x="1968817" y="100782"/>
                  <a:pt x="1978269" y="105508"/>
                </a:cubicBezTo>
                <a:cubicBezTo>
                  <a:pt x="1986558" y="109653"/>
                  <a:pt x="1996544" y="109799"/>
                  <a:pt x="2004646" y="114300"/>
                </a:cubicBezTo>
                <a:cubicBezTo>
                  <a:pt x="2023121" y="124563"/>
                  <a:pt x="2039815" y="137746"/>
                  <a:pt x="2057400" y="149469"/>
                </a:cubicBezTo>
                <a:lnTo>
                  <a:pt x="2083777" y="167054"/>
                </a:lnTo>
                <a:cubicBezTo>
                  <a:pt x="2103042" y="195952"/>
                  <a:pt x="2101054" y="187959"/>
                  <a:pt x="2110154" y="219808"/>
                </a:cubicBezTo>
                <a:cubicBezTo>
                  <a:pt x="2113474" y="231427"/>
                  <a:pt x="2113542" y="244169"/>
                  <a:pt x="2118946" y="254977"/>
                </a:cubicBezTo>
                <a:cubicBezTo>
                  <a:pt x="2125499" y="268084"/>
                  <a:pt x="2136531" y="278423"/>
                  <a:pt x="2145323" y="290146"/>
                </a:cubicBezTo>
                <a:cubicBezTo>
                  <a:pt x="2148254" y="298938"/>
                  <a:pt x="2149614" y="308421"/>
                  <a:pt x="2154115" y="316523"/>
                </a:cubicBezTo>
                <a:cubicBezTo>
                  <a:pt x="2164378" y="334998"/>
                  <a:pt x="2182600" y="349228"/>
                  <a:pt x="2189284" y="369277"/>
                </a:cubicBezTo>
                <a:cubicBezTo>
                  <a:pt x="2200149" y="401871"/>
                  <a:pt x="2189787" y="391509"/>
                  <a:pt x="2215661" y="404446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Freeform 14"/>
          <p:cNvSpPr/>
          <p:nvPr/>
        </p:nvSpPr>
        <p:spPr>
          <a:xfrm>
            <a:off x="1115616" y="3831780"/>
            <a:ext cx="1319645" cy="791430"/>
          </a:xfrm>
          <a:custGeom>
            <a:avLst/>
            <a:gdLst>
              <a:gd name="connsiteX0" fmla="*/ 87923 w 492369"/>
              <a:gd name="connsiteY0" fmla="*/ 0 h 791430"/>
              <a:gd name="connsiteX1" fmla="*/ 70339 w 492369"/>
              <a:gd name="connsiteY1" fmla="*/ 43961 h 791430"/>
              <a:gd name="connsiteX2" fmla="*/ 61546 w 492369"/>
              <a:gd name="connsiteY2" fmla="*/ 70338 h 791430"/>
              <a:gd name="connsiteX3" fmla="*/ 43962 w 492369"/>
              <a:gd name="connsiteY3" fmla="*/ 96715 h 791430"/>
              <a:gd name="connsiteX4" fmla="*/ 26377 w 492369"/>
              <a:gd name="connsiteY4" fmla="*/ 140677 h 791430"/>
              <a:gd name="connsiteX5" fmla="*/ 8792 w 492369"/>
              <a:gd name="connsiteY5" fmla="*/ 175846 h 791430"/>
              <a:gd name="connsiteX6" fmla="*/ 0 w 492369"/>
              <a:gd name="connsiteY6" fmla="*/ 211015 h 791430"/>
              <a:gd name="connsiteX7" fmla="*/ 17585 w 492369"/>
              <a:gd name="connsiteY7" fmla="*/ 360484 h 791430"/>
              <a:gd name="connsiteX8" fmla="*/ 26377 w 492369"/>
              <a:gd name="connsiteY8" fmla="*/ 386861 h 791430"/>
              <a:gd name="connsiteX9" fmla="*/ 43962 w 492369"/>
              <a:gd name="connsiteY9" fmla="*/ 448407 h 791430"/>
              <a:gd name="connsiteX10" fmla="*/ 61546 w 492369"/>
              <a:gd name="connsiteY10" fmla="*/ 474784 h 791430"/>
              <a:gd name="connsiteX11" fmla="*/ 96715 w 492369"/>
              <a:gd name="connsiteY11" fmla="*/ 545123 h 791430"/>
              <a:gd name="connsiteX12" fmla="*/ 123092 w 492369"/>
              <a:gd name="connsiteY12" fmla="*/ 571500 h 791430"/>
              <a:gd name="connsiteX13" fmla="*/ 167054 w 492369"/>
              <a:gd name="connsiteY13" fmla="*/ 633046 h 791430"/>
              <a:gd name="connsiteX14" fmla="*/ 193431 w 492369"/>
              <a:gd name="connsiteY14" fmla="*/ 650630 h 791430"/>
              <a:gd name="connsiteX15" fmla="*/ 219808 w 492369"/>
              <a:gd name="connsiteY15" fmla="*/ 685800 h 791430"/>
              <a:gd name="connsiteX16" fmla="*/ 307731 w 492369"/>
              <a:gd name="connsiteY16" fmla="*/ 729761 h 791430"/>
              <a:gd name="connsiteX17" fmla="*/ 369277 w 492369"/>
              <a:gd name="connsiteY17" fmla="*/ 756138 h 791430"/>
              <a:gd name="connsiteX18" fmla="*/ 395654 w 492369"/>
              <a:gd name="connsiteY18" fmla="*/ 773723 h 791430"/>
              <a:gd name="connsiteX19" fmla="*/ 448408 w 492369"/>
              <a:gd name="connsiteY19" fmla="*/ 782515 h 791430"/>
              <a:gd name="connsiteX20" fmla="*/ 492369 w 492369"/>
              <a:gd name="connsiteY20" fmla="*/ 791307 h 79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2369" h="791430">
                <a:moveTo>
                  <a:pt x="87923" y="0"/>
                </a:moveTo>
                <a:cubicBezTo>
                  <a:pt x="82062" y="14654"/>
                  <a:pt x="75881" y="29183"/>
                  <a:pt x="70339" y="43961"/>
                </a:cubicBezTo>
                <a:cubicBezTo>
                  <a:pt x="67085" y="52639"/>
                  <a:pt x="65691" y="62048"/>
                  <a:pt x="61546" y="70338"/>
                </a:cubicBezTo>
                <a:cubicBezTo>
                  <a:pt x="56820" y="79789"/>
                  <a:pt x="48688" y="87264"/>
                  <a:pt x="43962" y="96715"/>
                </a:cubicBezTo>
                <a:cubicBezTo>
                  <a:pt x="36904" y="110832"/>
                  <a:pt x="32787" y="126254"/>
                  <a:pt x="26377" y="140677"/>
                </a:cubicBezTo>
                <a:cubicBezTo>
                  <a:pt x="21054" y="152654"/>
                  <a:pt x="14654" y="164123"/>
                  <a:pt x="8792" y="175846"/>
                </a:cubicBezTo>
                <a:cubicBezTo>
                  <a:pt x="5861" y="187569"/>
                  <a:pt x="0" y="198931"/>
                  <a:pt x="0" y="211015"/>
                </a:cubicBezTo>
                <a:cubicBezTo>
                  <a:pt x="0" y="254186"/>
                  <a:pt x="6119" y="314620"/>
                  <a:pt x="17585" y="360484"/>
                </a:cubicBezTo>
                <a:cubicBezTo>
                  <a:pt x="19833" y="369475"/>
                  <a:pt x="23831" y="377950"/>
                  <a:pt x="26377" y="386861"/>
                </a:cubicBezTo>
                <a:cubicBezTo>
                  <a:pt x="30135" y="400015"/>
                  <a:pt x="36932" y="434348"/>
                  <a:pt x="43962" y="448407"/>
                </a:cubicBezTo>
                <a:cubicBezTo>
                  <a:pt x="48688" y="457858"/>
                  <a:pt x="56820" y="465333"/>
                  <a:pt x="61546" y="474784"/>
                </a:cubicBezTo>
                <a:cubicBezTo>
                  <a:pt x="88589" y="528870"/>
                  <a:pt x="41885" y="472015"/>
                  <a:pt x="96715" y="545123"/>
                </a:cubicBezTo>
                <a:cubicBezTo>
                  <a:pt x="104175" y="555070"/>
                  <a:pt x="115132" y="561948"/>
                  <a:pt x="123092" y="571500"/>
                </a:cubicBezTo>
                <a:cubicBezTo>
                  <a:pt x="148051" y="601451"/>
                  <a:pt x="135383" y="601376"/>
                  <a:pt x="167054" y="633046"/>
                </a:cubicBezTo>
                <a:cubicBezTo>
                  <a:pt x="174526" y="640518"/>
                  <a:pt x="184639" y="644769"/>
                  <a:pt x="193431" y="650630"/>
                </a:cubicBezTo>
                <a:cubicBezTo>
                  <a:pt x="202223" y="662353"/>
                  <a:pt x="208855" y="676064"/>
                  <a:pt x="219808" y="685800"/>
                </a:cubicBezTo>
                <a:cubicBezTo>
                  <a:pt x="260769" y="722210"/>
                  <a:pt x="264550" y="718966"/>
                  <a:pt x="307731" y="729761"/>
                </a:cubicBezTo>
                <a:cubicBezTo>
                  <a:pt x="373952" y="773909"/>
                  <a:pt x="289791" y="722072"/>
                  <a:pt x="369277" y="756138"/>
                </a:cubicBezTo>
                <a:cubicBezTo>
                  <a:pt x="378990" y="760301"/>
                  <a:pt x="385629" y="770381"/>
                  <a:pt x="395654" y="773723"/>
                </a:cubicBezTo>
                <a:cubicBezTo>
                  <a:pt x="412566" y="779360"/>
                  <a:pt x="431005" y="778648"/>
                  <a:pt x="448408" y="782515"/>
                </a:cubicBezTo>
                <a:cubicBezTo>
                  <a:pt x="496314" y="793160"/>
                  <a:pt x="455418" y="791307"/>
                  <a:pt x="492369" y="79130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30" y="5733327"/>
            <a:ext cx="3108908" cy="54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77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8" y="214313"/>
            <a:ext cx="5914032" cy="933450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יש לוודא שאם נוגעים בשתי נקודות לא הופכים כיוון פעמיים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8823" y="1804417"/>
            <a:ext cx="44093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כך נוודא שבכל תמונה מבצעים רק הפיכה אחת של הכיוון  (אחרת הכיוון לא ישתנה\ניתקע בלופ)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1437" y="5363127"/>
            <a:ext cx="3246773" cy="1200329"/>
          </a:xfrm>
          <a:prstGeom prst="rect">
            <a:avLst/>
          </a:prstGeom>
          <a:solidFill>
            <a:srgbClr val="3333CC"/>
          </a:solidFill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If (~flag) begin</a:t>
            </a:r>
          </a:p>
          <a:p>
            <a:pPr algn="l"/>
            <a:r>
              <a:rPr lang="en-GB" dirty="0" err="1"/>
              <a:t>SingleHitPulse</a:t>
            </a:r>
            <a:r>
              <a:rPr lang="en-GB" dirty="0"/>
              <a:t> &lt;= </a:t>
            </a:r>
            <a:r>
              <a:rPr lang="en-GB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	</a:t>
            </a:r>
          </a:p>
          <a:p>
            <a:pPr algn="l"/>
            <a:r>
              <a:rPr lang="en-US" dirty="0"/>
              <a:t>flag &lt;= 1	         </a:t>
            </a:r>
          </a:p>
          <a:p>
            <a:pPr algn="l"/>
            <a:r>
              <a:rPr lang="en-US" dirty="0"/>
              <a:t>end  </a:t>
            </a:r>
            <a:endParaRPr lang="he-IL" dirty="0"/>
          </a:p>
        </p:txBody>
      </p:sp>
      <p:sp>
        <p:nvSpPr>
          <p:cNvPr id="33" name="TextBox 32"/>
          <p:cNvSpPr txBox="1"/>
          <p:nvPr/>
        </p:nvSpPr>
        <p:spPr>
          <a:xfrm>
            <a:off x="9885310" y="6309320"/>
            <a:ext cx="184730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1">
            <a:spAutoFit/>
          </a:bodyPr>
          <a:lstStyle/>
          <a:p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8" name="AutoShape 6" descr="תוצאת תמונה"/>
          <p:cNvSpPr>
            <a:spLocks noChangeAspect="1" noChangeArrowheads="1"/>
          </p:cNvSpPr>
          <p:nvPr/>
        </p:nvSpPr>
        <p:spPr bwMode="auto">
          <a:xfrm>
            <a:off x="155575" y="-4191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22" name="AutoShape 8" descr="תוצאת תמונה"/>
          <p:cNvSpPr>
            <a:spLocks noChangeAspect="1" noChangeArrowheads="1"/>
          </p:cNvSpPr>
          <p:nvPr/>
        </p:nvSpPr>
        <p:spPr bwMode="auto">
          <a:xfrm>
            <a:off x="307975" y="-2667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7" name="AutoShape 10" descr="תוצאת תמונה עבור ‪ball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9" name="AutoShape 12" descr="×ª××¦××ª ×ª××× × ×¢×××¨ âªballâ¬â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356052" y="1710194"/>
            <a:ext cx="1890261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1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if </a:t>
            </a:r>
            <a:r>
              <a:rPr lang="en-US" dirty="0" err="1">
                <a:solidFill>
                  <a:schemeClr val="bg1"/>
                </a:solidFill>
              </a:rPr>
              <a:t>StratOfFrame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e-IL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flag &lt;= 0 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3" name="Oval Callout 2"/>
          <p:cNvSpPr/>
          <p:nvPr/>
        </p:nvSpPr>
        <p:spPr>
          <a:xfrm>
            <a:off x="2556942" y="1221382"/>
            <a:ext cx="2880320" cy="612648"/>
          </a:xfrm>
          <a:prstGeom prst="wedgeEllipseCallout">
            <a:avLst>
              <a:gd name="adj1" fmla="val -64407"/>
              <a:gd name="adj2" fmla="val 10268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 </a:t>
            </a:r>
            <a:r>
              <a:rPr lang="he-IL">
                <a:solidFill>
                  <a:schemeClr val="bg1"/>
                </a:solidFill>
              </a:rPr>
              <a:t>בפינה שמאלית עליונה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5" name="Oval Callout 14"/>
          <p:cNvSpPr/>
          <p:nvPr/>
        </p:nvSpPr>
        <p:spPr>
          <a:xfrm>
            <a:off x="5255568" y="3983089"/>
            <a:ext cx="3888432" cy="919871"/>
          </a:xfrm>
          <a:prstGeom prst="wedgeEllipseCallout">
            <a:avLst>
              <a:gd name="adj1" fmla="val -17250"/>
              <a:gd name="adj2" fmla="val 880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e-IL" dirty="0">
                <a:solidFill>
                  <a:schemeClr val="bg1"/>
                </a:solidFill>
              </a:rPr>
              <a:t>החלטה עבור כל אירוע של התנגשות (בכל פיקסל)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260" y="2909412"/>
            <a:ext cx="88634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SingleHitPulse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FF8000"/>
                </a:solidFill>
                <a:latin typeface="Courier New" panose="02070309020205020404" pitchFamily="49" charset="0"/>
              </a:rPr>
              <a:t>1'b0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008000"/>
                </a:solidFill>
                <a:latin typeface="Courier New" panose="02070309020205020404" pitchFamily="49" charset="0"/>
              </a:rPr>
              <a:t>// default</a:t>
            </a:r>
          </a:p>
          <a:p>
            <a:pPr algn="l" rtl="0"/>
            <a:r>
              <a:rPr lang="en-GB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startOfFrame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flag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FF8000"/>
                </a:solidFill>
                <a:latin typeface="Courier New" panose="02070309020205020404" pitchFamily="49" charset="0"/>
              </a:rPr>
              <a:t>1'b0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008000"/>
                </a:solidFill>
                <a:latin typeface="Courier New" panose="02070309020205020404" pitchFamily="49" charset="0"/>
              </a:rPr>
              <a:t>// reset for next time </a:t>
            </a:r>
          </a:p>
          <a:p>
            <a:pPr algn="l" rtl="0"/>
            <a:r>
              <a:rPr lang="en-GB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collision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&amp;&amp;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flag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FF8000"/>
                </a:solidFill>
                <a:latin typeface="Courier New" panose="02070309020205020404" pitchFamily="49" charset="0"/>
              </a:rPr>
              <a:t>1'b0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 rtl="0"/>
            <a:r>
              <a:rPr lang="en-GB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begin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 rtl="0"/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flag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FF8000"/>
                </a:solidFill>
                <a:latin typeface="Courier New" panose="02070309020205020404" pitchFamily="49" charset="0"/>
              </a:rPr>
              <a:t>1'b1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008000"/>
                </a:solidFill>
                <a:latin typeface="Courier New" panose="02070309020205020404" pitchFamily="49" charset="0"/>
              </a:rPr>
              <a:t>// to enter only once </a:t>
            </a:r>
          </a:p>
          <a:p>
            <a:pPr algn="l" rtl="0"/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SingleHitPulse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FF8000"/>
                </a:solidFill>
                <a:latin typeface="Courier New" panose="02070309020205020404" pitchFamily="49" charset="0"/>
              </a:rPr>
              <a:t>1'b1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algn="l" rtl="0"/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GB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56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715" y="-329027"/>
            <a:ext cx="6554867" cy="1524000"/>
          </a:xfrm>
        </p:spPr>
        <p:txBody>
          <a:bodyPr/>
          <a:lstStyle/>
          <a:p>
            <a:r>
              <a:rPr lang="he-IL" dirty="0">
                <a:solidFill>
                  <a:srgbClr val="3333CC"/>
                </a:solidFill>
              </a:rPr>
              <a:t>תלת </a:t>
            </a:r>
            <a:r>
              <a:rPr lang="he-IL" dirty="0" err="1">
                <a:solidFill>
                  <a:srgbClr val="3333CC"/>
                </a:solidFill>
              </a:rPr>
              <a:t>מימד</a:t>
            </a:r>
            <a:r>
              <a:rPr lang="he-IL" dirty="0">
                <a:solidFill>
                  <a:srgbClr val="3333CC"/>
                </a:solidFill>
              </a:rPr>
              <a:t> - פרספקטיבה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21" name="Picture 2" descr="http://www.digital-circuitry.com/IMAGES/webpage/MyLAB/VGA/thumbs/VGA_640x480_Layo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8555" y="2174414"/>
            <a:ext cx="381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43327" y="3075309"/>
            <a:ext cx="3587008" cy="362150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לציור הטרפז</a:t>
            </a:r>
          </a:p>
          <a:p>
            <a:pPr marL="342900" marR="0" lvl="0" indent="-342900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dirty="0">
                <a:solidFill>
                  <a:prstClr val="black">
                    <a:lumMod val="65000"/>
                    <a:lumOff val="35000"/>
                  </a:prstClr>
                </a:solidFill>
              </a:rPr>
              <a:t>עבור  כל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Yi </a:t>
            </a:r>
            <a:r>
              <a:rPr lang="he-IL" dirty="0">
                <a:solidFill>
                  <a:prstClr val="black">
                    <a:lumMod val="65000"/>
                    <a:lumOff val="35000"/>
                  </a:prstClr>
                </a:solidFill>
              </a:rPr>
              <a:t> חישוב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XiL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XiR</a:t>
            </a:r>
            <a:endParaRPr lang="he-IL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342900" marR="0" lvl="0" indent="-342900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בדיקה אם בתוך התחום 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&lt; X) &amp;&amp; (X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&amp;&amp; 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(top&lt;Y) &amp;&amp; (Y &lt;bottom)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he-IL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שימו לב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he-IL" dirty="0">
                <a:solidFill>
                  <a:srgbClr val="FF0000"/>
                </a:solidFill>
              </a:rPr>
              <a:t>ש</a:t>
            </a:r>
            <a:r>
              <a:rPr lang="en-US" dirty="0">
                <a:solidFill>
                  <a:srgbClr val="FF0000"/>
                </a:solidFill>
              </a:rPr>
              <a:t>          </a:t>
            </a:r>
            <a:r>
              <a:rPr lang="he-IL" dirty="0">
                <a:solidFill>
                  <a:srgbClr val="FF0000"/>
                </a:solidFill>
              </a:rPr>
              <a:t>        כפולה של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-n</a:t>
            </a:r>
            <a:endParaRPr lang="he-IL" baseline="30000" dirty="0">
              <a:solidFill>
                <a:srgbClr val="FF0000"/>
              </a:solidFill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he-IL" sz="2800" baseline="30000" dirty="0">
              <a:solidFill>
                <a:srgbClr val="FF0000"/>
              </a:solidFill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he-IL" sz="2800" baseline="30000" dirty="0">
                <a:solidFill>
                  <a:srgbClr val="FF0000"/>
                </a:solidFill>
              </a:rPr>
              <a:t>למשל 1/8</a:t>
            </a:r>
            <a:r>
              <a:rPr lang="he-IL" baseline="30000" dirty="0">
                <a:solidFill>
                  <a:srgbClr val="FF0000"/>
                </a:solidFill>
              </a:rPr>
              <a:t> </a:t>
            </a:r>
          </a:p>
          <a:p>
            <a:pPr algn="ctr">
              <a:defRPr/>
            </a:pPr>
            <a:r>
              <a:rPr lang="he-IL" dirty="0">
                <a:solidFill>
                  <a:srgbClr val="FF0000"/>
                </a:solidFill>
              </a:rPr>
              <a:t>זכרו לעבוד ב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he-IL" dirty="0">
                <a:solidFill>
                  <a:srgbClr val="FF0000"/>
                </a:solidFill>
              </a:rPr>
              <a:t> או ב-</a:t>
            </a:r>
            <a:r>
              <a:rPr lang="en-US" dirty="0">
                <a:solidFill>
                  <a:srgbClr val="FF0000"/>
                </a:solidFill>
              </a:rPr>
              <a:t> signed logic 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5" name="Flowchart: Manual Operation 4"/>
          <p:cNvSpPr/>
          <p:nvPr/>
        </p:nvSpPr>
        <p:spPr>
          <a:xfrm rot="10800000">
            <a:off x="5796136" y="2708920"/>
            <a:ext cx="720080" cy="966554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9" name="Picture 18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87" y="700545"/>
            <a:ext cx="3528060" cy="2162175"/>
          </a:xfrm>
          <a:prstGeom prst="rect">
            <a:avLst/>
          </a:prstGeom>
        </p:spPr>
      </p:pic>
      <p:sp>
        <p:nvSpPr>
          <p:cNvPr id="6" name="Parallelogram 5"/>
          <p:cNvSpPr/>
          <p:nvPr/>
        </p:nvSpPr>
        <p:spPr>
          <a:xfrm flipH="1">
            <a:off x="6176162" y="1526197"/>
            <a:ext cx="589480" cy="3315217"/>
          </a:xfrm>
          <a:prstGeom prst="parallelogram">
            <a:avLst>
              <a:gd name="adj" fmla="val 8393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4576515" y="4959786"/>
            <a:ext cx="144366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משוואת הישר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45036"/>
              </p:ext>
            </p:extLst>
          </p:nvPr>
        </p:nvGraphicFramePr>
        <p:xfrm>
          <a:off x="4581525" y="5503863"/>
          <a:ext cx="30273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" name="Equation" r:id="rId6" imgW="1650960" imgH="431640" progId="Equation.DSMT4">
                  <p:embed/>
                </p:oleObj>
              </mc:Choice>
              <mc:Fallback>
                <p:oleObj name="Equation" r:id="rId6" imgW="1650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81525" y="5503863"/>
                        <a:ext cx="3027363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34066" y="1155767"/>
            <a:ext cx="9669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X1,Y1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00997" y="3007531"/>
            <a:ext cx="804452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Xi,Yi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6096483" y="1422624"/>
            <a:ext cx="240616" cy="3102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Oval 26"/>
          <p:cNvSpPr/>
          <p:nvPr/>
        </p:nvSpPr>
        <p:spPr>
          <a:xfrm>
            <a:off x="6600997" y="4701243"/>
            <a:ext cx="240616" cy="3102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Oval 27"/>
          <p:cNvSpPr/>
          <p:nvPr/>
        </p:nvSpPr>
        <p:spPr>
          <a:xfrm>
            <a:off x="6360381" y="3019336"/>
            <a:ext cx="240616" cy="3102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TextBox 29"/>
          <p:cNvSpPr txBox="1"/>
          <p:nvPr/>
        </p:nvSpPr>
        <p:spPr>
          <a:xfrm>
            <a:off x="6709065" y="4944333"/>
            <a:ext cx="9669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X2,Y2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745533" y="3021691"/>
            <a:ext cx="240616" cy="31025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Oval 31"/>
          <p:cNvSpPr/>
          <p:nvPr/>
        </p:nvSpPr>
        <p:spPr>
          <a:xfrm>
            <a:off x="3628132" y="3919219"/>
            <a:ext cx="240616" cy="3102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Oval 32"/>
          <p:cNvSpPr/>
          <p:nvPr/>
        </p:nvSpPr>
        <p:spPr>
          <a:xfrm>
            <a:off x="1115616" y="3878576"/>
            <a:ext cx="240616" cy="31025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37586" y="4847455"/>
                <a:ext cx="1068261" cy="656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he-I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he-IL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he-IL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he-IL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he-IL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86" y="4847455"/>
                <a:ext cx="1068261" cy="6562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2037586" y="4701243"/>
            <a:ext cx="1068261" cy="87723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Oval 21"/>
          <p:cNvSpPr/>
          <p:nvPr/>
        </p:nvSpPr>
        <p:spPr>
          <a:xfrm>
            <a:off x="6516216" y="5379249"/>
            <a:ext cx="1303525" cy="104138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1765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21" y="4797152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8910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0"/>
            <a:ext cx="6554867" cy="1524000"/>
          </a:xfrm>
        </p:spPr>
        <p:txBody>
          <a:bodyPr/>
          <a:lstStyle/>
          <a:p>
            <a:pPr algn="ctr"/>
            <a:r>
              <a:rPr lang="he-IL" dirty="0" err="1">
                <a:solidFill>
                  <a:srgbClr val="3333CC"/>
                </a:solidFill>
              </a:rPr>
              <a:t>סיפתח</a:t>
            </a:r>
            <a:r>
              <a:rPr lang="he-IL" dirty="0">
                <a:solidFill>
                  <a:srgbClr val="3333CC"/>
                </a:solidFill>
              </a:rPr>
              <a:t> </a:t>
            </a:r>
            <a:r>
              <a:rPr lang="ar-AE" dirty="0" err="1">
                <a:solidFill>
                  <a:srgbClr val="3333CC"/>
                </a:solidFill>
              </a:rPr>
              <a:t>إستفتاح</a:t>
            </a:r>
            <a:r>
              <a:rPr lang="ar-AE" dirty="0">
                <a:solidFill>
                  <a:srgbClr val="3333CC"/>
                </a:solidFill>
              </a:rPr>
              <a:t> </a:t>
            </a:r>
            <a:r>
              <a:rPr lang="he-IL" dirty="0">
                <a:solidFill>
                  <a:srgbClr val="3333CC"/>
                </a:solidFill>
              </a:rPr>
              <a:t>– לכל </a:t>
            </a:r>
            <a:r>
              <a:rPr lang="he-IL" dirty="0" err="1">
                <a:solidFill>
                  <a:srgbClr val="3333CC"/>
                </a:solidFill>
              </a:rPr>
              <a:t>הפרוייקטים</a:t>
            </a:r>
            <a:r>
              <a:rPr lang="he-IL" dirty="0">
                <a:solidFill>
                  <a:srgbClr val="3333CC"/>
                </a:solidFill>
              </a:rPr>
              <a:t> </a:t>
            </a:r>
            <a:br>
              <a:rPr lang="he-IL" dirty="0">
                <a:solidFill>
                  <a:srgbClr val="3333CC"/>
                </a:solidFill>
              </a:rPr>
            </a:br>
            <a:r>
              <a:rPr lang="he-IL" dirty="0">
                <a:solidFill>
                  <a:srgbClr val="3333CC"/>
                </a:solidFill>
              </a:rPr>
              <a:t>1. הכרת ה </a:t>
            </a:r>
            <a:r>
              <a:rPr lang="en-US" dirty="0">
                <a:solidFill>
                  <a:srgbClr val="3333CC"/>
                </a:solidFill>
              </a:rPr>
              <a:t>VGA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47665" y="1200834"/>
            <a:ext cx="6226762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err="1">
                <a:solidFill>
                  <a:schemeClr val="bg1"/>
                </a:solidFill>
              </a:rPr>
              <a:t>תאור</a:t>
            </a:r>
            <a:r>
              <a:rPr lang="he-IL" b="1" dirty="0">
                <a:solidFill>
                  <a:schemeClr val="bg1"/>
                </a:solidFill>
              </a:rPr>
              <a:t> המוצר: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he-IL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 ציור ריבועים על המסך - רקע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BITMAP </a:t>
            </a:r>
            <a:r>
              <a:rPr lang="he-IL" dirty="0">
                <a:solidFill>
                  <a:schemeClr val="bg1"/>
                </a:solidFill>
              </a:rPr>
              <a:t> של סמיילי שנע כל המסך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7665" y="2235494"/>
            <a:ext cx="6226762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bg1"/>
                </a:solidFill>
              </a:rPr>
              <a:t>שיטה: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he-IL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יצירת </a:t>
            </a:r>
            <a:r>
              <a:rPr lang="en-US" dirty="0">
                <a:solidFill>
                  <a:schemeClr val="bg1"/>
                </a:solidFill>
              </a:rPr>
              <a:t>XY </a:t>
            </a:r>
            <a:r>
              <a:rPr lang="he-IL" dirty="0">
                <a:solidFill>
                  <a:schemeClr val="bg1"/>
                </a:solidFill>
              </a:rPr>
              <a:t> מ</a:t>
            </a:r>
            <a:r>
              <a:rPr lang="en-US" dirty="0">
                <a:solidFill>
                  <a:schemeClr val="bg1"/>
                </a:solidFill>
              </a:rPr>
              <a:t>VGA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controller</a:t>
            </a:r>
            <a:endParaRPr lang="he-I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שימוש ב</a:t>
            </a:r>
            <a:r>
              <a:rPr lang="en-US" dirty="0">
                <a:solidFill>
                  <a:schemeClr val="bg1"/>
                </a:solidFill>
              </a:rPr>
              <a:t>XY </a:t>
            </a:r>
            <a:r>
              <a:rPr lang="he-IL" dirty="0">
                <a:solidFill>
                  <a:schemeClr val="bg1"/>
                </a:solidFill>
              </a:rPr>
              <a:t> לצייר ריבועים סטטיים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מכונה המזיזה את סמיילי לאט (</a:t>
            </a:r>
            <a:r>
              <a:rPr lang="en-US" dirty="0">
                <a:solidFill>
                  <a:schemeClr val="bg1"/>
                </a:solidFill>
              </a:rPr>
              <a:t>" </a:t>
            </a:r>
            <a:r>
              <a:rPr lang="he-IL" dirty="0">
                <a:solidFill>
                  <a:schemeClr val="bg1"/>
                </a:solidFill>
              </a:rPr>
              <a:t>שעון" </a:t>
            </a:r>
            <a:r>
              <a:rPr lang="en-US" dirty="0" err="1">
                <a:solidFill>
                  <a:schemeClr val="bg1"/>
                </a:solidFill>
              </a:rPr>
              <a:t>StartOfFrame</a:t>
            </a:r>
            <a:r>
              <a:rPr lang="he-IL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he-I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ציור </a:t>
            </a:r>
            <a:r>
              <a:rPr lang="en-US" dirty="0">
                <a:solidFill>
                  <a:schemeClr val="bg1"/>
                </a:solidFill>
              </a:rPr>
              <a:t>BITMAP </a:t>
            </a:r>
            <a:r>
              <a:rPr lang="he-IL" dirty="0">
                <a:solidFill>
                  <a:schemeClr val="bg1"/>
                </a:solidFill>
              </a:rPr>
              <a:t> של סמיילי מוזז לפי </a:t>
            </a:r>
            <a:r>
              <a:rPr lang="en-US" dirty="0">
                <a:solidFill>
                  <a:schemeClr val="bg1"/>
                </a:solidFill>
              </a:rPr>
              <a:t>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MUX</a:t>
            </a:r>
            <a:r>
              <a:rPr lang="he-IL" dirty="0">
                <a:solidFill>
                  <a:schemeClr val="bg1"/>
                </a:solidFill>
              </a:rPr>
              <a:t>  שמחליט מה להציג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solidFill>
                <a:schemeClr val="bg1"/>
              </a:solidFill>
            </a:endParaRPr>
          </a:p>
          <a:p>
            <a:r>
              <a:rPr lang="he-IL" b="1" dirty="0">
                <a:solidFill>
                  <a:schemeClr val="bg1"/>
                </a:solidFill>
              </a:rPr>
              <a:t>ראו קוד מוכן במודל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665" y="4543818"/>
            <a:ext cx="6226762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>
                <a:solidFill>
                  <a:schemeClr val="bg1"/>
                </a:solidFill>
              </a:rPr>
              <a:t>משימה לסטודנטים 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he-IL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שינוי הרקע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</a:rPr>
              <a:t>שינוי הסמיילי</a:t>
            </a:r>
          </a:p>
        </p:txBody>
      </p:sp>
    </p:spTree>
    <p:extLst>
      <p:ext uri="{BB962C8B-B14F-4D97-AF65-F5344CB8AC3E}">
        <p14:creationId xmlns:p14="http://schemas.microsoft.com/office/powerpoint/2010/main" val="3527626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0450" y="476672"/>
            <a:ext cx="5269474" cy="932752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 err="1">
                <a:solidFill>
                  <a:srgbClr val="3333CC"/>
                </a:solidFill>
              </a:rPr>
              <a:t>סיפתח</a:t>
            </a:r>
            <a:r>
              <a:rPr lang="he-IL" dirty="0">
                <a:solidFill>
                  <a:srgbClr val="3333CC"/>
                </a:solidFill>
              </a:rPr>
              <a:t> </a:t>
            </a:r>
            <a:r>
              <a:rPr lang="ar-AE" dirty="0" err="1">
                <a:solidFill>
                  <a:srgbClr val="3333CC"/>
                </a:solidFill>
              </a:rPr>
              <a:t>إستفتاح</a:t>
            </a:r>
            <a:br>
              <a:rPr lang="he-IL" dirty="0">
                <a:solidFill>
                  <a:srgbClr val="3333CC"/>
                </a:solidFill>
              </a:rPr>
            </a:br>
            <a:r>
              <a:rPr lang="he-IL" dirty="0">
                <a:solidFill>
                  <a:srgbClr val="3333CC"/>
                </a:solidFill>
              </a:rPr>
              <a:t> 2. אינטגרציה </a:t>
            </a:r>
            <a:endParaRPr lang="en-US" dirty="0">
              <a:solidFill>
                <a:srgbClr val="33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5" y="195586"/>
            <a:ext cx="7831570" cy="5184576"/>
          </a:xfrm>
        </p:spPr>
        <p:txBody>
          <a:bodyPr>
            <a:normAutofit/>
          </a:bodyPr>
          <a:lstStyle/>
          <a:p>
            <a:r>
              <a:rPr lang="he-IL" dirty="0"/>
              <a:t>הוספת תכנים ממעבדת </a:t>
            </a:r>
            <a:r>
              <a:rPr lang="en-US" dirty="0"/>
              <a:t>DEBUG</a:t>
            </a:r>
            <a:r>
              <a:rPr lang="he-IL" dirty="0"/>
              <a:t> - עצירת תנועת הפרצופון כל מקש </a:t>
            </a:r>
          </a:p>
          <a:p>
            <a:r>
              <a:rPr lang="he-IL" dirty="0"/>
              <a:t>הוספת מחולל סינוס- צליל בכל מקש </a:t>
            </a:r>
          </a:p>
          <a:p>
            <a:pPr marL="0" indent="0">
              <a:buNone/>
            </a:pPr>
            <a:endParaRPr lang="he-IL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he-IL" dirty="0"/>
          </a:p>
          <a:p>
            <a:endParaRPr lang="he-I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Down Arrow 5"/>
          <p:cNvSpPr/>
          <p:nvPr/>
        </p:nvSpPr>
        <p:spPr>
          <a:xfrm rot="5400000" flipV="1">
            <a:off x="5229365" y="3310375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4301601" y="3501008"/>
            <a:ext cx="72008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D2A</a:t>
            </a:r>
            <a:endParaRPr lang="he-IL" dirty="0"/>
          </a:p>
        </p:txBody>
      </p:sp>
      <p:sp>
        <p:nvSpPr>
          <p:cNvPr id="9" name="Rectangle 8"/>
          <p:cNvSpPr/>
          <p:nvPr/>
        </p:nvSpPr>
        <p:spPr>
          <a:xfrm>
            <a:off x="2850262" y="3501008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Sin</a:t>
            </a:r>
            <a:endParaRPr lang="he-IL" dirty="0"/>
          </a:p>
        </p:txBody>
      </p:sp>
      <p:sp>
        <p:nvSpPr>
          <p:cNvPr id="10" name="Down Arrow 9"/>
          <p:cNvSpPr/>
          <p:nvPr/>
        </p:nvSpPr>
        <p:spPr>
          <a:xfrm rot="5400000" flipV="1">
            <a:off x="3729708" y="3465637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Elbow Connector 10"/>
          <p:cNvCxnSpPr>
            <a:stCxn id="12" idx="3"/>
            <a:endCxn id="9" idx="1"/>
          </p:cNvCxnSpPr>
          <p:nvPr/>
        </p:nvCxnSpPr>
        <p:spPr>
          <a:xfrm flipV="1">
            <a:off x="1972791" y="3827539"/>
            <a:ext cx="877471" cy="89930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2671" y="4400309"/>
            <a:ext cx="1080120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counter</a:t>
            </a:r>
            <a:endParaRPr lang="he-IL" dirty="0"/>
          </a:p>
        </p:txBody>
      </p:sp>
      <p:sp>
        <p:nvSpPr>
          <p:cNvPr id="13" name="Rectangle 12"/>
          <p:cNvSpPr/>
          <p:nvPr/>
        </p:nvSpPr>
        <p:spPr>
          <a:xfrm>
            <a:off x="1285678" y="5636616"/>
            <a:ext cx="1080120" cy="6530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KBD</a:t>
            </a:r>
            <a:endParaRPr lang="he-IL" dirty="0"/>
          </a:p>
        </p:txBody>
      </p:sp>
      <p:cxnSp>
        <p:nvCxnSpPr>
          <p:cNvPr id="14" name="Elbow Connector 13"/>
          <p:cNvCxnSpPr>
            <a:stCxn id="13" idx="3"/>
            <a:endCxn id="9" idx="2"/>
          </p:cNvCxnSpPr>
          <p:nvPr/>
        </p:nvCxnSpPr>
        <p:spPr>
          <a:xfrm flipV="1">
            <a:off x="2365798" y="4154069"/>
            <a:ext cx="844504" cy="1809078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46587" y="3536177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Sin</a:t>
            </a:r>
            <a:endParaRPr lang="he-IL" dirty="0"/>
          </a:p>
        </p:txBody>
      </p:sp>
      <p:cxnSp>
        <p:nvCxnSpPr>
          <p:cNvPr id="16" name="Elbow Connector 15"/>
          <p:cNvCxnSpPr>
            <a:stCxn id="17" idx="3"/>
            <a:endCxn id="15" idx="1"/>
          </p:cNvCxnSpPr>
          <p:nvPr/>
        </p:nvCxnSpPr>
        <p:spPr>
          <a:xfrm flipV="1">
            <a:off x="1969116" y="3862708"/>
            <a:ext cx="877471" cy="89930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88996" y="4435478"/>
            <a:ext cx="1080120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counter</a:t>
            </a:r>
            <a:endParaRPr lang="he-IL" dirty="0"/>
          </a:p>
        </p:txBody>
      </p:sp>
      <p:sp>
        <p:nvSpPr>
          <p:cNvPr id="18" name="Rectangle 17"/>
          <p:cNvSpPr/>
          <p:nvPr/>
        </p:nvSpPr>
        <p:spPr>
          <a:xfrm>
            <a:off x="1282003" y="5671785"/>
            <a:ext cx="1080120" cy="6530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KBD</a:t>
            </a:r>
            <a:endParaRPr lang="he-IL" dirty="0"/>
          </a:p>
        </p:txBody>
      </p:sp>
      <p:cxnSp>
        <p:nvCxnSpPr>
          <p:cNvPr id="19" name="Elbow Connector 18"/>
          <p:cNvCxnSpPr>
            <a:stCxn id="18" idx="3"/>
            <a:endCxn id="15" idx="2"/>
          </p:cNvCxnSpPr>
          <p:nvPr/>
        </p:nvCxnSpPr>
        <p:spPr>
          <a:xfrm flipV="1">
            <a:off x="2362123" y="4189238"/>
            <a:ext cx="844504" cy="1809078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29593" y="481387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ציור</a:t>
            </a:r>
          </a:p>
          <a:p>
            <a:pPr algn="ctr"/>
            <a:r>
              <a:rPr lang="he-IL" dirty="0" err="1"/>
              <a:t>סמילי</a:t>
            </a:r>
            <a:endParaRPr lang="he-IL" dirty="0"/>
          </a:p>
        </p:txBody>
      </p:sp>
      <p:sp>
        <p:nvSpPr>
          <p:cNvPr id="21" name="Down Arrow 20"/>
          <p:cNvSpPr/>
          <p:nvPr/>
        </p:nvSpPr>
        <p:spPr>
          <a:xfrm rot="5400000" flipV="1">
            <a:off x="5264093" y="4776375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Rectangle 22"/>
          <p:cNvSpPr/>
          <p:nvPr/>
        </p:nvSpPr>
        <p:spPr>
          <a:xfrm>
            <a:off x="5870055" y="4966642"/>
            <a:ext cx="696538" cy="34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19634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398870" y="188640"/>
            <a:ext cx="5269474" cy="932752"/>
          </a:xfrm>
        </p:spPr>
        <p:txBody>
          <a:bodyPr>
            <a:normAutofit/>
          </a:bodyPr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מודול השמע</a:t>
            </a:r>
            <a:endParaRPr lang="en-US" dirty="0">
              <a:solidFill>
                <a:srgbClr val="3333CC"/>
              </a:solidFill>
            </a:endParaRPr>
          </a:p>
        </p:txBody>
      </p:sp>
      <p:pic>
        <p:nvPicPr>
          <p:cNvPr id="23" name="Picture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20" y="643708"/>
            <a:ext cx="5774432" cy="314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ectangle 23"/>
          <p:cNvSpPr/>
          <p:nvPr/>
        </p:nvSpPr>
        <p:spPr>
          <a:xfrm>
            <a:off x="4860032" y="1547879"/>
            <a:ext cx="40679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הצליל יושמע על הרמקול של המסך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544" y="5166907"/>
            <a:ext cx="31076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4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השליטה ב"תו" (גובה  הצליל) על ידי מקשי המקלדת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sz="24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1E9BDC-DB35-4C56-8DE3-31728BE1F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191" y="3991515"/>
            <a:ext cx="4838817" cy="1831749"/>
          </a:xfrm>
          <a:prstGeom prst="rect">
            <a:avLst/>
          </a:prstGeom>
        </p:spPr>
      </p:pic>
      <p:sp>
        <p:nvSpPr>
          <p:cNvPr id="8" name="Oval Callout 14">
            <a:extLst>
              <a:ext uri="{FF2B5EF4-FFF2-40B4-BE49-F238E27FC236}">
                <a16:creationId xmlns:a16="http://schemas.microsoft.com/office/drawing/2014/main" id="{182A045A-6A04-4A87-9953-95E5E4BCE47A}"/>
              </a:ext>
            </a:extLst>
          </p:cNvPr>
          <p:cNvSpPr/>
          <p:nvPr/>
        </p:nvSpPr>
        <p:spPr>
          <a:xfrm>
            <a:off x="5021782" y="5861197"/>
            <a:ext cx="1259632" cy="537856"/>
          </a:xfrm>
          <a:prstGeom prst="wedgeEllipseCallout">
            <a:avLst>
              <a:gd name="adj1" fmla="val -53899"/>
              <a:gd name="adj2" fmla="val -9514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bg1"/>
                </a:solidFill>
              </a:rPr>
              <a:t> סוג הצליל</a:t>
            </a:r>
          </a:p>
        </p:txBody>
      </p:sp>
      <p:sp>
        <p:nvSpPr>
          <p:cNvPr id="9" name="Oval Callout 14">
            <a:extLst>
              <a:ext uri="{FF2B5EF4-FFF2-40B4-BE49-F238E27FC236}">
                <a16:creationId xmlns:a16="http://schemas.microsoft.com/office/drawing/2014/main" id="{CA3A38D4-294C-410B-852B-FD835C25D7A1}"/>
              </a:ext>
            </a:extLst>
          </p:cNvPr>
          <p:cNvSpPr/>
          <p:nvPr/>
        </p:nvSpPr>
        <p:spPr>
          <a:xfrm>
            <a:off x="1403648" y="4209302"/>
            <a:ext cx="1625038" cy="537856"/>
          </a:xfrm>
          <a:prstGeom prst="wedgeEllipseCallout">
            <a:avLst>
              <a:gd name="adj1" fmla="val 130049"/>
              <a:gd name="adj2" fmla="val 5175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ENABLE</a:t>
            </a:r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659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982113" y="3140968"/>
            <a:ext cx="7140966" cy="314184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17859" y="231761"/>
            <a:ext cx="5269474" cy="932752"/>
          </a:xfrm>
        </p:spPr>
        <p:txBody>
          <a:bodyPr>
            <a:normAutofit/>
          </a:bodyPr>
          <a:lstStyle/>
          <a:p>
            <a:pPr algn="ctr"/>
            <a:r>
              <a:rPr lang="he-IL" dirty="0">
                <a:solidFill>
                  <a:srgbClr val="3333CC"/>
                </a:solidFill>
              </a:rPr>
              <a:t>מחולל צלילים</a:t>
            </a:r>
            <a:endParaRPr lang="en-US" dirty="0">
              <a:solidFill>
                <a:srgbClr val="3333CC"/>
              </a:solidFill>
            </a:endParaRPr>
          </a:p>
        </p:txBody>
      </p:sp>
      <p:pic>
        <p:nvPicPr>
          <p:cNvPr id="34" name="Picture 3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456" y="3356992"/>
            <a:ext cx="1450254" cy="944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5" name="Picture 34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2614" y="6117560"/>
            <a:ext cx="12192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19"/>
          <p:cNvSpPr txBox="1"/>
          <p:nvPr/>
        </p:nvSpPr>
        <p:spPr>
          <a:xfrm>
            <a:off x="4536541" y="5655895"/>
            <a:ext cx="12192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he-IL" sz="1200" b="1" dirty="0">
                <a:solidFill>
                  <a:srgbClr val="CC0000"/>
                </a:solidFill>
              </a:rPr>
              <a:t>מונה 8 ביט לכתובות הזכרון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699792" y="1700808"/>
            <a:ext cx="4124656" cy="936104"/>
            <a:chOff x="3707904" y="2041671"/>
            <a:chExt cx="4124656" cy="936104"/>
          </a:xfrm>
        </p:grpSpPr>
        <p:sp>
          <p:nvSpPr>
            <p:cNvPr id="6" name="Down Arrow 5"/>
            <p:cNvSpPr/>
            <p:nvPr/>
          </p:nvSpPr>
          <p:spPr>
            <a:xfrm rot="5400000" flipV="1">
              <a:off x="6309424" y="2142462"/>
              <a:ext cx="433973" cy="74431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309561" y="2181112"/>
              <a:ext cx="861317" cy="6849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מונה 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69571" y="2041671"/>
              <a:ext cx="962989" cy="9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טבלת סינוס</a:t>
              </a:r>
            </a:p>
          </p:txBody>
        </p:sp>
        <p:sp>
          <p:nvSpPr>
            <p:cNvPr id="39" name="Down Arrow 38"/>
            <p:cNvSpPr/>
            <p:nvPr/>
          </p:nvSpPr>
          <p:spPr>
            <a:xfrm rot="5400000" flipV="1">
              <a:off x="4707767" y="2179258"/>
              <a:ext cx="433973" cy="74431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707904" y="2217908"/>
              <a:ext cx="861317" cy="6849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מחלק תדר </a:t>
              </a:r>
            </a:p>
          </p:txBody>
        </p:sp>
      </p:grpSp>
      <p:sp>
        <p:nvSpPr>
          <p:cNvPr id="16" name="TextBox 19"/>
          <p:cNvSpPr txBox="1"/>
          <p:nvPr/>
        </p:nvSpPr>
        <p:spPr>
          <a:xfrm>
            <a:off x="6660232" y="5373216"/>
            <a:ext cx="121920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he-IL" sz="1200" b="1" dirty="0">
                <a:solidFill>
                  <a:srgbClr val="CC0000"/>
                </a:solidFill>
              </a:rPr>
              <a:t>בקר שמע </a:t>
            </a:r>
          </a:p>
        </p:txBody>
      </p:sp>
    </p:spTree>
    <p:extLst>
      <p:ext uri="{BB962C8B-B14F-4D97-AF65-F5344CB8AC3E}">
        <p14:creationId xmlns:p14="http://schemas.microsoft.com/office/powerpoint/2010/main" val="2754526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21" y="4293096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9643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C7E28E1-84C6-4181-9231-E4B5C1C20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76" y="817781"/>
            <a:ext cx="4002426" cy="4349648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15616" y="-60856"/>
            <a:ext cx="5773530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יצירת רקע ממרצפות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055333" y="1140624"/>
          <a:ext cx="3377753" cy="3552940"/>
        </p:xfrm>
        <a:graphic>
          <a:graphicData uri="http://schemas.openxmlformats.org/drawingml/2006/table">
            <a:tbl>
              <a:tblPr rtl="1">
                <a:tableStyleId>{D113A9D2-9D6B-4929-AA2D-F23B5EE8CBE7}</a:tableStyleId>
              </a:tblPr>
              <a:tblGrid>
                <a:gridCol w="402082">
                  <a:extLst>
                    <a:ext uri="{9D8B030D-6E8A-4147-A177-3AD203B41FA5}">
                      <a16:colId xmlns:a16="http://schemas.microsoft.com/office/drawing/2014/main" val="1473511750"/>
                    </a:ext>
                  </a:extLst>
                </a:gridCol>
                <a:gridCol w="400255">
                  <a:extLst>
                    <a:ext uri="{9D8B030D-6E8A-4147-A177-3AD203B41FA5}">
                      <a16:colId xmlns:a16="http://schemas.microsoft.com/office/drawing/2014/main" val="1390978790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1971848474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986439930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1165726112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1779368045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1758205427"/>
                    </a:ext>
                  </a:extLst>
                </a:gridCol>
                <a:gridCol w="429236">
                  <a:extLst>
                    <a:ext uri="{9D8B030D-6E8A-4147-A177-3AD203B41FA5}">
                      <a16:colId xmlns:a16="http://schemas.microsoft.com/office/drawing/2014/main" val="1764405722"/>
                    </a:ext>
                  </a:extLst>
                </a:gridCol>
              </a:tblGrid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738009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79406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55824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84053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778163"/>
                  </a:ext>
                </a:extLst>
              </a:tr>
              <a:tr h="20153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422215"/>
                  </a:ext>
                </a:extLst>
              </a:tr>
              <a:tr h="20153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947113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5544"/>
                  </a:ext>
                </a:extLst>
              </a:tr>
              <a:tr h="40306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94120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66018" y="4824902"/>
            <a:ext cx="4689315" cy="181588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טבלה ראשונית: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</a:t>
            </a:r>
            <a:endParaRPr lang="he-IL" sz="16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>
              <a:spcAft>
                <a:spcPts val="0"/>
              </a:spcAft>
            </a:pPr>
            <a:r>
              <a:rPr lang="he-IL" sz="16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יצוג</a:t>
            </a: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ע"י מספר ביטים לכל תא, בהתאם לכמות הדוגמאות שרוצים לשבץ 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גישה לטבלה  - באמצעות מפענח 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XY</a:t>
            </a:r>
            <a:endParaRPr lang="he-IL" sz="16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משם בוחרים באיזה 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  BMAP </a:t>
            </a: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להשתמש</a:t>
            </a:r>
          </a:p>
          <a:p>
            <a:pPr>
              <a:spcAft>
                <a:spcPts val="0"/>
              </a:spcAft>
            </a:pP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טבלה משנית 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גישה לפיקסל ספציפי ב </a:t>
            </a:r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BMAP</a:t>
            </a:r>
            <a:r>
              <a:rPr lang="he-IL" sz="1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David" panose="020E0502060401010101" pitchFamily="34" charset="-79"/>
              </a:rPr>
              <a:t>. 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3796301" y="1355238"/>
            <a:ext cx="2287867" cy="342218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H="1">
            <a:off x="3635896" y="3705825"/>
            <a:ext cx="2232248" cy="73128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928DB8E7-B107-4D51-A189-8B7435CDAEA9}"/>
              </a:ext>
            </a:extLst>
          </p:cNvPr>
          <p:cNvSpPr/>
          <p:nvPr/>
        </p:nvSpPr>
        <p:spPr>
          <a:xfrm>
            <a:off x="3255057" y="4269026"/>
            <a:ext cx="349903" cy="36253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8B27A053-05BF-4037-88D4-C2F3A60886D7}"/>
              </a:ext>
            </a:extLst>
          </p:cNvPr>
          <p:cNvSpPr/>
          <p:nvPr/>
        </p:nvSpPr>
        <p:spPr>
          <a:xfrm>
            <a:off x="3563888" y="1124744"/>
            <a:ext cx="349903" cy="362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408567" y="2276361"/>
            <a:ext cx="2691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יש לעבוד ברזולוציה נמוכה 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E172DBDA-5C61-4F5D-A191-87795C050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24" y="4641828"/>
            <a:ext cx="485409" cy="458932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2EB057F8-AE83-4C99-914A-0C526145C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185" y="3891827"/>
            <a:ext cx="485408" cy="485408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478D7AA5-E438-47C4-BB6A-6F471E6C9E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624" y="3192768"/>
            <a:ext cx="486969" cy="495665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B3F14C2F-FB79-44BD-B5B4-73968D5FC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1624" y="2475596"/>
            <a:ext cx="486969" cy="475901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5A5FFB0C-AA92-49F7-84E4-04520C1B37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1624" y="1788436"/>
            <a:ext cx="486969" cy="527524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098D4B7D-3A06-4997-8044-45C8C6DC67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1624" y="1124744"/>
            <a:ext cx="486969" cy="504056"/>
          </a:xfrm>
          <a:prstGeom prst="rect">
            <a:avLst/>
          </a:prstGeom>
        </p:spPr>
      </p:pic>
      <p:sp>
        <p:nvSpPr>
          <p:cNvPr id="7" name="Oval Callout 6"/>
          <p:cNvSpPr/>
          <p:nvPr/>
        </p:nvSpPr>
        <p:spPr>
          <a:xfrm>
            <a:off x="5740270" y="4202629"/>
            <a:ext cx="2376202" cy="936104"/>
          </a:xfrm>
          <a:prstGeom prst="wedgeEllipseCallout">
            <a:avLst>
              <a:gd name="adj1" fmla="val -19301"/>
              <a:gd name="adj2" fmla="val -125349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טבלה ראשונית, משבצות 30*40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5740270" y="5780351"/>
            <a:ext cx="2376202" cy="936104"/>
          </a:xfrm>
          <a:prstGeom prst="wedgeEllipseCallout">
            <a:avLst>
              <a:gd name="adj1" fmla="val 79493"/>
              <a:gd name="adj2" fmla="val -146952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טבלה משנית, משבצות 16*16</a:t>
            </a:r>
          </a:p>
        </p:txBody>
      </p:sp>
    </p:spTree>
    <p:extLst>
      <p:ext uri="{BB962C8B-B14F-4D97-AF65-F5344CB8AC3E}">
        <p14:creationId xmlns:p14="http://schemas.microsoft.com/office/powerpoint/2010/main" val="327276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מפענח </a:t>
            </a:r>
            <a:r>
              <a:rPr lang="en-US" b="1" u="sng" dirty="0">
                <a:solidFill>
                  <a:srgbClr val="3333CC"/>
                </a:solidFill>
              </a:rPr>
              <a:t>XY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69136" y="4611580"/>
            <a:ext cx="1080120" cy="653061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INDEX</a:t>
            </a:r>
            <a:endParaRPr lang="he-IL" sz="1600" dirty="0"/>
          </a:p>
        </p:txBody>
      </p:sp>
      <p:cxnSp>
        <p:nvCxnSpPr>
          <p:cNvPr id="17" name="Elbow Connector 16"/>
          <p:cNvCxnSpPr/>
          <p:nvPr/>
        </p:nvCxnSpPr>
        <p:spPr>
          <a:xfrm flipV="1">
            <a:off x="1699040" y="5108245"/>
            <a:ext cx="1066569" cy="47023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11506" y="5251947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מפענח לפי </a:t>
            </a:r>
            <a:r>
              <a:rPr lang="en-US" dirty="0"/>
              <a:t>XY</a:t>
            </a:r>
            <a:endParaRPr lang="he-IL" dirty="0"/>
          </a:p>
        </p:txBody>
      </p:sp>
      <p:pic>
        <p:nvPicPr>
          <p:cNvPr id="31" name="Picture 30"/>
          <p:cNvPicPr/>
          <p:nvPr/>
        </p:nvPicPr>
        <p:blipFill>
          <a:blip r:embed="rId3"/>
          <a:stretch>
            <a:fillRect/>
          </a:stretch>
        </p:blipFill>
        <p:spPr>
          <a:xfrm>
            <a:off x="1484607" y="688777"/>
            <a:ext cx="2971800" cy="33566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62482" y="1087716"/>
            <a:ext cx="7596336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300"/>
              </a:spcAft>
              <a:tabLst>
                <a:tab pos="566420" algn="l"/>
              </a:tabLst>
            </a:pPr>
            <a:endParaRPr lang="he-IL" sz="2000" b="1" i="1" kern="0" dirty="0">
              <a:solidFill>
                <a:srgbClr val="222222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Arial" panose="020B0604020202020204" pitchFamily="34" charset="0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מאפשר טיפול פשוט ויעיל למערך של עצמים דומים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פענוח מספר העצם (אינדקס) מהכתובת</a:t>
            </a:r>
          </a:p>
          <a:p>
            <a:pPr marL="742950" lvl="1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DIV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של הכתובת </a:t>
            </a:r>
          </a:p>
          <a:p>
            <a:pPr marL="285750" lvl="0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פענוח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OFFSET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בתוך העצם </a:t>
            </a:r>
          </a:p>
          <a:p>
            <a:pPr marL="742950" lvl="1" indent="-28575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MOD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של הכתובת </a:t>
            </a:r>
          </a:p>
          <a:p>
            <a:pPr lvl="1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כמובן שגודל המשבצות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2^n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לחילוק פשוט.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69136" y="5563719"/>
            <a:ext cx="1080120" cy="68468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X Y OFFSET</a:t>
            </a:r>
            <a:endParaRPr lang="he-IL" sz="1600" dirty="0"/>
          </a:p>
        </p:txBody>
      </p:sp>
      <p:cxnSp>
        <p:nvCxnSpPr>
          <p:cNvPr id="16" name="Elbow Connector 15"/>
          <p:cNvCxnSpPr>
            <a:stCxn id="19" idx="3"/>
            <a:endCxn id="13" idx="1"/>
          </p:cNvCxnSpPr>
          <p:nvPr/>
        </p:nvCxnSpPr>
        <p:spPr>
          <a:xfrm>
            <a:off x="1875602" y="5578478"/>
            <a:ext cx="893534" cy="32758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/>
          <p:nvPr/>
        </p:nvPicPr>
        <p:blipFill rotWithShape="1">
          <a:blip r:embed="rId3"/>
          <a:srcRect l="49391" t="40619" r="27143" b="43752"/>
          <a:stretch/>
        </p:blipFill>
        <p:spPr>
          <a:xfrm>
            <a:off x="5580100" y="3805811"/>
            <a:ext cx="2590247" cy="2126202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6255493" y="4596139"/>
            <a:ext cx="432048" cy="256347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849256" y="3911833"/>
            <a:ext cx="2406237" cy="1821423"/>
          </a:xfrm>
          <a:prstGeom prst="straightConnector1">
            <a:avLst/>
          </a:prstGeom>
          <a:ln w="28575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69957" y="4700231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6,6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50568" y="4686669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6,7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50567" y="4033509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5,7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9894" y="4040501"/>
            <a:ext cx="50533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5,6</a:t>
            </a:r>
          </a:p>
          <a:p>
            <a:endParaRPr lang="he-IL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/>
          <p:cNvCxnSpPr>
            <a:stCxn id="15" idx="3"/>
          </p:cNvCxnSpPr>
          <p:nvPr/>
        </p:nvCxnSpPr>
        <p:spPr>
          <a:xfrm flipV="1">
            <a:off x="3849256" y="4209211"/>
            <a:ext cx="2520638" cy="728900"/>
          </a:xfrm>
          <a:prstGeom prst="straightConnector1">
            <a:avLst/>
          </a:prstGeom>
          <a:ln w="28575">
            <a:solidFill>
              <a:srgbClr val="7030A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Callout 23"/>
          <p:cNvSpPr/>
          <p:nvPr/>
        </p:nvSpPr>
        <p:spPr>
          <a:xfrm>
            <a:off x="3404592" y="3349471"/>
            <a:ext cx="1944215" cy="939262"/>
          </a:xfrm>
          <a:prstGeom prst="wedgeEllipseCallout">
            <a:avLst>
              <a:gd name="adj1" fmla="val 93213"/>
              <a:gd name="adj2" fmla="val 81903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- פינה שמאלית עליונה</a:t>
            </a:r>
          </a:p>
        </p:txBody>
      </p:sp>
    </p:spTree>
    <p:extLst>
      <p:ext uri="{BB962C8B-B14F-4D97-AF65-F5344CB8AC3E}">
        <p14:creationId xmlns:p14="http://schemas.microsoft.com/office/powerpoint/2010/main" val="790600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/>
          <p:nvPr/>
        </p:nvPicPr>
        <p:blipFill rotWithShape="1">
          <a:blip r:embed="rId3"/>
          <a:srcRect l="49391" t="40619" r="27143" b="43752"/>
          <a:stretch/>
        </p:blipFill>
        <p:spPr>
          <a:xfrm>
            <a:off x="5652120" y="2492896"/>
            <a:ext cx="2590247" cy="212620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טיפול בכל משבצת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24869" y="3978731"/>
            <a:ext cx="1080120" cy="653061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INDEX</a:t>
            </a:r>
            <a:endParaRPr lang="he-IL" sz="1600" dirty="0"/>
          </a:p>
        </p:txBody>
      </p:sp>
      <p:cxnSp>
        <p:nvCxnSpPr>
          <p:cNvPr id="17" name="Elbow Connector 16"/>
          <p:cNvCxnSpPr/>
          <p:nvPr/>
        </p:nvCxnSpPr>
        <p:spPr>
          <a:xfrm flipV="1">
            <a:off x="1654773" y="4475396"/>
            <a:ext cx="1066569" cy="47023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67239" y="4619098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מפענח לפי </a:t>
            </a:r>
            <a:r>
              <a:rPr lang="en-US" dirty="0"/>
              <a:t>XY</a:t>
            </a:r>
            <a:endParaRPr lang="he-IL" dirty="0"/>
          </a:p>
        </p:txBody>
      </p:sp>
      <p:sp>
        <p:nvSpPr>
          <p:cNvPr id="12" name="Rectangle 11"/>
          <p:cNvSpPr/>
          <p:nvPr/>
        </p:nvSpPr>
        <p:spPr>
          <a:xfrm>
            <a:off x="1253441" y="5431970"/>
            <a:ext cx="6503839" cy="126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300"/>
              </a:spcAft>
              <a:tabLst>
                <a:tab pos="566420" algn="l"/>
              </a:tabLst>
            </a:pPr>
            <a:endParaRPr lang="he-IL" sz="2000" b="1" i="1" kern="0" dirty="0">
              <a:solidFill>
                <a:srgbClr val="222222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Arial" panose="020B0604020202020204" pitchFamily="34" charset="0"/>
            </a:endParaRP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אזהרה: 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MOD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ו-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DIV </a:t>
            </a: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הן בזבזניות במימוש </a:t>
            </a:r>
          </a:p>
          <a:p>
            <a:pPr lvl="0">
              <a:spcAft>
                <a:spcPts val="0"/>
              </a:spcAft>
              <a:buSzPts val="1100"/>
            </a:pPr>
            <a:r>
              <a:rPr lang="he-IL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אלא אם כן עובדים בחזקות ש ל2 </a:t>
            </a:r>
          </a:p>
          <a:p>
            <a:pPr lvl="0">
              <a:spcAft>
                <a:spcPts val="0"/>
              </a:spcAft>
              <a:buSzPts val="1100"/>
            </a:pPr>
            <a:endParaRPr lang="he-IL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09174" y="2608003"/>
            <a:ext cx="1080120" cy="68468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X Y OFFSET</a:t>
            </a:r>
            <a:endParaRPr lang="he-IL" sz="1600" dirty="0"/>
          </a:p>
        </p:txBody>
      </p:sp>
      <p:cxnSp>
        <p:nvCxnSpPr>
          <p:cNvPr id="16" name="Elbow Connector 15"/>
          <p:cNvCxnSpPr>
            <a:stCxn id="19" idx="3"/>
            <a:endCxn id="13" idx="1"/>
          </p:cNvCxnSpPr>
          <p:nvPr/>
        </p:nvCxnSpPr>
        <p:spPr>
          <a:xfrm flipH="1" flipV="1">
            <a:off x="1209174" y="2950345"/>
            <a:ext cx="622161" cy="1995284"/>
          </a:xfrm>
          <a:prstGeom prst="bentConnector5">
            <a:avLst>
              <a:gd name="adj1" fmla="val -36743"/>
              <a:gd name="adj2" fmla="val 49604"/>
              <a:gd name="adj3" fmla="val 136743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/>
          <p:nvPr/>
        </p:nvPicPr>
        <p:blipFill rotWithShape="1">
          <a:blip r:embed="rId3"/>
          <a:srcRect l="49391" t="40619" r="27143" b="43752"/>
          <a:stretch/>
        </p:blipFill>
        <p:spPr>
          <a:xfrm>
            <a:off x="3047769" y="1053588"/>
            <a:ext cx="2590247" cy="2126202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3663637" y="1850610"/>
            <a:ext cx="591144" cy="498009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277754" y="2050245"/>
            <a:ext cx="1530608" cy="994757"/>
          </a:xfrm>
          <a:prstGeom prst="straightConnector1">
            <a:avLst/>
          </a:prstGeom>
          <a:ln w="28575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27841" y="3378438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6,6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08452" y="3364876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6,7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08451" y="2711716"/>
            <a:ext cx="5052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5,7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7778" y="2718708"/>
            <a:ext cx="50533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5,6</a:t>
            </a:r>
          </a:p>
          <a:p>
            <a:endParaRPr lang="he-IL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/>
          <p:cNvCxnSpPr>
            <a:stCxn id="15" idx="3"/>
          </p:cNvCxnSpPr>
          <p:nvPr/>
        </p:nvCxnSpPr>
        <p:spPr>
          <a:xfrm flipV="1">
            <a:off x="3804989" y="2887417"/>
            <a:ext cx="2622789" cy="1417845"/>
          </a:xfrm>
          <a:prstGeom prst="straightConnector1">
            <a:avLst/>
          </a:prstGeom>
          <a:ln w="28575">
            <a:solidFill>
              <a:srgbClr val="7030A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Callout 23"/>
          <p:cNvSpPr/>
          <p:nvPr/>
        </p:nvSpPr>
        <p:spPr>
          <a:xfrm>
            <a:off x="777127" y="486033"/>
            <a:ext cx="1944215" cy="939262"/>
          </a:xfrm>
          <a:prstGeom prst="wedgeEllipseCallout">
            <a:avLst>
              <a:gd name="adj1" fmla="val 93213"/>
              <a:gd name="adj2" fmla="val 81903"/>
            </a:avLst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 XY</a:t>
            </a:r>
            <a:r>
              <a:rPr lang="he-IL" dirty="0"/>
              <a:t>- פינה שמאלית עליונה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7714" y="4346025"/>
            <a:ext cx="1080120" cy="1359018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מערך  מידע על משבצת </a:t>
            </a:r>
          </a:p>
        </p:txBody>
      </p:sp>
      <p:cxnSp>
        <p:nvCxnSpPr>
          <p:cNvPr id="27" name="Elbow Connector 26"/>
          <p:cNvCxnSpPr>
            <a:stCxn id="15" idx="3"/>
            <a:endCxn id="25" idx="1"/>
          </p:cNvCxnSpPr>
          <p:nvPr/>
        </p:nvCxnSpPr>
        <p:spPr>
          <a:xfrm>
            <a:off x="3804989" y="4305262"/>
            <a:ext cx="542725" cy="720272"/>
          </a:xfrm>
          <a:prstGeom prst="bentConnector3">
            <a:avLst>
              <a:gd name="adj1" fmla="val 338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entagon 13"/>
          <p:cNvSpPr/>
          <p:nvPr/>
        </p:nvSpPr>
        <p:spPr>
          <a:xfrm flipH="1">
            <a:off x="5421268" y="4795405"/>
            <a:ext cx="1800200" cy="23511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קיים  / מוסתר</a:t>
            </a:r>
          </a:p>
        </p:txBody>
      </p:sp>
      <p:sp>
        <p:nvSpPr>
          <p:cNvPr id="28" name="Pentagon 27"/>
          <p:cNvSpPr/>
          <p:nvPr/>
        </p:nvSpPr>
        <p:spPr>
          <a:xfrm flipH="1">
            <a:off x="5428416" y="5157896"/>
            <a:ext cx="2455952" cy="23511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צבע / איזה </a:t>
            </a:r>
            <a:r>
              <a:rPr lang="en-US" dirty="0"/>
              <a:t>BITMAP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42758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60" y="476672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טכנית כללית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074225" y="2090008"/>
          <a:ext cx="6792416" cy="357124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א'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הדרכה טכנית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u="none" kern="1200" baseline="0" dirty="0"/>
                        <a:t>VGA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u="none" strike="noStrike" kern="1200" baseline="0" dirty="0"/>
                        <a:t>זיהוי התנגשות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he-IL" sz="2400" dirty="0"/>
                        <a:t>שימוש במערכים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מטרת </a:t>
                      </a:r>
                      <a:r>
                        <a:rPr lang="he-IL" sz="2400" u="none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הסיפתח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5914" y="5229200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441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11886</TotalTime>
  <Words>1746</Words>
  <Application>Microsoft Office PowerPoint</Application>
  <PresentationFormat>On-screen Show (4:3)</PresentationFormat>
  <Paragraphs>449</Paragraphs>
  <Slides>39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Century Gothic</vt:lpstr>
      <vt:lpstr>Courier New</vt:lpstr>
      <vt:lpstr>David</vt:lpstr>
      <vt:lpstr>Gisha</vt:lpstr>
      <vt:lpstr>Miriam</vt:lpstr>
      <vt:lpstr>Tahoma</vt:lpstr>
      <vt:lpstr>Times New Roman</vt:lpstr>
      <vt:lpstr>Wingdings</vt:lpstr>
      <vt:lpstr>Wingdings 3</vt:lpstr>
      <vt:lpstr>Slice</vt:lpstr>
      <vt:lpstr>Custom Design</vt:lpstr>
      <vt:lpstr>Equation</vt:lpstr>
      <vt:lpstr>פרויקט – הדרכה טכנית כללית </vt:lpstr>
      <vt:lpstr>הערות כלליות </vt:lpstr>
      <vt:lpstr>רמות ציון</vt:lpstr>
      <vt:lpstr>מה מכיל פרויקט </vt:lpstr>
      <vt:lpstr>מה מכיל פרויקט </vt:lpstr>
      <vt:lpstr>פרויקט – הדרכה טכנית כללית </vt:lpstr>
      <vt:lpstr>עקרון הפעולה </vt:lpstr>
      <vt:lpstr>VGA INTERFACE </vt:lpstr>
      <vt:lpstr>VGA INTERFACE </vt:lpstr>
      <vt:lpstr>בקר ה- VGA ביישום</vt:lpstr>
      <vt:lpstr>סכמה כללית של יישום ה- Smiley</vt:lpstr>
      <vt:lpstr>Row column &amp; RGB</vt:lpstr>
      <vt:lpstr>BITMAP</vt:lpstr>
      <vt:lpstr>שימוש בBITMAP  אחד עבור כמה אובייקטים </vt:lpstr>
      <vt:lpstr>vga controller </vt:lpstr>
      <vt:lpstr>צבעים ב- VGA (דחיסה ל- 8 ביט) RGB</vt:lpstr>
      <vt:lpstr>בורר הצגת עצמים  MUX -</vt:lpstr>
      <vt:lpstr>MUX  - Priority  </vt:lpstr>
      <vt:lpstr>MUX - הירארכיה   </vt:lpstr>
      <vt:lpstr>תנועת הסמיילי SMILY-Face-MOVE</vt:lpstr>
      <vt:lpstr>שרטוט הסמיילי</vt:lpstr>
      <vt:lpstr>Back-ground</vt:lpstr>
      <vt:lpstr>אופטימיזציות לקומפילציה מהירה </vt:lpstr>
      <vt:lpstr>פרויקט – הדרכה טכנית כללית </vt:lpstr>
      <vt:lpstr>זיהוי התנגשות  MUX של VGA</vt:lpstr>
      <vt:lpstr>תנועת כדור </vt:lpstr>
      <vt:lpstr>התנגשות של כדור במסגרת או בפינה משולשת    </vt:lpstr>
      <vt:lpstr>יש לוודא שאם נוגעים בשתי נקודות לא הופכים כיוון פעמיים</vt:lpstr>
      <vt:lpstr>תלת מימד - פרספקטיבה</vt:lpstr>
      <vt:lpstr>פרויקט – הדרכה טכנית כללית </vt:lpstr>
      <vt:lpstr>סיפתח إستفتاح – לכל הפרוייקטים  1. הכרת ה VGA</vt:lpstr>
      <vt:lpstr>סיפתח إستفتاح  2. אינטגרציה </vt:lpstr>
      <vt:lpstr>מודול השמע</vt:lpstr>
      <vt:lpstr>מחולל צלילים</vt:lpstr>
      <vt:lpstr>פרויקט – הדרכה טכנית כללית </vt:lpstr>
      <vt:lpstr>יצירת רקע ממרצפות</vt:lpstr>
      <vt:lpstr>מפענח XY</vt:lpstr>
      <vt:lpstr>טיפול בכל משבצת </vt:lpstr>
      <vt:lpstr>פרויקט – הדרכה טכנית כללית </vt:lpstr>
    </vt:vector>
  </TitlesOfParts>
  <Company>Technion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Pavel</dc:creator>
  <cp:lastModifiedBy>Eyal Lev</cp:lastModifiedBy>
  <cp:revision>717</cp:revision>
  <cp:lastPrinted>2016-12-19T07:49:45Z</cp:lastPrinted>
  <dcterms:created xsi:type="dcterms:W3CDTF">2003-02-13T09:55:52Z</dcterms:created>
  <dcterms:modified xsi:type="dcterms:W3CDTF">2023-08-15T07:54:26Z</dcterms:modified>
</cp:coreProperties>
</file>