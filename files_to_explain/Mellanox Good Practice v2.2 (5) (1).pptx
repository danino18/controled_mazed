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comments/comment1.xml" ContentType="application/vnd.openxmlformats-officedocument.presentationml.comments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4" r:id="rId6"/>
    <p:sldMasterId id="2147483865" r:id="rId7"/>
    <p:sldMasterId id="2147483884" r:id="rId8"/>
    <p:sldMasterId id="2147483905" r:id="rId9"/>
  </p:sldMasterIdLst>
  <p:notesMasterIdLst>
    <p:notesMasterId r:id="rId45"/>
  </p:notesMasterIdLst>
  <p:handoutMasterIdLst>
    <p:handoutMasterId r:id="rId46"/>
  </p:handoutMasterIdLst>
  <p:sldIdLst>
    <p:sldId id="256" r:id="rId10"/>
    <p:sldId id="519" r:id="rId11"/>
    <p:sldId id="518" r:id="rId12"/>
    <p:sldId id="481" r:id="rId13"/>
    <p:sldId id="485" r:id="rId14"/>
    <p:sldId id="488" r:id="rId15"/>
    <p:sldId id="490" r:id="rId16"/>
    <p:sldId id="493" r:id="rId17"/>
    <p:sldId id="496" r:id="rId18"/>
    <p:sldId id="497" r:id="rId19"/>
    <p:sldId id="503" r:id="rId20"/>
    <p:sldId id="500" r:id="rId21"/>
    <p:sldId id="505" r:id="rId22"/>
    <p:sldId id="506" r:id="rId23"/>
    <p:sldId id="511" r:id="rId24"/>
    <p:sldId id="514" r:id="rId25"/>
    <p:sldId id="525" r:id="rId26"/>
    <p:sldId id="507" r:id="rId27"/>
    <p:sldId id="509" r:id="rId28"/>
    <p:sldId id="522" r:id="rId29"/>
    <p:sldId id="523" r:id="rId30"/>
    <p:sldId id="415" r:id="rId31"/>
    <p:sldId id="371" r:id="rId32"/>
    <p:sldId id="405" r:id="rId33"/>
    <p:sldId id="404" r:id="rId34"/>
    <p:sldId id="369" r:id="rId35"/>
    <p:sldId id="414" r:id="rId36"/>
    <p:sldId id="364" r:id="rId37"/>
    <p:sldId id="373" r:id="rId38"/>
    <p:sldId id="400" r:id="rId39"/>
    <p:sldId id="402" r:id="rId40"/>
    <p:sldId id="403" r:id="rId41"/>
    <p:sldId id="408" r:id="rId42"/>
    <p:sldId id="409" r:id="rId43"/>
    <p:sldId id="399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Bar-On" initials="DB" lastIdx="33" clrIdx="0">
    <p:extLst>
      <p:ext uri="{19B8F6BF-5375-455C-9EA6-DF929625EA0E}">
        <p15:presenceInfo xmlns:p15="http://schemas.microsoft.com/office/powerpoint/2012/main" userId="S-1-5-21-875234899-1626871297-367356602-11803" providerId="AD"/>
      </p:ext>
    </p:extLst>
  </p:cmAuthor>
  <p:cmAuthor id="2" name="David Bar-on" initials="DBo" lastIdx="7" clrIdx="1">
    <p:extLst>
      <p:ext uri="{19B8F6BF-5375-455C-9EA6-DF929625EA0E}">
        <p15:presenceInfo xmlns:p15="http://schemas.microsoft.com/office/powerpoint/2012/main" userId="S::dudyb@technion.ac.il::4f8ef7cd-8581-4879-baa9-cc749f29c0f4" providerId="AD"/>
      </p:ext>
    </p:extLst>
  </p:cmAuthor>
  <p:cmAuthor id="3" name="Eyal Lev" initials="EL" lastIdx="4" clrIdx="2">
    <p:extLst>
      <p:ext uri="{19B8F6BF-5375-455C-9EA6-DF929625EA0E}">
        <p15:presenceInfo xmlns:p15="http://schemas.microsoft.com/office/powerpoint/2012/main" userId="Eyal Le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2B00"/>
    <a:srgbClr val="4D4D4D"/>
    <a:srgbClr val="800000"/>
    <a:srgbClr val="000066"/>
    <a:srgbClr val="FF99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5" autoAdjust="0"/>
    <p:restoredTop sz="96305" autoAdjust="0"/>
  </p:normalViewPr>
  <p:slideViewPr>
    <p:cSldViewPr>
      <p:cViewPr varScale="1">
        <p:scale>
          <a:sx n="106" d="100"/>
          <a:sy n="106" d="100"/>
        </p:scale>
        <p:origin x="194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6174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3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rebro" userId="328a7708-bf3b-4cf8-9462-e412fa7f8921" providerId="ADAL" clId="{906D6F88-A30E-4BA6-9AB8-1760313405DF}"/>
    <pc:docChg chg="undo custSel addSld delSld modSld">
      <pc:chgData name="Eyal Srebro" userId="328a7708-bf3b-4cf8-9462-e412fa7f8921" providerId="ADAL" clId="{906D6F88-A30E-4BA6-9AB8-1760313405DF}" dt="2018-08-20T10:56:49.436" v="877" actId="20577"/>
      <pc:docMkLst>
        <pc:docMk/>
      </pc:docMkLst>
      <pc:sldChg chg="modSp">
        <pc:chgData name="Eyal Srebro" userId="328a7708-bf3b-4cf8-9462-e412fa7f8921" providerId="ADAL" clId="{906D6F88-A30E-4BA6-9AB8-1760313405DF}" dt="2018-08-20T10:48:03.377" v="473" actId="113"/>
        <pc:sldMkLst>
          <pc:docMk/>
          <pc:sldMk cId="233512521" sldId="514"/>
        </pc:sldMkLst>
        <pc:spChg chg="mod">
          <ac:chgData name="Eyal Srebro" userId="328a7708-bf3b-4cf8-9462-e412fa7f8921" providerId="ADAL" clId="{906D6F88-A30E-4BA6-9AB8-1760313405DF}" dt="2018-08-20T10:48:03.377" v="473" actId="113"/>
          <ac:spMkLst>
            <pc:docMk/>
            <pc:sldMk cId="233512521" sldId="514"/>
            <ac:spMk id="15363" creationId="{19145528-55A1-47FB-8062-EC377E68A84C}"/>
          </ac:spMkLst>
        </pc:spChg>
      </pc:sldChg>
      <pc:sldChg chg="modSp">
        <pc:chgData name="Eyal Srebro" userId="328a7708-bf3b-4cf8-9462-e412fa7f8921" providerId="ADAL" clId="{906D6F88-A30E-4BA6-9AB8-1760313405DF}" dt="2018-08-20T10:21:45.004" v="160" actId="20577"/>
        <pc:sldMkLst>
          <pc:docMk/>
          <pc:sldMk cId="2725621749" sldId="519"/>
        </pc:sldMkLst>
        <pc:spChg chg="mod">
          <ac:chgData name="Eyal Srebro" userId="328a7708-bf3b-4cf8-9462-e412fa7f8921" providerId="ADAL" clId="{906D6F88-A30E-4BA6-9AB8-1760313405DF}" dt="2018-08-20T10:21:45.004" v="160" actId="20577"/>
          <ac:spMkLst>
            <pc:docMk/>
            <pc:sldMk cId="2725621749" sldId="519"/>
            <ac:spMk id="5" creationId="{00000000-0000-0000-0000-000000000000}"/>
          </ac:spMkLst>
        </pc:spChg>
      </pc:sldChg>
      <pc:sldChg chg="del">
        <pc:chgData name="Eyal Srebro" userId="328a7708-bf3b-4cf8-9462-e412fa7f8921" providerId="ADAL" clId="{906D6F88-A30E-4BA6-9AB8-1760313405DF}" dt="2018-08-20T10:47:37.297" v="471" actId="2696"/>
        <pc:sldMkLst>
          <pc:docMk/>
          <pc:sldMk cId="681292454" sldId="521"/>
        </pc:sldMkLst>
      </pc:sldChg>
      <pc:sldChg chg="modSp">
        <pc:chgData name="Eyal Srebro" userId="328a7708-bf3b-4cf8-9462-e412fa7f8921" providerId="ADAL" clId="{906D6F88-A30E-4BA6-9AB8-1760313405DF}" dt="2018-08-20T10:47:31.175" v="470" actId="20577"/>
        <pc:sldMkLst>
          <pc:docMk/>
          <pc:sldMk cId="3785864180" sldId="522"/>
        </pc:sldMkLst>
        <pc:spChg chg="mod">
          <ac:chgData name="Eyal Srebro" userId="328a7708-bf3b-4cf8-9462-e412fa7f8921" providerId="ADAL" clId="{906D6F88-A30E-4BA6-9AB8-1760313405DF}" dt="2018-08-20T10:47:31.175" v="470" actId="20577"/>
          <ac:spMkLst>
            <pc:docMk/>
            <pc:sldMk cId="3785864180" sldId="522"/>
            <ac:spMk id="10" creationId="{B4B94D44-6BD6-422D-A994-B3C2873A4B88}"/>
          </ac:spMkLst>
        </pc:spChg>
      </pc:sldChg>
      <pc:sldChg chg="modSp add">
        <pc:chgData name="Eyal Srebro" userId="328a7708-bf3b-4cf8-9462-e412fa7f8921" providerId="ADAL" clId="{906D6F88-A30E-4BA6-9AB8-1760313405DF}" dt="2018-08-20T10:56:49.436" v="877" actId="20577"/>
        <pc:sldMkLst>
          <pc:docMk/>
          <pc:sldMk cId="1148078442" sldId="525"/>
        </pc:sldMkLst>
        <pc:spChg chg="mod">
          <ac:chgData name="Eyal Srebro" userId="328a7708-bf3b-4cf8-9462-e412fa7f8921" providerId="ADAL" clId="{906D6F88-A30E-4BA6-9AB8-1760313405DF}" dt="2018-08-20T10:56:49.436" v="877" actId="20577"/>
          <ac:spMkLst>
            <pc:docMk/>
            <pc:sldMk cId="1148078442" sldId="525"/>
            <ac:spMk id="15363" creationId="{19145528-55A1-47FB-8062-EC377E68A84C}"/>
          </ac:spMkLst>
        </pc:spChg>
      </pc:sldChg>
      <pc:sldChg chg="modSp add del">
        <pc:chgData name="Eyal Srebro" userId="328a7708-bf3b-4cf8-9462-e412fa7f8921" providerId="ADAL" clId="{906D6F88-A30E-4BA6-9AB8-1760313405DF}" dt="2018-08-20T10:51:03.658" v="614" actId="2696"/>
        <pc:sldMkLst>
          <pc:docMk/>
          <pc:sldMk cId="1407936075" sldId="525"/>
        </pc:sldMkLst>
        <pc:spChg chg="mod">
          <ac:chgData name="Eyal Srebro" userId="328a7708-bf3b-4cf8-9462-e412fa7f8921" providerId="ADAL" clId="{906D6F88-A30E-4BA6-9AB8-1760313405DF}" dt="2018-08-20T10:50:17.793" v="546" actId="20577"/>
          <ac:spMkLst>
            <pc:docMk/>
            <pc:sldMk cId="1407936075" sldId="525"/>
            <ac:spMk id="15362" creationId="{1F266A03-2096-49C7-9558-2D3A4B9636AE}"/>
          </ac:spMkLst>
        </pc:spChg>
        <pc:spChg chg="mod">
          <ac:chgData name="Eyal Srebro" userId="328a7708-bf3b-4cf8-9462-e412fa7f8921" providerId="ADAL" clId="{906D6F88-A30E-4BA6-9AB8-1760313405DF}" dt="2018-08-20T10:50:50.150" v="613" actId="20577"/>
          <ac:spMkLst>
            <pc:docMk/>
            <pc:sldMk cId="1407936075" sldId="525"/>
            <ac:spMk id="15363" creationId="{19145528-55A1-47FB-8062-EC377E68A84C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08-10T12:00:33.299" idx="7">
    <p:pos x="4870" y="727"/>
    <p:text>באמצע ספטמבר</p:text>
    <p:extLst>
      <p:ext uri="{C676402C-5697-4E1C-873F-D02D1690AC5C}">
        <p15:threadingInfo xmlns:p15="http://schemas.microsoft.com/office/powerpoint/2012/main" timeZoneBias="-180"/>
      </p:ext>
    </p:extLst>
  </p:cm>
  <p:cm authorId="3" dt="2022-08-10T14:13:16.353" idx="4">
    <p:pos x="4870" y="863"/>
    <p:text>תוקן</p:text>
    <p:extLst>
      <p:ext uri="{C676402C-5697-4E1C-873F-D02D1690AC5C}">
        <p15:threadingInfo xmlns:p15="http://schemas.microsoft.com/office/powerpoint/2012/main" timeZoneBias="-180">
          <p15:parentCm authorId="2" idx="7"/>
        </p15:threadingInfo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8EA337-D47B-4E03-BF93-8A8D3117022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pPr rtl="1"/>
          <a:endParaRPr lang="he-IL"/>
        </a:p>
      </dgm:t>
    </dgm:pt>
    <dgm:pt modelId="{BA2B3E50-C6ED-4423-BE99-7A140D3A66F0}">
      <dgm:prSet phldrT="[Text]" custT="1"/>
      <dgm:spPr>
        <a:xfrm>
          <a:off x="500842" y="332557"/>
          <a:ext cx="6493631" cy="665541"/>
        </a:xfrm>
        <a:solidFill>
          <a:srgbClr val="003967"/>
        </a:solidFill>
      </dgm:spPr>
      <dgm:t>
        <a:bodyPr/>
        <a:lstStyle/>
        <a:p>
          <a:pPr rtl="0"/>
          <a:r>
            <a:rPr lang="en-US" sz="1800" b="1" dirty="0"/>
            <a:t>Cutting Edge Technology Israeli Company</a:t>
          </a:r>
        </a:p>
      </dgm:t>
    </dgm:pt>
    <dgm:pt modelId="{765D04FD-AD0C-4605-876A-BC728B0D61EC}" type="parTrans" cxnId="{B2B4C6D5-3BD5-413C-BB5B-EA04FF3867D3}">
      <dgm:prSet/>
      <dgm:spPr/>
      <dgm:t>
        <a:bodyPr/>
        <a:lstStyle/>
        <a:p>
          <a:pPr rtl="1"/>
          <a:endParaRPr lang="he-IL" sz="1800">
            <a:latin typeface="Calibri" pitchFamily="34" charset="0"/>
          </a:endParaRPr>
        </a:p>
      </dgm:t>
    </dgm:pt>
    <dgm:pt modelId="{704C7D9F-DDBF-46FE-B242-32AF6883D68B}" type="sibTrans" cxnId="{B2B4C6D5-3BD5-413C-BB5B-EA04FF3867D3}">
      <dgm:prSet/>
      <dgm:spPr>
        <a:xfrm>
          <a:off x="-6018323" y="-920891"/>
          <a:ext cx="7164410" cy="7164410"/>
        </a:xfrm>
      </dgm:spPr>
      <dgm:t>
        <a:bodyPr/>
        <a:lstStyle/>
        <a:p>
          <a:pPr rtl="1"/>
          <a:endParaRPr lang="he-IL" sz="1800">
            <a:latin typeface="Calibri" pitchFamily="34" charset="0"/>
          </a:endParaRPr>
        </a:p>
      </dgm:t>
    </dgm:pt>
    <dgm:pt modelId="{4B2ED6EE-A7CA-4DDF-9553-A998D315FFEF}">
      <dgm:prSet custT="1"/>
      <dgm:spPr/>
      <dgm:t>
        <a:bodyPr/>
        <a:lstStyle/>
        <a:p>
          <a:pPr rtl="0"/>
          <a:r>
            <a:rPr lang="en-US" sz="1800" b="1" dirty="0" err="1"/>
            <a:t>Netowrk</a:t>
          </a:r>
          <a:r>
            <a:rPr lang="en-US" sz="1800" b="1" dirty="0"/>
            <a:t> Adapters, Switch, FPGA, </a:t>
          </a:r>
          <a:r>
            <a:rPr lang="en-US" sz="1800" b="1" dirty="0" err="1"/>
            <a:t>SoC</a:t>
          </a:r>
          <a:endParaRPr lang="en-US" sz="1800" b="1" dirty="0"/>
        </a:p>
      </dgm:t>
    </dgm:pt>
    <dgm:pt modelId="{8841F0FE-5A53-4DAA-85B0-6BCBC3CC32D9}" type="parTrans" cxnId="{63E07C46-9161-4A6D-A49C-A91F0127845D}">
      <dgm:prSet/>
      <dgm:spPr/>
      <dgm:t>
        <a:bodyPr/>
        <a:lstStyle/>
        <a:p>
          <a:endParaRPr lang="en-US" sz="1800"/>
        </a:p>
      </dgm:t>
    </dgm:pt>
    <dgm:pt modelId="{34C55AC3-512B-45F3-A07E-20D3CDB8674C}" type="sibTrans" cxnId="{63E07C46-9161-4A6D-A49C-A91F0127845D}">
      <dgm:prSet/>
      <dgm:spPr/>
      <dgm:t>
        <a:bodyPr/>
        <a:lstStyle/>
        <a:p>
          <a:endParaRPr lang="en-US" sz="1800"/>
        </a:p>
      </dgm:t>
    </dgm:pt>
    <dgm:pt modelId="{1E924127-1D26-4D57-B108-F0E44CD299A0}">
      <dgm:prSet custT="1"/>
      <dgm:spPr/>
      <dgm:t>
        <a:bodyPr/>
        <a:lstStyle/>
        <a:p>
          <a:pPr rtl="0"/>
          <a:r>
            <a:rPr lang="en-US" sz="1800" b="1" dirty="0"/>
            <a:t>High Speed Networking</a:t>
          </a:r>
        </a:p>
      </dgm:t>
    </dgm:pt>
    <dgm:pt modelId="{8E899730-A724-4992-B14F-9727EDDCE5E3}" type="parTrans" cxnId="{A6518657-E172-46D5-8783-26FF3745AEDC}">
      <dgm:prSet/>
      <dgm:spPr/>
      <dgm:t>
        <a:bodyPr/>
        <a:lstStyle/>
        <a:p>
          <a:endParaRPr lang="en-US" sz="1800"/>
        </a:p>
      </dgm:t>
    </dgm:pt>
    <dgm:pt modelId="{12572107-A6EB-458F-84EA-8F3179F27C11}" type="sibTrans" cxnId="{A6518657-E172-46D5-8783-26FF3745AEDC}">
      <dgm:prSet/>
      <dgm:spPr/>
      <dgm:t>
        <a:bodyPr/>
        <a:lstStyle/>
        <a:p>
          <a:endParaRPr lang="en-US" sz="1800"/>
        </a:p>
      </dgm:t>
    </dgm:pt>
    <dgm:pt modelId="{EBABBC21-EF38-4D10-B2EA-E6373C6A20CD}">
      <dgm:prSet custT="1"/>
      <dgm:spPr/>
      <dgm:t>
        <a:bodyPr/>
        <a:lstStyle/>
        <a:p>
          <a:pPr rtl="0"/>
          <a:r>
            <a:rPr lang="en-US" sz="1800" b="1" dirty="0"/>
            <a:t>Applications – Trade, Weather, ML, Interconnect ... </a:t>
          </a:r>
        </a:p>
      </dgm:t>
    </dgm:pt>
    <dgm:pt modelId="{4DA4F4BA-8849-4C01-98BA-A6FA2120791E}" type="parTrans" cxnId="{40BAF2E1-EFF7-494A-A2D2-B940D107ED4E}">
      <dgm:prSet/>
      <dgm:spPr/>
      <dgm:t>
        <a:bodyPr/>
        <a:lstStyle/>
        <a:p>
          <a:endParaRPr lang="en-US" sz="1800"/>
        </a:p>
      </dgm:t>
    </dgm:pt>
    <dgm:pt modelId="{49BF734C-7CAC-41F0-8F3B-939F2F1F6E96}" type="sibTrans" cxnId="{40BAF2E1-EFF7-494A-A2D2-B940D107ED4E}">
      <dgm:prSet/>
      <dgm:spPr/>
      <dgm:t>
        <a:bodyPr/>
        <a:lstStyle/>
        <a:p>
          <a:endParaRPr lang="en-US" sz="1800"/>
        </a:p>
      </dgm:t>
    </dgm:pt>
    <dgm:pt modelId="{896CAD05-DD35-49F8-859A-4241162E9440}">
      <dgm:prSet custT="1"/>
      <dgm:spPr/>
      <dgm:t>
        <a:bodyPr/>
        <a:lstStyle/>
        <a:p>
          <a:pPr rtl="0"/>
          <a:r>
            <a:rPr lang="en-US" sz="1800" b="1" dirty="0"/>
            <a:t>Markets – Cloud, Storage, HPC, Media, Security</a:t>
          </a:r>
        </a:p>
      </dgm:t>
    </dgm:pt>
    <dgm:pt modelId="{568C6365-8B76-464B-B3E8-73771B422D9D}" type="parTrans" cxnId="{EA58C4F3-89BB-4B62-AB9E-062B9BDB1462}">
      <dgm:prSet/>
      <dgm:spPr/>
      <dgm:t>
        <a:bodyPr/>
        <a:lstStyle/>
        <a:p>
          <a:endParaRPr lang="en-US" sz="1800"/>
        </a:p>
      </dgm:t>
    </dgm:pt>
    <dgm:pt modelId="{C9E58690-6AFE-4EC4-B36E-34CFC3A70199}" type="sibTrans" cxnId="{EA58C4F3-89BB-4B62-AB9E-062B9BDB1462}">
      <dgm:prSet/>
      <dgm:spPr/>
      <dgm:t>
        <a:bodyPr/>
        <a:lstStyle/>
        <a:p>
          <a:endParaRPr lang="en-US" sz="1800"/>
        </a:p>
      </dgm:t>
    </dgm:pt>
    <dgm:pt modelId="{4A453103-9C0F-4D89-AE34-42893B5BA84F}">
      <dgm:prSet custT="1"/>
      <dgm:spPr>
        <a:solidFill>
          <a:srgbClr val="003967"/>
        </a:solidFill>
      </dgm:spPr>
      <dgm:t>
        <a:bodyPr/>
        <a:lstStyle/>
        <a:p>
          <a:r>
            <a:rPr lang="en-US" sz="1800" b="1" dirty="0"/>
            <a:t>E2E – HW, SW, Driver, FW, Cables, Boards</a:t>
          </a:r>
          <a:endParaRPr lang="en-US" sz="1800" dirty="0"/>
        </a:p>
      </dgm:t>
    </dgm:pt>
    <dgm:pt modelId="{B14EBA2B-9EF9-481B-B1FB-C8BBB4DF69A9}" type="parTrans" cxnId="{93707511-525B-4891-B557-8EE64C67ACC8}">
      <dgm:prSet/>
      <dgm:spPr/>
      <dgm:t>
        <a:bodyPr/>
        <a:lstStyle/>
        <a:p>
          <a:endParaRPr lang="en-US" sz="1800"/>
        </a:p>
      </dgm:t>
    </dgm:pt>
    <dgm:pt modelId="{F8E8001D-DD44-45AB-8323-D50AA5FB7B56}" type="sibTrans" cxnId="{93707511-525B-4891-B557-8EE64C67ACC8}">
      <dgm:prSet/>
      <dgm:spPr/>
      <dgm:t>
        <a:bodyPr/>
        <a:lstStyle/>
        <a:p>
          <a:endParaRPr lang="en-US" sz="1800"/>
        </a:p>
      </dgm:t>
    </dgm:pt>
    <dgm:pt modelId="{6D4F4034-84C6-426D-9AE1-AAA0300EE40F}">
      <dgm:prSet phldrT="[Text]" custT="1"/>
      <dgm:spPr>
        <a:xfrm>
          <a:off x="500842" y="332557"/>
          <a:ext cx="6493631" cy="665541"/>
        </a:xfrm>
        <a:solidFill>
          <a:srgbClr val="003967"/>
        </a:solidFill>
      </dgm:spPr>
      <dgm:t>
        <a:bodyPr/>
        <a:lstStyle/>
        <a:p>
          <a:pPr rtl="0"/>
          <a:r>
            <a:rPr lang="en-US" sz="1800" b="1" dirty="0"/>
            <a:t>&gt;2800 Employees world wide</a:t>
          </a:r>
        </a:p>
      </dgm:t>
    </dgm:pt>
    <dgm:pt modelId="{526BB50B-FF25-414E-A7C4-D09BC5A2BED5}" type="parTrans" cxnId="{EB9A3FC7-D3B3-47D0-BAB4-550FBE882824}">
      <dgm:prSet/>
      <dgm:spPr/>
      <dgm:t>
        <a:bodyPr/>
        <a:lstStyle/>
        <a:p>
          <a:endParaRPr lang="en-US" sz="1800"/>
        </a:p>
      </dgm:t>
    </dgm:pt>
    <dgm:pt modelId="{93DC3517-FCB2-4B18-83A6-6626A9C348FA}" type="sibTrans" cxnId="{EB9A3FC7-D3B3-47D0-BAB4-550FBE882824}">
      <dgm:prSet/>
      <dgm:spPr/>
      <dgm:t>
        <a:bodyPr/>
        <a:lstStyle/>
        <a:p>
          <a:endParaRPr lang="en-US" sz="1800"/>
        </a:p>
      </dgm:t>
    </dgm:pt>
    <dgm:pt modelId="{FFE1DE07-C93F-4D49-AB84-6A07CF0867D0}" type="pres">
      <dgm:prSet presAssocID="{B58EA337-D47B-4E03-BF93-8A8D31170228}" presName="Name0" presStyleCnt="0">
        <dgm:presLayoutVars>
          <dgm:chMax val="7"/>
          <dgm:chPref val="7"/>
          <dgm:dir/>
        </dgm:presLayoutVars>
      </dgm:prSet>
      <dgm:spPr/>
    </dgm:pt>
    <dgm:pt modelId="{4C964004-DF60-44E8-B6C9-C48D01A05C91}" type="pres">
      <dgm:prSet presAssocID="{B58EA337-D47B-4E03-BF93-8A8D31170228}" presName="Name1" presStyleCnt="0"/>
      <dgm:spPr/>
    </dgm:pt>
    <dgm:pt modelId="{F8DB74C5-1BC3-4DA1-87D2-3A7ADD5677B7}" type="pres">
      <dgm:prSet presAssocID="{B58EA337-D47B-4E03-BF93-8A8D31170228}" presName="cycle" presStyleCnt="0"/>
      <dgm:spPr/>
    </dgm:pt>
    <dgm:pt modelId="{F20222B4-15FD-4E53-8D65-78D951BF6D1F}" type="pres">
      <dgm:prSet presAssocID="{B58EA337-D47B-4E03-BF93-8A8D31170228}" presName="srcNode" presStyleLbl="node1" presStyleIdx="0" presStyleCnt="7"/>
      <dgm:spPr/>
    </dgm:pt>
    <dgm:pt modelId="{EABC9C50-1E39-4FBB-8401-BA630DA653EB}" type="pres">
      <dgm:prSet presAssocID="{B58EA337-D47B-4E03-BF93-8A8D31170228}" presName="conn" presStyleLbl="parChTrans1D2" presStyleIdx="0" presStyleCnt="1"/>
      <dgm:spPr>
        <a:prstGeom prst="blockArc">
          <a:avLst>
            <a:gd name="adj1" fmla="val 18900000"/>
            <a:gd name="adj2" fmla="val 2700000"/>
            <a:gd name="adj3" fmla="val 301"/>
          </a:avLst>
        </a:prstGeom>
      </dgm:spPr>
    </dgm:pt>
    <dgm:pt modelId="{3F03C6DE-DA47-4879-8A28-9C53A700A57E}" type="pres">
      <dgm:prSet presAssocID="{B58EA337-D47B-4E03-BF93-8A8D31170228}" presName="extraNode" presStyleLbl="node1" presStyleIdx="0" presStyleCnt="7"/>
      <dgm:spPr/>
    </dgm:pt>
    <dgm:pt modelId="{617BC06C-6512-499E-A5DC-ACF5AAFD2E6A}" type="pres">
      <dgm:prSet presAssocID="{B58EA337-D47B-4E03-BF93-8A8D31170228}" presName="dstNode" presStyleLbl="node1" presStyleIdx="0" presStyleCnt="7"/>
      <dgm:spPr/>
    </dgm:pt>
    <dgm:pt modelId="{9F6D6887-88A7-4B10-A74D-01FA2DC45CD4}" type="pres">
      <dgm:prSet presAssocID="{BA2B3E50-C6ED-4423-BE99-7A140D3A66F0}" presName="text_1" presStyleLbl="node1" presStyleIdx="0" presStyleCnt="7" custLinFactNeighborX="-635">
        <dgm:presLayoutVars>
          <dgm:bulletEnabled val="1"/>
        </dgm:presLayoutVars>
      </dgm:prSet>
      <dgm:spPr>
        <a:prstGeom prst="rect">
          <a:avLst/>
        </a:prstGeom>
      </dgm:spPr>
    </dgm:pt>
    <dgm:pt modelId="{3526B27A-D8AE-4798-AC86-AA88A7D330E8}" type="pres">
      <dgm:prSet presAssocID="{BA2B3E50-C6ED-4423-BE99-7A140D3A66F0}" presName="accent_1" presStyleCnt="0"/>
      <dgm:spPr/>
    </dgm:pt>
    <dgm:pt modelId="{75A8FF30-D363-48C4-BCE3-B4972786C859}" type="pres">
      <dgm:prSet presAssocID="{BA2B3E50-C6ED-4423-BE99-7A140D3A66F0}" presName="accentRepeatNode" presStyleLbl="solidFgAcc1" presStyleIdx="0" presStyleCnt="7"/>
      <dgm:spPr>
        <a:xfrm>
          <a:off x="84879" y="249365"/>
          <a:ext cx="831926" cy="831926"/>
        </a:xfrm>
      </dgm:spPr>
    </dgm:pt>
    <dgm:pt modelId="{2FC9B070-34EB-4739-AF60-0183E8F87C58}" type="pres">
      <dgm:prSet presAssocID="{6D4F4034-84C6-426D-9AE1-AAA0300EE40F}" presName="text_2" presStyleLbl="node1" presStyleIdx="1" presStyleCnt="7">
        <dgm:presLayoutVars>
          <dgm:bulletEnabled val="1"/>
        </dgm:presLayoutVars>
      </dgm:prSet>
      <dgm:spPr/>
    </dgm:pt>
    <dgm:pt modelId="{046069DD-9159-4DBC-86EF-438F139617BF}" type="pres">
      <dgm:prSet presAssocID="{6D4F4034-84C6-426D-9AE1-AAA0300EE40F}" presName="accent_2" presStyleCnt="0"/>
      <dgm:spPr/>
    </dgm:pt>
    <dgm:pt modelId="{8868F7B2-F5BA-4DBB-9EFF-6B9CE1FD4EEA}" type="pres">
      <dgm:prSet presAssocID="{6D4F4034-84C6-426D-9AE1-AAA0300EE40F}" presName="accentRepeatNode" presStyleLbl="solidFgAcc1" presStyleIdx="1" presStyleCnt="7"/>
      <dgm:spPr/>
    </dgm:pt>
    <dgm:pt modelId="{ACD09CB7-084B-4825-AD88-C1CA5A36B5BE}" type="pres">
      <dgm:prSet presAssocID="{1E924127-1D26-4D57-B108-F0E44CD299A0}" presName="text_3" presStyleLbl="node1" presStyleIdx="2" presStyleCnt="7">
        <dgm:presLayoutVars>
          <dgm:bulletEnabled val="1"/>
        </dgm:presLayoutVars>
      </dgm:prSet>
      <dgm:spPr/>
    </dgm:pt>
    <dgm:pt modelId="{19F64EB2-4C20-49A8-8693-B5F0C2EC658A}" type="pres">
      <dgm:prSet presAssocID="{1E924127-1D26-4D57-B108-F0E44CD299A0}" presName="accent_3" presStyleCnt="0"/>
      <dgm:spPr/>
    </dgm:pt>
    <dgm:pt modelId="{6A30D4CB-2C48-4C7D-AB31-DA655E455D92}" type="pres">
      <dgm:prSet presAssocID="{1E924127-1D26-4D57-B108-F0E44CD299A0}" presName="accentRepeatNode" presStyleLbl="solidFgAcc1" presStyleIdx="2" presStyleCnt="7"/>
      <dgm:spPr/>
    </dgm:pt>
    <dgm:pt modelId="{85537CE7-5E88-4489-9041-EF609EC1BD73}" type="pres">
      <dgm:prSet presAssocID="{4B2ED6EE-A7CA-4DDF-9553-A998D315FFEF}" presName="text_4" presStyleLbl="node1" presStyleIdx="3" presStyleCnt="7">
        <dgm:presLayoutVars>
          <dgm:bulletEnabled val="1"/>
        </dgm:presLayoutVars>
      </dgm:prSet>
      <dgm:spPr/>
    </dgm:pt>
    <dgm:pt modelId="{D69EB2F8-5375-4B79-A252-553142D3D915}" type="pres">
      <dgm:prSet presAssocID="{4B2ED6EE-A7CA-4DDF-9553-A998D315FFEF}" presName="accent_4" presStyleCnt="0"/>
      <dgm:spPr/>
    </dgm:pt>
    <dgm:pt modelId="{B0B387F1-C037-43EE-8D4F-D2FD7E08DBB8}" type="pres">
      <dgm:prSet presAssocID="{4B2ED6EE-A7CA-4DDF-9553-A998D315FFEF}" presName="accentRepeatNode" presStyleLbl="solidFgAcc1" presStyleIdx="3" presStyleCnt="7"/>
      <dgm:spPr/>
    </dgm:pt>
    <dgm:pt modelId="{77302303-9E04-4CFE-BC9B-6679F1367D71}" type="pres">
      <dgm:prSet presAssocID="{4A453103-9C0F-4D89-AE34-42893B5BA84F}" presName="text_5" presStyleLbl="node1" presStyleIdx="4" presStyleCnt="7">
        <dgm:presLayoutVars>
          <dgm:bulletEnabled val="1"/>
        </dgm:presLayoutVars>
      </dgm:prSet>
      <dgm:spPr/>
    </dgm:pt>
    <dgm:pt modelId="{3D7CD609-7680-4219-95B3-F9B75DBD1E2E}" type="pres">
      <dgm:prSet presAssocID="{4A453103-9C0F-4D89-AE34-42893B5BA84F}" presName="accent_5" presStyleCnt="0"/>
      <dgm:spPr/>
    </dgm:pt>
    <dgm:pt modelId="{FB873B98-CDF2-4386-9B55-85EAC5A0956C}" type="pres">
      <dgm:prSet presAssocID="{4A453103-9C0F-4D89-AE34-42893B5BA84F}" presName="accentRepeatNode" presStyleLbl="solidFgAcc1" presStyleIdx="4" presStyleCnt="7"/>
      <dgm:spPr/>
    </dgm:pt>
    <dgm:pt modelId="{9C9ACB08-9A6C-4112-B35F-D8AAD0F82867}" type="pres">
      <dgm:prSet presAssocID="{896CAD05-DD35-49F8-859A-4241162E9440}" presName="text_6" presStyleLbl="node1" presStyleIdx="5" presStyleCnt="7">
        <dgm:presLayoutVars>
          <dgm:bulletEnabled val="1"/>
        </dgm:presLayoutVars>
      </dgm:prSet>
      <dgm:spPr/>
    </dgm:pt>
    <dgm:pt modelId="{BDDEAC5B-E3B7-4E0A-A33E-E23A34993943}" type="pres">
      <dgm:prSet presAssocID="{896CAD05-DD35-49F8-859A-4241162E9440}" presName="accent_6" presStyleCnt="0"/>
      <dgm:spPr/>
    </dgm:pt>
    <dgm:pt modelId="{57488393-ECC0-4726-B0EB-7B8C85D73C26}" type="pres">
      <dgm:prSet presAssocID="{896CAD05-DD35-49F8-859A-4241162E9440}" presName="accentRepeatNode" presStyleLbl="solidFgAcc1" presStyleIdx="5" presStyleCnt="7"/>
      <dgm:spPr/>
    </dgm:pt>
    <dgm:pt modelId="{286B5259-A793-47D7-94CD-4736F8C9E26A}" type="pres">
      <dgm:prSet presAssocID="{EBABBC21-EF38-4D10-B2EA-E6373C6A20CD}" presName="text_7" presStyleLbl="node1" presStyleIdx="6" presStyleCnt="7">
        <dgm:presLayoutVars>
          <dgm:bulletEnabled val="1"/>
        </dgm:presLayoutVars>
      </dgm:prSet>
      <dgm:spPr/>
    </dgm:pt>
    <dgm:pt modelId="{686AC5CC-CD61-4A3F-BBBD-17C9F862081E}" type="pres">
      <dgm:prSet presAssocID="{EBABBC21-EF38-4D10-B2EA-E6373C6A20CD}" presName="accent_7" presStyleCnt="0"/>
      <dgm:spPr/>
    </dgm:pt>
    <dgm:pt modelId="{DCD6EA1F-EEE1-49EE-A114-2914B69C5CA2}" type="pres">
      <dgm:prSet presAssocID="{EBABBC21-EF38-4D10-B2EA-E6373C6A20CD}" presName="accentRepeatNode" presStyleLbl="solidFgAcc1" presStyleIdx="6" presStyleCnt="7"/>
      <dgm:spPr/>
    </dgm:pt>
  </dgm:ptLst>
  <dgm:cxnLst>
    <dgm:cxn modelId="{93707511-525B-4891-B557-8EE64C67ACC8}" srcId="{B58EA337-D47B-4E03-BF93-8A8D31170228}" destId="{4A453103-9C0F-4D89-AE34-42893B5BA84F}" srcOrd="4" destOrd="0" parTransId="{B14EBA2B-9EF9-481B-B1FB-C8BBB4DF69A9}" sibTransId="{F8E8001D-DD44-45AB-8323-D50AA5FB7B56}"/>
    <dgm:cxn modelId="{29E1023B-11A0-4DA1-B67C-8B644C0DCEF7}" type="presOf" srcId="{EBABBC21-EF38-4D10-B2EA-E6373C6A20CD}" destId="{286B5259-A793-47D7-94CD-4736F8C9E26A}" srcOrd="0" destOrd="0" presId="urn:microsoft.com/office/officeart/2008/layout/VerticalCurvedList"/>
    <dgm:cxn modelId="{30A9885F-6CAB-4B16-B83A-E380C08FF69B}" type="presOf" srcId="{896CAD05-DD35-49F8-859A-4241162E9440}" destId="{9C9ACB08-9A6C-4112-B35F-D8AAD0F82867}" srcOrd="0" destOrd="0" presId="urn:microsoft.com/office/officeart/2008/layout/VerticalCurvedList"/>
    <dgm:cxn modelId="{63E07C46-9161-4A6D-A49C-A91F0127845D}" srcId="{B58EA337-D47B-4E03-BF93-8A8D31170228}" destId="{4B2ED6EE-A7CA-4DDF-9553-A998D315FFEF}" srcOrd="3" destOrd="0" parTransId="{8841F0FE-5A53-4DAA-85B0-6BCBC3CC32D9}" sibTransId="{34C55AC3-512B-45F3-A07E-20D3CDB8674C}"/>
    <dgm:cxn modelId="{42BB5B75-1D47-4139-8BF6-C22156A2684E}" type="presOf" srcId="{4B2ED6EE-A7CA-4DDF-9553-A998D315FFEF}" destId="{85537CE7-5E88-4489-9041-EF609EC1BD73}" srcOrd="0" destOrd="0" presId="urn:microsoft.com/office/officeart/2008/layout/VerticalCurvedList"/>
    <dgm:cxn modelId="{A6518657-E172-46D5-8783-26FF3745AEDC}" srcId="{B58EA337-D47B-4E03-BF93-8A8D31170228}" destId="{1E924127-1D26-4D57-B108-F0E44CD299A0}" srcOrd="2" destOrd="0" parTransId="{8E899730-A724-4992-B14F-9727EDDCE5E3}" sibTransId="{12572107-A6EB-458F-84EA-8F3179F27C11}"/>
    <dgm:cxn modelId="{57B1B281-BA9C-4BD0-8765-768F1994C78B}" type="presOf" srcId="{6D4F4034-84C6-426D-9AE1-AAA0300EE40F}" destId="{2FC9B070-34EB-4739-AF60-0183E8F87C58}" srcOrd="0" destOrd="0" presId="urn:microsoft.com/office/officeart/2008/layout/VerticalCurvedList"/>
    <dgm:cxn modelId="{8B30C0BB-0823-4371-A966-69A24F05A110}" type="presOf" srcId="{BA2B3E50-C6ED-4423-BE99-7A140D3A66F0}" destId="{9F6D6887-88A7-4B10-A74D-01FA2DC45CD4}" srcOrd="0" destOrd="0" presId="urn:microsoft.com/office/officeart/2008/layout/VerticalCurvedList"/>
    <dgm:cxn modelId="{727959BD-A6CD-406E-8C3C-796EF58098ED}" type="presOf" srcId="{B58EA337-D47B-4E03-BF93-8A8D31170228}" destId="{FFE1DE07-C93F-4D49-AB84-6A07CF0867D0}" srcOrd="0" destOrd="0" presId="urn:microsoft.com/office/officeart/2008/layout/VerticalCurvedList"/>
    <dgm:cxn modelId="{F3FC04C3-E657-4432-A808-9F261A25FC30}" type="presOf" srcId="{1E924127-1D26-4D57-B108-F0E44CD299A0}" destId="{ACD09CB7-084B-4825-AD88-C1CA5A36B5BE}" srcOrd="0" destOrd="0" presId="urn:microsoft.com/office/officeart/2008/layout/VerticalCurvedList"/>
    <dgm:cxn modelId="{EB9A3FC7-D3B3-47D0-BAB4-550FBE882824}" srcId="{B58EA337-D47B-4E03-BF93-8A8D31170228}" destId="{6D4F4034-84C6-426D-9AE1-AAA0300EE40F}" srcOrd="1" destOrd="0" parTransId="{526BB50B-FF25-414E-A7C4-D09BC5A2BED5}" sibTransId="{93DC3517-FCB2-4B18-83A6-6626A9C348FA}"/>
    <dgm:cxn modelId="{0F22E9C7-9338-4A86-ADD8-DFE5A1DFBEC1}" type="presOf" srcId="{704C7D9F-DDBF-46FE-B242-32AF6883D68B}" destId="{EABC9C50-1E39-4FBB-8401-BA630DA653EB}" srcOrd="0" destOrd="0" presId="urn:microsoft.com/office/officeart/2008/layout/VerticalCurvedList"/>
    <dgm:cxn modelId="{B2B4C6D5-3BD5-413C-BB5B-EA04FF3867D3}" srcId="{B58EA337-D47B-4E03-BF93-8A8D31170228}" destId="{BA2B3E50-C6ED-4423-BE99-7A140D3A66F0}" srcOrd="0" destOrd="0" parTransId="{765D04FD-AD0C-4605-876A-BC728B0D61EC}" sibTransId="{704C7D9F-DDBF-46FE-B242-32AF6883D68B}"/>
    <dgm:cxn modelId="{40BAF2E1-EFF7-494A-A2D2-B940D107ED4E}" srcId="{B58EA337-D47B-4E03-BF93-8A8D31170228}" destId="{EBABBC21-EF38-4D10-B2EA-E6373C6A20CD}" srcOrd="6" destOrd="0" parTransId="{4DA4F4BA-8849-4C01-98BA-A6FA2120791E}" sibTransId="{49BF734C-7CAC-41F0-8F3B-939F2F1F6E96}"/>
    <dgm:cxn modelId="{EA58C4F3-89BB-4B62-AB9E-062B9BDB1462}" srcId="{B58EA337-D47B-4E03-BF93-8A8D31170228}" destId="{896CAD05-DD35-49F8-859A-4241162E9440}" srcOrd="5" destOrd="0" parTransId="{568C6365-8B76-464B-B3E8-73771B422D9D}" sibTransId="{C9E58690-6AFE-4EC4-B36E-34CFC3A70199}"/>
    <dgm:cxn modelId="{52A9F9F4-3D35-4FA3-A76C-44E93C77EF39}" type="presOf" srcId="{4A453103-9C0F-4D89-AE34-42893B5BA84F}" destId="{77302303-9E04-4CFE-BC9B-6679F1367D71}" srcOrd="0" destOrd="0" presId="urn:microsoft.com/office/officeart/2008/layout/VerticalCurvedList"/>
    <dgm:cxn modelId="{42703A61-0570-4CFD-8849-82DDE2F8ED27}" type="presParOf" srcId="{FFE1DE07-C93F-4D49-AB84-6A07CF0867D0}" destId="{4C964004-DF60-44E8-B6C9-C48D01A05C91}" srcOrd="0" destOrd="0" presId="urn:microsoft.com/office/officeart/2008/layout/VerticalCurvedList"/>
    <dgm:cxn modelId="{9784B4CD-4A6C-4749-899E-F1C359048FA6}" type="presParOf" srcId="{4C964004-DF60-44E8-B6C9-C48D01A05C91}" destId="{F8DB74C5-1BC3-4DA1-87D2-3A7ADD5677B7}" srcOrd="0" destOrd="0" presId="urn:microsoft.com/office/officeart/2008/layout/VerticalCurvedList"/>
    <dgm:cxn modelId="{425E86CF-25DD-4D77-A613-F985325615F3}" type="presParOf" srcId="{F8DB74C5-1BC3-4DA1-87D2-3A7ADD5677B7}" destId="{F20222B4-15FD-4E53-8D65-78D951BF6D1F}" srcOrd="0" destOrd="0" presId="urn:microsoft.com/office/officeart/2008/layout/VerticalCurvedList"/>
    <dgm:cxn modelId="{7D81521A-2587-4B7C-8CEF-319BC574092E}" type="presParOf" srcId="{F8DB74C5-1BC3-4DA1-87D2-3A7ADD5677B7}" destId="{EABC9C50-1E39-4FBB-8401-BA630DA653EB}" srcOrd="1" destOrd="0" presId="urn:microsoft.com/office/officeart/2008/layout/VerticalCurvedList"/>
    <dgm:cxn modelId="{F9383D3C-C4B6-4C5D-B22F-00EBDCE231D9}" type="presParOf" srcId="{F8DB74C5-1BC3-4DA1-87D2-3A7ADD5677B7}" destId="{3F03C6DE-DA47-4879-8A28-9C53A700A57E}" srcOrd="2" destOrd="0" presId="urn:microsoft.com/office/officeart/2008/layout/VerticalCurvedList"/>
    <dgm:cxn modelId="{EBDE3BD1-F6F0-4BD9-93D3-1E61375EE461}" type="presParOf" srcId="{F8DB74C5-1BC3-4DA1-87D2-3A7ADD5677B7}" destId="{617BC06C-6512-499E-A5DC-ACF5AAFD2E6A}" srcOrd="3" destOrd="0" presId="urn:microsoft.com/office/officeart/2008/layout/VerticalCurvedList"/>
    <dgm:cxn modelId="{26939B5C-2C47-418E-B16E-97E827280B38}" type="presParOf" srcId="{4C964004-DF60-44E8-B6C9-C48D01A05C91}" destId="{9F6D6887-88A7-4B10-A74D-01FA2DC45CD4}" srcOrd="1" destOrd="0" presId="urn:microsoft.com/office/officeart/2008/layout/VerticalCurvedList"/>
    <dgm:cxn modelId="{CE00B74A-CF69-4419-AF7F-31A86C5ADFED}" type="presParOf" srcId="{4C964004-DF60-44E8-B6C9-C48D01A05C91}" destId="{3526B27A-D8AE-4798-AC86-AA88A7D330E8}" srcOrd="2" destOrd="0" presId="urn:microsoft.com/office/officeart/2008/layout/VerticalCurvedList"/>
    <dgm:cxn modelId="{32D3C142-D684-4DA9-8656-CEA98E654A11}" type="presParOf" srcId="{3526B27A-D8AE-4798-AC86-AA88A7D330E8}" destId="{75A8FF30-D363-48C4-BCE3-B4972786C859}" srcOrd="0" destOrd="0" presId="urn:microsoft.com/office/officeart/2008/layout/VerticalCurvedList"/>
    <dgm:cxn modelId="{85D762AF-C026-4FE8-AD7F-CABA9834D87D}" type="presParOf" srcId="{4C964004-DF60-44E8-B6C9-C48D01A05C91}" destId="{2FC9B070-34EB-4739-AF60-0183E8F87C58}" srcOrd="3" destOrd="0" presId="urn:microsoft.com/office/officeart/2008/layout/VerticalCurvedList"/>
    <dgm:cxn modelId="{72F8710E-2553-48E6-A6E0-1C8587B82C75}" type="presParOf" srcId="{4C964004-DF60-44E8-B6C9-C48D01A05C91}" destId="{046069DD-9159-4DBC-86EF-438F139617BF}" srcOrd="4" destOrd="0" presId="urn:microsoft.com/office/officeart/2008/layout/VerticalCurvedList"/>
    <dgm:cxn modelId="{FD7AA7B6-CE51-4443-929B-A9296CA3A287}" type="presParOf" srcId="{046069DD-9159-4DBC-86EF-438F139617BF}" destId="{8868F7B2-F5BA-4DBB-9EFF-6B9CE1FD4EEA}" srcOrd="0" destOrd="0" presId="urn:microsoft.com/office/officeart/2008/layout/VerticalCurvedList"/>
    <dgm:cxn modelId="{146E2DFE-C1B0-4998-AF3F-D9FCD05147EA}" type="presParOf" srcId="{4C964004-DF60-44E8-B6C9-C48D01A05C91}" destId="{ACD09CB7-084B-4825-AD88-C1CA5A36B5BE}" srcOrd="5" destOrd="0" presId="urn:microsoft.com/office/officeart/2008/layout/VerticalCurvedList"/>
    <dgm:cxn modelId="{ABFD8B0B-749A-4335-A0C3-E98B0B9F833D}" type="presParOf" srcId="{4C964004-DF60-44E8-B6C9-C48D01A05C91}" destId="{19F64EB2-4C20-49A8-8693-B5F0C2EC658A}" srcOrd="6" destOrd="0" presId="urn:microsoft.com/office/officeart/2008/layout/VerticalCurvedList"/>
    <dgm:cxn modelId="{4AEF52F0-903E-49F1-BBD3-AB2C905DE893}" type="presParOf" srcId="{19F64EB2-4C20-49A8-8693-B5F0C2EC658A}" destId="{6A30D4CB-2C48-4C7D-AB31-DA655E455D92}" srcOrd="0" destOrd="0" presId="urn:microsoft.com/office/officeart/2008/layout/VerticalCurvedList"/>
    <dgm:cxn modelId="{1309DC3F-B4B0-47D8-B752-0A0E38CAD0C7}" type="presParOf" srcId="{4C964004-DF60-44E8-B6C9-C48D01A05C91}" destId="{85537CE7-5E88-4489-9041-EF609EC1BD73}" srcOrd="7" destOrd="0" presId="urn:microsoft.com/office/officeart/2008/layout/VerticalCurvedList"/>
    <dgm:cxn modelId="{55994BCD-9EEE-4276-9AF3-24DD45950399}" type="presParOf" srcId="{4C964004-DF60-44E8-B6C9-C48D01A05C91}" destId="{D69EB2F8-5375-4B79-A252-553142D3D915}" srcOrd="8" destOrd="0" presId="urn:microsoft.com/office/officeart/2008/layout/VerticalCurvedList"/>
    <dgm:cxn modelId="{0AEE9CFF-DE75-4325-A0C2-75C63298CBA4}" type="presParOf" srcId="{D69EB2F8-5375-4B79-A252-553142D3D915}" destId="{B0B387F1-C037-43EE-8D4F-D2FD7E08DBB8}" srcOrd="0" destOrd="0" presId="urn:microsoft.com/office/officeart/2008/layout/VerticalCurvedList"/>
    <dgm:cxn modelId="{F5B53642-41F2-4F78-BE6A-6FBD55DAF016}" type="presParOf" srcId="{4C964004-DF60-44E8-B6C9-C48D01A05C91}" destId="{77302303-9E04-4CFE-BC9B-6679F1367D71}" srcOrd="9" destOrd="0" presId="urn:microsoft.com/office/officeart/2008/layout/VerticalCurvedList"/>
    <dgm:cxn modelId="{8C848429-280D-437C-AB59-C4F826BA2FA0}" type="presParOf" srcId="{4C964004-DF60-44E8-B6C9-C48D01A05C91}" destId="{3D7CD609-7680-4219-95B3-F9B75DBD1E2E}" srcOrd="10" destOrd="0" presId="urn:microsoft.com/office/officeart/2008/layout/VerticalCurvedList"/>
    <dgm:cxn modelId="{67D1D7C9-96C3-4317-8805-94B6BC19B09B}" type="presParOf" srcId="{3D7CD609-7680-4219-95B3-F9B75DBD1E2E}" destId="{FB873B98-CDF2-4386-9B55-85EAC5A0956C}" srcOrd="0" destOrd="0" presId="urn:microsoft.com/office/officeart/2008/layout/VerticalCurvedList"/>
    <dgm:cxn modelId="{97619A44-BB76-491C-B061-C8C97E104540}" type="presParOf" srcId="{4C964004-DF60-44E8-B6C9-C48D01A05C91}" destId="{9C9ACB08-9A6C-4112-B35F-D8AAD0F82867}" srcOrd="11" destOrd="0" presId="urn:microsoft.com/office/officeart/2008/layout/VerticalCurvedList"/>
    <dgm:cxn modelId="{76EFB90B-9025-4A0D-9E93-8530A13BC85F}" type="presParOf" srcId="{4C964004-DF60-44E8-B6C9-C48D01A05C91}" destId="{BDDEAC5B-E3B7-4E0A-A33E-E23A34993943}" srcOrd="12" destOrd="0" presId="urn:microsoft.com/office/officeart/2008/layout/VerticalCurvedList"/>
    <dgm:cxn modelId="{0A888805-065A-4C2E-A7A5-E871BF465AD9}" type="presParOf" srcId="{BDDEAC5B-E3B7-4E0A-A33E-E23A34993943}" destId="{57488393-ECC0-4726-B0EB-7B8C85D73C26}" srcOrd="0" destOrd="0" presId="urn:microsoft.com/office/officeart/2008/layout/VerticalCurvedList"/>
    <dgm:cxn modelId="{352B3262-D3D0-4D6A-B33D-DA926CAF90D6}" type="presParOf" srcId="{4C964004-DF60-44E8-B6C9-C48D01A05C91}" destId="{286B5259-A793-47D7-94CD-4736F8C9E26A}" srcOrd="13" destOrd="0" presId="urn:microsoft.com/office/officeart/2008/layout/VerticalCurvedList"/>
    <dgm:cxn modelId="{0ECFD1EC-BFC2-4C98-AF87-80C8E6452972}" type="presParOf" srcId="{4C964004-DF60-44E8-B6C9-C48D01A05C91}" destId="{686AC5CC-CD61-4A3F-BBBD-17C9F862081E}" srcOrd="14" destOrd="0" presId="urn:microsoft.com/office/officeart/2008/layout/VerticalCurvedList"/>
    <dgm:cxn modelId="{3439D5A8-BEC8-44A4-AAB6-10F9D39E84DB}" type="presParOf" srcId="{686AC5CC-CD61-4A3F-BBBD-17C9F862081E}" destId="{DCD6EA1F-EEE1-49EE-A114-2914B69C5CA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BC9C50-1E39-4FBB-8401-BA630DA653EB}">
      <dsp:nvSpPr>
        <dsp:cNvPr id="0" name=""/>
        <dsp:cNvSpPr/>
      </dsp:nvSpPr>
      <dsp:spPr>
        <a:xfrm>
          <a:off x="-5205435" y="-797654"/>
          <a:ext cx="6201440" cy="6201440"/>
        </a:xfrm>
        <a:prstGeom prst="blockArc">
          <a:avLst>
            <a:gd name="adj1" fmla="val 18900000"/>
            <a:gd name="adj2" fmla="val 2700000"/>
            <a:gd name="adj3" fmla="val 301"/>
          </a:avLst>
        </a:pr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6D6887-88A7-4B10-A74D-01FA2DC45CD4}">
      <dsp:nvSpPr>
        <dsp:cNvPr id="0" name=""/>
        <dsp:cNvSpPr/>
      </dsp:nvSpPr>
      <dsp:spPr>
        <a:xfrm>
          <a:off x="282014" y="209394"/>
          <a:ext cx="6473388" cy="418605"/>
        </a:xfrm>
        <a:prstGeom prst="rect">
          <a:avLst/>
        </a:prstGeom>
        <a:solidFill>
          <a:srgbClr val="00396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6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Cutting Edge Technology Israeli Company</a:t>
          </a:r>
        </a:p>
      </dsp:txBody>
      <dsp:txXfrm>
        <a:off x="282014" y="209394"/>
        <a:ext cx="6473388" cy="418605"/>
      </dsp:txXfrm>
    </dsp:sp>
    <dsp:sp modelId="{75A8FF30-D363-48C4-BCE3-B4972786C859}">
      <dsp:nvSpPr>
        <dsp:cNvPr id="0" name=""/>
        <dsp:cNvSpPr/>
      </dsp:nvSpPr>
      <dsp:spPr>
        <a:xfrm>
          <a:off x="61491" y="157069"/>
          <a:ext cx="523256" cy="523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9B070-34EB-4739-AF60-0183E8F87C58}">
      <dsp:nvSpPr>
        <dsp:cNvPr id="0" name=""/>
        <dsp:cNvSpPr/>
      </dsp:nvSpPr>
      <dsp:spPr>
        <a:xfrm>
          <a:off x="702204" y="837670"/>
          <a:ext cx="6094303" cy="418605"/>
        </a:xfrm>
        <a:prstGeom prst="rect">
          <a:avLst/>
        </a:prstGeom>
        <a:solidFill>
          <a:srgbClr val="00396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6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&gt;2800 Employees world wide</a:t>
          </a:r>
        </a:p>
      </dsp:txBody>
      <dsp:txXfrm>
        <a:off x="702204" y="837670"/>
        <a:ext cx="6094303" cy="418605"/>
      </dsp:txXfrm>
    </dsp:sp>
    <dsp:sp modelId="{8868F7B2-F5BA-4DBB-9EFF-6B9CE1FD4EEA}">
      <dsp:nvSpPr>
        <dsp:cNvPr id="0" name=""/>
        <dsp:cNvSpPr/>
      </dsp:nvSpPr>
      <dsp:spPr>
        <a:xfrm>
          <a:off x="440576" y="785345"/>
          <a:ext cx="523256" cy="523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240132"/>
              <a:satOff val="-23125"/>
              <a:lumOff val="156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09CB7-084B-4825-AD88-C1CA5A36B5BE}">
      <dsp:nvSpPr>
        <dsp:cNvPr id="0" name=""/>
        <dsp:cNvSpPr/>
      </dsp:nvSpPr>
      <dsp:spPr>
        <a:xfrm>
          <a:off x="909941" y="1465486"/>
          <a:ext cx="5886566" cy="418605"/>
        </a:xfrm>
        <a:prstGeom prst="rect">
          <a:avLst/>
        </a:prstGeom>
        <a:solidFill>
          <a:schemeClr val="accent1">
            <a:shade val="50000"/>
            <a:hueOff val="480265"/>
            <a:satOff val="-46251"/>
            <a:lumOff val="312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6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High Speed Networking</a:t>
          </a:r>
        </a:p>
      </dsp:txBody>
      <dsp:txXfrm>
        <a:off x="909941" y="1465486"/>
        <a:ext cx="5886566" cy="418605"/>
      </dsp:txXfrm>
    </dsp:sp>
    <dsp:sp modelId="{6A30D4CB-2C48-4C7D-AB31-DA655E455D92}">
      <dsp:nvSpPr>
        <dsp:cNvPr id="0" name=""/>
        <dsp:cNvSpPr/>
      </dsp:nvSpPr>
      <dsp:spPr>
        <a:xfrm>
          <a:off x="648312" y="1413160"/>
          <a:ext cx="523256" cy="523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480265"/>
              <a:satOff val="-46251"/>
              <a:lumOff val="312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537CE7-5E88-4489-9041-EF609EC1BD73}">
      <dsp:nvSpPr>
        <dsp:cNvPr id="0" name=""/>
        <dsp:cNvSpPr/>
      </dsp:nvSpPr>
      <dsp:spPr>
        <a:xfrm>
          <a:off x="976269" y="2093762"/>
          <a:ext cx="5820238" cy="418605"/>
        </a:xfrm>
        <a:prstGeom prst="rect">
          <a:avLst/>
        </a:prstGeom>
        <a:solidFill>
          <a:schemeClr val="accent1">
            <a:shade val="50000"/>
            <a:hueOff val="720397"/>
            <a:satOff val="-69376"/>
            <a:lumOff val="469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6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/>
            <a:t>Netowrk</a:t>
          </a:r>
          <a:r>
            <a:rPr lang="en-US" sz="1800" b="1" kern="1200" dirty="0"/>
            <a:t> Adapters, Switch, FPGA, </a:t>
          </a:r>
          <a:r>
            <a:rPr lang="en-US" sz="1800" b="1" kern="1200" dirty="0" err="1"/>
            <a:t>SoC</a:t>
          </a:r>
          <a:endParaRPr lang="en-US" sz="1800" b="1" kern="1200" dirty="0"/>
        </a:p>
      </dsp:txBody>
      <dsp:txXfrm>
        <a:off x="976269" y="2093762"/>
        <a:ext cx="5820238" cy="418605"/>
      </dsp:txXfrm>
    </dsp:sp>
    <dsp:sp modelId="{B0B387F1-C037-43EE-8D4F-D2FD7E08DBB8}">
      <dsp:nvSpPr>
        <dsp:cNvPr id="0" name=""/>
        <dsp:cNvSpPr/>
      </dsp:nvSpPr>
      <dsp:spPr>
        <a:xfrm>
          <a:off x="714641" y="2041437"/>
          <a:ext cx="523256" cy="523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720397"/>
              <a:satOff val="-69376"/>
              <a:lumOff val="469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302303-9E04-4CFE-BC9B-6679F1367D71}">
      <dsp:nvSpPr>
        <dsp:cNvPr id="0" name=""/>
        <dsp:cNvSpPr/>
      </dsp:nvSpPr>
      <dsp:spPr>
        <a:xfrm>
          <a:off x="909941" y="2722039"/>
          <a:ext cx="5886566" cy="418605"/>
        </a:xfrm>
        <a:prstGeom prst="rect">
          <a:avLst/>
        </a:prstGeom>
        <a:solidFill>
          <a:srgbClr val="00396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68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E2E – HW, SW, Driver, FW, Cables, Boards</a:t>
          </a:r>
          <a:endParaRPr lang="en-US" sz="1800" kern="1200" dirty="0"/>
        </a:p>
      </dsp:txBody>
      <dsp:txXfrm>
        <a:off x="909941" y="2722039"/>
        <a:ext cx="5886566" cy="418605"/>
      </dsp:txXfrm>
    </dsp:sp>
    <dsp:sp modelId="{FB873B98-CDF2-4386-9B55-85EAC5A0956C}">
      <dsp:nvSpPr>
        <dsp:cNvPr id="0" name=""/>
        <dsp:cNvSpPr/>
      </dsp:nvSpPr>
      <dsp:spPr>
        <a:xfrm>
          <a:off x="648312" y="2669713"/>
          <a:ext cx="523256" cy="523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720397"/>
              <a:satOff val="-69376"/>
              <a:lumOff val="469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ACB08-9A6C-4112-B35F-D8AAD0F82867}">
      <dsp:nvSpPr>
        <dsp:cNvPr id="0" name=""/>
        <dsp:cNvSpPr/>
      </dsp:nvSpPr>
      <dsp:spPr>
        <a:xfrm>
          <a:off x="702204" y="3349854"/>
          <a:ext cx="6094303" cy="418605"/>
        </a:xfrm>
        <a:prstGeom prst="rect">
          <a:avLst/>
        </a:prstGeom>
        <a:solidFill>
          <a:schemeClr val="accent1">
            <a:shade val="50000"/>
            <a:hueOff val="480265"/>
            <a:satOff val="-46251"/>
            <a:lumOff val="312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6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Markets – Cloud, Storage, HPC, Media, Security</a:t>
          </a:r>
        </a:p>
      </dsp:txBody>
      <dsp:txXfrm>
        <a:off x="702204" y="3349854"/>
        <a:ext cx="6094303" cy="418605"/>
      </dsp:txXfrm>
    </dsp:sp>
    <dsp:sp modelId="{57488393-ECC0-4726-B0EB-7B8C85D73C26}">
      <dsp:nvSpPr>
        <dsp:cNvPr id="0" name=""/>
        <dsp:cNvSpPr/>
      </dsp:nvSpPr>
      <dsp:spPr>
        <a:xfrm>
          <a:off x="440576" y="3297529"/>
          <a:ext cx="523256" cy="523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480265"/>
              <a:satOff val="-46251"/>
              <a:lumOff val="312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6B5259-A793-47D7-94CD-4736F8C9E26A}">
      <dsp:nvSpPr>
        <dsp:cNvPr id="0" name=""/>
        <dsp:cNvSpPr/>
      </dsp:nvSpPr>
      <dsp:spPr>
        <a:xfrm>
          <a:off x="323120" y="3978131"/>
          <a:ext cx="6473388" cy="418605"/>
        </a:xfrm>
        <a:prstGeom prst="rect">
          <a:avLst/>
        </a:prstGeom>
        <a:solidFill>
          <a:schemeClr val="accent1">
            <a:shade val="50000"/>
            <a:hueOff val="240132"/>
            <a:satOff val="-23125"/>
            <a:lumOff val="156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2268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Applications – Trade, Weather, ML, Interconnect ... </a:t>
          </a:r>
        </a:p>
      </dsp:txBody>
      <dsp:txXfrm>
        <a:off x="323120" y="3978131"/>
        <a:ext cx="6473388" cy="418605"/>
      </dsp:txXfrm>
    </dsp:sp>
    <dsp:sp modelId="{DCD6EA1F-EEE1-49EE-A114-2914B69C5CA2}">
      <dsp:nvSpPr>
        <dsp:cNvPr id="0" name=""/>
        <dsp:cNvSpPr/>
      </dsp:nvSpPr>
      <dsp:spPr>
        <a:xfrm>
          <a:off x="61491" y="3925805"/>
          <a:ext cx="523256" cy="523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240132"/>
              <a:satOff val="-23125"/>
              <a:lumOff val="156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260558E-C940-4E5F-A7E0-80F21F23BF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5357E21-642D-4B5A-A27C-8670161FD6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5DACDF90-449A-46EA-9BD3-BC9564DBC3E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2EF74988-4079-46CD-8C60-883CF2A0944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3303037-5654-4E6B-9D41-7CE1AADAAF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8419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7A83D34-C159-401D-94F1-22D0670FA2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1782C96-9EBF-48E4-A980-1AD35697673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ED3E3DB-CBE8-4089-B7F8-9BDBE1351DF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6CE3AA76-9E24-4393-AF92-90A4A3A127B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8DDF63D5-0724-4FC6-8318-0B0D29AEAA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1486C82C-BBCB-4C55-BC7E-8AA9EC7297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11E1451-C3EC-48E1-8B42-D211827415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11925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23F7C0-8181-5241-967D-41CF93AC32E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843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1E1451-C3EC-48E1-8B42-D21182741579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1398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2436" y="481358"/>
            <a:ext cx="6932821" cy="5323236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07258" y="4940985"/>
            <a:ext cx="5863431" cy="324378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l">
              <a:lnSpc>
                <a:spcPts val="1875"/>
              </a:lnSpc>
              <a:buClr>
                <a:schemeClr val="accent1"/>
              </a:buClr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/>
              <a:t>Sub Title Slide Name Here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312637" y="5300202"/>
            <a:ext cx="3030141" cy="278167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Clr>
                <a:schemeClr val="accent1"/>
              </a:buClr>
              <a:buNone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/>
              <a:t>Month</a:t>
            </a:r>
            <a:r>
              <a:rPr lang="he-IL" dirty="0"/>
              <a:t> </a:t>
            </a:r>
            <a:r>
              <a:rPr lang="he-IL" dirty="0" err="1"/>
              <a:t>Y</a:t>
            </a:r>
            <a:r>
              <a:rPr lang="en-US" dirty="0"/>
              <a:t>ear</a:t>
            </a: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295828" y="3586657"/>
            <a:ext cx="3850722" cy="1288234"/>
          </a:xfrm>
          <a:prstGeom prst="rect">
            <a:avLst/>
          </a:prstGeom>
        </p:spPr>
        <p:txBody>
          <a:bodyPr anchor="b"/>
          <a:lstStyle>
            <a:lvl1pPr>
              <a:lnSpc>
                <a:spcPts val="3625"/>
              </a:lnSpc>
              <a:defRPr sz="375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Presentation Name Here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7851164" y="0"/>
            <a:ext cx="383565" cy="487805"/>
          </a:xfrm>
          <a:prstGeom prst="rect">
            <a:avLst/>
          </a:prstGeom>
          <a:solidFill>
            <a:srgbClr val="B7BF3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8054585" y="519048"/>
            <a:ext cx="180144" cy="234463"/>
          </a:xfrm>
          <a:prstGeom prst="rect">
            <a:avLst/>
          </a:prstGeom>
          <a:solidFill>
            <a:srgbClr val="3383A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033722" y="0"/>
            <a:ext cx="1795683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8980713" y="0"/>
            <a:ext cx="169410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6488" y="0"/>
            <a:ext cx="702466" cy="93518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 bwMode="auto">
          <a:xfrm>
            <a:off x="355352" y="5624896"/>
            <a:ext cx="396683" cy="528910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355352" y="6200018"/>
            <a:ext cx="178048" cy="237398"/>
          </a:xfrm>
          <a:prstGeom prst="rect">
            <a:avLst/>
          </a:prstGeom>
          <a:solidFill>
            <a:srgbClr val="005AA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69198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295828" y="2741537"/>
            <a:ext cx="4438239" cy="1446989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3625"/>
              </a:lnSpc>
              <a:defRPr sz="3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Name Here 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55352" y="4188526"/>
            <a:ext cx="396683" cy="528910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55352" y="4763648"/>
            <a:ext cx="178048" cy="237398"/>
          </a:xfrm>
          <a:prstGeom prst="rect">
            <a:avLst/>
          </a:prstGeom>
          <a:solidFill>
            <a:srgbClr val="005AA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9837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295828" y="2419615"/>
            <a:ext cx="4438239" cy="1446989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3625"/>
              </a:lnSpc>
              <a:defRPr sz="3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Name Here 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55352" y="4188526"/>
            <a:ext cx="396683" cy="528910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55352" y="4763648"/>
            <a:ext cx="178048" cy="237398"/>
          </a:xfrm>
          <a:prstGeom prst="rect">
            <a:avLst/>
          </a:prstGeom>
          <a:solidFill>
            <a:srgbClr val="005AA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FA0895-107B-ED49-AC10-14C4AD710DB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07258" y="3864148"/>
            <a:ext cx="5863431" cy="324378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l">
              <a:lnSpc>
                <a:spcPts val="1875"/>
              </a:lnSpc>
              <a:buClr>
                <a:schemeClr val="accent1"/>
              </a:buClr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/>
              <a:t>Sub Title Slide Name Here</a:t>
            </a:r>
          </a:p>
        </p:txBody>
      </p:sp>
    </p:spTree>
    <p:extLst>
      <p:ext uri="{BB962C8B-B14F-4D97-AF65-F5344CB8AC3E}">
        <p14:creationId xmlns:p14="http://schemas.microsoft.com/office/powerpoint/2010/main" val="322519318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3"/>
            <a:ext cx="7442949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3" y="1541198"/>
            <a:ext cx="8397875" cy="4826000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1033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55205" y="1056519"/>
            <a:ext cx="8398093" cy="366628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1875"/>
              </a:lnSpc>
              <a:buFont typeface="Wingdings" charset="2"/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614" indent="-285750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8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5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41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3"/>
            <a:ext cx="7450778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3" y="1541198"/>
            <a:ext cx="8397875" cy="4826000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087221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split-v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5" y="409743"/>
            <a:ext cx="7458606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3" y="1541199"/>
            <a:ext cx="8397875" cy="2304426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355203" y="4132770"/>
            <a:ext cx="8397875" cy="2304426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260449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split-v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3"/>
            <a:ext cx="7450778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3" y="1541199"/>
            <a:ext cx="8397875" cy="2304426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355203" y="4132770"/>
            <a:ext cx="8397875" cy="2304426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55205" y="1056519"/>
            <a:ext cx="8398093" cy="366628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1875"/>
              </a:lnSpc>
              <a:buFont typeface="Wingdings" charset="2"/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614" indent="-285750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8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5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41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2674108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split2-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5" y="409743"/>
            <a:ext cx="7458606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3" y="1541198"/>
            <a:ext cx="3696476" cy="4826000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4483651" y="1541198"/>
            <a:ext cx="3696476" cy="4826000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509563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split-o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3"/>
            <a:ext cx="7450778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3" y="1541198"/>
            <a:ext cx="3696476" cy="4826000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4483651" y="1541198"/>
            <a:ext cx="3696476" cy="4826000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55205" y="1056519"/>
            <a:ext cx="8398093" cy="366628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1875"/>
              </a:lnSpc>
              <a:buFont typeface="Wingdings" charset="2"/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614" indent="-285750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8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5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41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13265978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55205" y="1056518"/>
            <a:ext cx="7881119" cy="377836"/>
          </a:xfrm>
          <a:prstGeom prst="rect">
            <a:avLst/>
          </a:prstGeom>
          <a:solidFill>
            <a:srgbClr val="B7C035"/>
          </a:solidFill>
        </p:spPr>
        <p:txBody>
          <a:bodyPr anchor="ctr" anchorCtr="0"/>
          <a:lstStyle>
            <a:lvl1pPr marL="0" indent="0">
              <a:lnSpc>
                <a:spcPts val="1625"/>
              </a:lnSpc>
              <a:buFont typeface="Wingdings" charset="2"/>
              <a:buNone/>
              <a:defRPr sz="175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614" indent="-285750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8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5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41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3"/>
            <a:ext cx="7450778" cy="55697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dirty="0" err="1"/>
              <a:t>S</a:t>
            </a:r>
            <a:r>
              <a:rPr lang="en-US" dirty="0" err="1"/>
              <a:t>lide</a:t>
            </a:r>
            <a:r>
              <a:rPr lang="en-US" dirty="0"/>
              <a:t>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355205" y="3769015"/>
            <a:ext cx="7881119" cy="377836"/>
          </a:xfrm>
          <a:prstGeom prst="rect">
            <a:avLst/>
          </a:prstGeom>
          <a:solidFill>
            <a:srgbClr val="3183AB"/>
          </a:solidFill>
        </p:spPr>
        <p:txBody>
          <a:bodyPr anchor="ctr" anchorCtr="0"/>
          <a:lstStyle>
            <a:lvl1pPr marL="0" indent="0">
              <a:lnSpc>
                <a:spcPts val="1625"/>
              </a:lnSpc>
              <a:buFont typeface="Wingdings" charset="2"/>
              <a:buNone/>
              <a:defRPr sz="175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614" indent="-285750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8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5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41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5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3" y="1468473"/>
            <a:ext cx="8397875" cy="2076854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2"/>
          <p:cNvSpPr>
            <a:spLocks noGrp="1"/>
          </p:cNvSpPr>
          <p:nvPr>
            <p:ph sz="quarter" idx="15" hasCustomPrompt="1"/>
          </p:nvPr>
        </p:nvSpPr>
        <p:spPr>
          <a:xfrm>
            <a:off x="355203" y="4169599"/>
            <a:ext cx="8397875" cy="2051508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69085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55205" y="1056518"/>
            <a:ext cx="7881119" cy="377836"/>
          </a:xfrm>
          <a:prstGeom prst="rect">
            <a:avLst/>
          </a:prstGeom>
          <a:solidFill>
            <a:srgbClr val="B7C035"/>
          </a:solidFill>
        </p:spPr>
        <p:txBody>
          <a:bodyPr anchor="ctr" anchorCtr="0"/>
          <a:lstStyle>
            <a:lvl1pPr marL="0" indent="0">
              <a:lnSpc>
                <a:spcPts val="1625"/>
              </a:lnSpc>
              <a:buFont typeface="Wingdings" charset="2"/>
              <a:buNone/>
              <a:defRPr sz="175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614" indent="-285750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8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5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41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3"/>
            <a:ext cx="7450778" cy="55697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dirty="0" err="1"/>
              <a:t>S</a:t>
            </a:r>
            <a:r>
              <a:rPr lang="en-US" dirty="0" err="1"/>
              <a:t>lide</a:t>
            </a:r>
            <a:r>
              <a:rPr lang="en-US" dirty="0"/>
              <a:t>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355205" y="2903191"/>
            <a:ext cx="7881119" cy="377836"/>
          </a:xfrm>
          <a:prstGeom prst="rect">
            <a:avLst/>
          </a:prstGeom>
          <a:solidFill>
            <a:srgbClr val="3183AB"/>
          </a:solidFill>
        </p:spPr>
        <p:txBody>
          <a:bodyPr anchor="ctr" anchorCtr="0"/>
          <a:lstStyle>
            <a:lvl1pPr marL="0" indent="0">
              <a:lnSpc>
                <a:spcPts val="1625"/>
              </a:lnSpc>
              <a:buFont typeface="Wingdings" charset="2"/>
              <a:buNone/>
              <a:defRPr sz="175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614" indent="-285750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8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5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41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355205" y="4747498"/>
            <a:ext cx="7881119" cy="377836"/>
          </a:xfrm>
          <a:prstGeom prst="rect">
            <a:avLst/>
          </a:prstGeom>
          <a:solidFill>
            <a:srgbClr val="005AAB"/>
          </a:solidFill>
        </p:spPr>
        <p:txBody>
          <a:bodyPr anchor="ctr" anchorCtr="0"/>
          <a:lstStyle>
            <a:lvl1pPr marL="0" indent="0">
              <a:lnSpc>
                <a:spcPts val="1625"/>
              </a:lnSpc>
              <a:buFont typeface="Wingdings" charset="2"/>
              <a:buNone/>
              <a:defRPr sz="175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614" indent="-285750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8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5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41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5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5" y="1434353"/>
            <a:ext cx="8397875" cy="1373416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ts val="1375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ts val="1375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Content Placeholder 12"/>
          <p:cNvSpPr>
            <a:spLocks noGrp="1"/>
          </p:cNvSpPr>
          <p:nvPr>
            <p:ph sz="quarter" idx="15" hasCustomPrompt="1"/>
          </p:nvPr>
        </p:nvSpPr>
        <p:spPr>
          <a:xfrm>
            <a:off x="355205" y="3285104"/>
            <a:ext cx="8397875" cy="1365261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ts val="1375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ts val="1375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355205" y="5125333"/>
            <a:ext cx="8397875" cy="1373415"/>
          </a:xfrm>
          <a:prstGeom prst="rect">
            <a:avLst/>
          </a:prstGeom>
        </p:spPr>
        <p:txBody>
          <a:bodyPr/>
          <a:lstStyle>
            <a:lvl1pPr marL="142439" indent="-153829">
              <a:lnSpc>
                <a:spcPct val="800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>
              <a:lnSpc>
                <a:spcPct val="800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>
              <a:lnSpc>
                <a:spcPct val="800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>
              <a:lnSpc>
                <a:spcPts val="1375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>
              <a:lnSpc>
                <a:spcPts val="1375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4298131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3"/>
            <a:ext cx="7442949" cy="65705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dirty="0" err="1"/>
              <a:t>S</a:t>
            </a:r>
            <a:r>
              <a:rPr lang="en-US" dirty="0" err="1"/>
              <a:t>lide</a:t>
            </a:r>
            <a:r>
              <a:rPr lang="en-US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18360531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 rot="10800000">
            <a:off x="645801" y="2882844"/>
            <a:ext cx="2751611" cy="3683045"/>
            <a:chOff x="8876201" y="2009795"/>
            <a:chExt cx="3150551" cy="316277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9885089" y="1000907"/>
              <a:ext cx="963168" cy="298094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063584" y="2191622"/>
              <a:ext cx="963168" cy="2980944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>
            <a:off x="5571198" y="810486"/>
            <a:ext cx="2751611" cy="3683045"/>
            <a:chOff x="8876201" y="2009795"/>
            <a:chExt cx="3150551" cy="316277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9885089" y="1000907"/>
              <a:ext cx="963168" cy="298094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063584" y="2191622"/>
              <a:ext cx="963168" cy="2980944"/>
            </a:xfrm>
            <a:prstGeom prst="rect">
              <a:avLst/>
            </a:prstGeom>
          </p:spPr>
        </p:pic>
      </p:grp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478104" y="3402963"/>
            <a:ext cx="1893996" cy="49170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750"/>
              </a:lnSpc>
              <a:buFont typeface="Wingdings" charset="2"/>
              <a:buNone/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614" indent="-285750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8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514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41" indent="-285750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6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Visual</a:t>
            </a:r>
            <a:endParaRPr lang="en-US" dirty="0"/>
          </a:p>
        </p:txBody>
      </p:sp>
      <p:sp>
        <p:nvSpPr>
          <p:cNvPr id="11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3"/>
            <a:ext cx="7435120" cy="657058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dirty="0" err="1"/>
              <a:t>S</a:t>
            </a:r>
            <a:r>
              <a:rPr lang="en-US" dirty="0" err="1"/>
              <a:t>lide</a:t>
            </a:r>
            <a:r>
              <a:rPr lang="en-US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18225581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52226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 bwMode="auto">
          <a:xfrm>
            <a:off x="7851164" y="0"/>
            <a:ext cx="383565" cy="487805"/>
          </a:xfrm>
          <a:prstGeom prst="rect">
            <a:avLst/>
          </a:prstGeom>
          <a:solidFill>
            <a:srgbClr val="B7BF3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8054585" y="519048"/>
            <a:ext cx="180144" cy="234463"/>
          </a:xfrm>
          <a:prstGeom prst="rect">
            <a:avLst/>
          </a:prstGeom>
          <a:solidFill>
            <a:srgbClr val="3383A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033722" y="0"/>
            <a:ext cx="1795683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8980713" y="0"/>
            <a:ext cx="169410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6488" y="0"/>
            <a:ext cx="702466" cy="93518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 bwMode="auto">
          <a:xfrm>
            <a:off x="355352" y="5473432"/>
            <a:ext cx="396683" cy="528910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355352" y="6048554"/>
            <a:ext cx="178048" cy="237398"/>
          </a:xfrm>
          <a:prstGeom prst="rect">
            <a:avLst/>
          </a:prstGeom>
          <a:solidFill>
            <a:srgbClr val="005AA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2436" y="966425"/>
            <a:ext cx="6932821" cy="5323236"/>
          </a:xfrm>
          <a:prstGeom prst="rect">
            <a:avLst/>
          </a:prstGeom>
        </p:spPr>
      </p:pic>
      <p:sp>
        <p:nvSpPr>
          <p:cNvPr id="24" name="Title 3"/>
          <p:cNvSpPr txBox="1">
            <a:spLocks/>
          </p:cNvSpPr>
          <p:nvPr/>
        </p:nvSpPr>
        <p:spPr>
          <a:xfrm>
            <a:off x="299459" y="4753165"/>
            <a:ext cx="3047286" cy="70946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3100" b="0" baseline="0">
                <a:solidFill>
                  <a:schemeClr val="bg1"/>
                </a:solidFill>
                <a:latin typeface="+mj-lt"/>
                <a:ea typeface="Arial" pitchFamily="34" charset="0"/>
                <a:cs typeface="Arial" pitchFamily="34" charset="0"/>
              </a:defRPr>
            </a:lvl1pPr>
            <a:lvl2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2pPr>
            <a:lvl3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3pPr>
            <a:lvl4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4pPr>
            <a:lvl5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5pPr>
            <a:lvl6pPr marL="651093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1302191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953287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2604378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defTabSz="571500">
              <a:lnSpc>
                <a:spcPts val="3563"/>
              </a:lnSpc>
            </a:pPr>
            <a:r>
              <a:rPr lang="en-US" sz="375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6545063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457200"/>
            <a:ext cx="7772400" cy="1828800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rgbClr val="FF99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371600" y="2667000"/>
            <a:ext cx="6400800" cy="1752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Font typeface="Wingdings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13748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7543800" cy="76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4869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7543800" cy="76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42291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66800"/>
            <a:ext cx="4229100" cy="5410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32721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2437" y="481358"/>
            <a:ext cx="6932821" cy="5323236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07259" y="4940985"/>
            <a:ext cx="5863431" cy="324378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l">
              <a:lnSpc>
                <a:spcPts val="1875"/>
              </a:lnSpc>
              <a:buClr>
                <a:schemeClr val="accent1"/>
              </a:buClr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/>
              <a:t>Sub Title Slide Name Here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312637" y="5300203"/>
            <a:ext cx="3030141" cy="278167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Clr>
                <a:schemeClr val="accent1"/>
              </a:buClr>
              <a:buNone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/>
              <a:t>Month</a:t>
            </a:r>
            <a:r>
              <a:rPr lang="he-IL"/>
              <a:t> </a:t>
            </a:r>
            <a:r>
              <a:rPr lang="he-IL" err="1"/>
              <a:t>Y</a:t>
            </a:r>
            <a:r>
              <a:rPr lang="en-US"/>
              <a:t>ear</a:t>
            </a: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295829" y="3586657"/>
            <a:ext cx="3850722" cy="1288234"/>
          </a:xfrm>
          <a:prstGeom prst="rect">
            <a:avLst/>
          </a:prstGeom>
        </p:spPr>
        <p:txBody>
          <a:bodyPr anchor="b"/>
          <a:lstStyle>
            <a:lvl1pPr>
              <a:lnSpc>
                <a:spcPts val="3625"/>
              </a:lnSpc>
              <a:defRPr sz="375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Presentation Name Here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7851164" y="0"/>
            <a:ext cx="383565" cy="487805"/>
          </a:xfrm>
          <a:prstGeom prst="rect">
            <a:avLst/>
          </a:prstGeom>
          <a:solidFill>
            <a:srgbClr val="B7BF3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8054585" y="519049"/>
            <a:ext cx="180144" cy="234463"/>
          </a:xfrm>
          <a:prstGeom prst="rect">
            <a:avLst/>
          </a:prstGeom>
          <a:solidFill>
            <a:srgbClr val="3383A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033722" y="0"/>
            <a:ext cx="1795683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8980713" y="0"/>
            <a:ext cx="169410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6489" y="0"/>
            <a:ext cx="702466" cy="93518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 bwMode="auto">
          <a:xfrm>
            <a:off x="355352" y="5624896"/>
            <a:ext cx="396683" cy="528910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355352" y="6200018"/>
            <a:ext cx="178049" cy="237398"/>
          </a:xfrm>
          <a:prstGeom prst="rect">
            <a:avLst/>
          </a:prstGeom>
          <a:solidFill>
            <a:srgbClr val="005AA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1765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295828" y="2741538"/>
            <a:ext cx="4438239" cy="1446989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3625"/>
              </a:lnSpc>
              <a:defRPr sz="3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Chapter Name Here 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55352" y="4188526"/>
            <a:ext cx="396683" cy="528910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55352" y="4763648"/>
            <a:ext cx="178049" cy="237398"/>
          </a:xfrm>
          <a:prstGeom prst="rect">
            <a:avLst/>
          </a:prstGeom>
          <a:solidFill>
            <a:srgbClr val="005AA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3053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4"/>
            <a:ext cx="7442949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4" y="1541198"/>
            <a:ext cx="8397875" cy="4826000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55327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55204" y="1056519"/>
            <a:ext cx="8398094" cy="36662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2063"/>
              </a:lnSpc>
              <a:buFont typeface="Wingdings" charset="2"/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596" indent="-285739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788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48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0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5" y="409744"/>
            <a:ext cx="7450778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4" y="1541198"/>
            <a:ext cx="8397875" cy="4826000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593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split-v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5" y="409744"/>
            <a:ext cx="7458606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4" y="1541199"/>
            <a:ext cx="8397875" cy="2304426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355204" y="4132770"/>
            <a:ext cx="8397875" cy="2304426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30578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split-v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5" y="409744"/>
            <a:ext cx="7450778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4" y="1541199"/>
            <a:ext cx="8397875" cy="2304426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355204" y="4132770"/>
            <a:ext cx="8397875" cy="2304426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55204" y="1056519"/>
            <a:ext cx="8398094" cy="36662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2063"/>
              </a:lnSpc>
              <a:buFont typeface="Wingdings" charset="2"/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596" indent="-285739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788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48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0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0030866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split2-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5" y="409744"/>
            <a:ext cx="7458606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4" y="1541198"/>
            <a:ext cx="3696476" cy="4826000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4483652" y="1541198"/>
            <a:ext cx="3696476" cy="4826000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237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split-o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5" y="409744"/>
            <a:ext cx="7450778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4" y="1541198"/>
            <a:ext cx="3696476" cy="4826000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2"/>
          <p:cNvSpPr>
            <a:spLocks noGrp="1"/>
          </p:cNvSpPr>
          <p:nvPr>
            <p:ph sz="quarter" idx="12" hasCustomPrompt="1"/>
          </p:nvPr>
        </p:nvSpPr>
        <p:spPr>
          <a:xfrm>
            <a:off x="4483652" y="1541198"/>
            <a:ext cx="3696476" cy="4826000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55204" y="1056519"/>
            <a:ext cx="8398094" cy="36662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2063"/>
              </a:lnSpc>
              <a:buFont typeface="Wingdings" charset="2"/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596" indent="-285739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788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48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0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5378062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55205" y="1056518"/>
            <a:ext cx="7881119" cy="377836"/>
          </a:xfrm>
          <a:prstGeom prst="rect">
            <a:avLst/>
          </a:prstGeom>
          <a:solidFill>
            <a:srgbClr val="B7C035"/>
          </a:solidFill>
        </p:spPr>
        <p:txBody>
          <a:bodyPr anchor="ctr" anchorCtr="0"/>
          <a:lstStyle>
            <a:lvl1pPr marL="0" indent="0">
              <a:lnSpc>
                <a:spcPts val="1750"/>
              </a:lnSpc>
              <a:buFont typeface="Wingdings" charset="2"/>
              <a:buNone/>
              <a:defRPr sz="175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596" indent="-285739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788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48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0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5" y="409744"/>
            <a:ext cx="7450778" cy="556975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err="1"/>
              <a:t>S</a:t>
            </a:r>
            <a:r>
              <a:rPr lang="en-US" err="1"/>
              <a:t>lide</a:t>
            </a:r>
            <a:r>
              <a:rPr lang="en-US"/>
              <a:t>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355205" y="3769015"/>
            <a:ext cx="7881119" cy="377836"/>
          </a:xfrm>
          <a:prstGeom prst="rect">
            <a:avLst/>
          </a:prstGeom>
          <a:solidFill>
            <a:srgbClr val="3183AB"/>
          </a:solidFill>
        </p:spPr>
        <p:txBody>
          <a:bodyPr anchor="ctr" anchorCtr="0"/>
          <a:lstStyle>
            <a:lvl1pPr marL="0" indent="0">
              <a:lnSpc>
                <a:spcPts val="1750"/>
              </a:lnSpc>
              <a:buFont typeface="Wingdings" charset="2"/>
              <a:buNone/>
              <a:defRPr sz="175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596" indent="-285739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788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48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0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15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4" y="1468473"/>
            <a:ext cx="8397875" cy="2076854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2"/>
          <p:cNvSpPr>
            <a:spLocks noGrp="1"/>
          </p:cNvSpPr>
          <p:nvPr>
            <p:ph sz="quarter" idx="15" hasCustomPrompt="1"/>
          </p:nvPr>
        </p:nvSpPr>
        <p:spPr>
          <a:xfrm>
            <a:off x="355204" y="4169599"/>
            <a:ext cx="8397875" cy="2051508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0425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55205" y="1056518"/>
            <a:ext cx="7881119" cy="377836"/>
          </a:xfrm>
          <a:prstGeom prst="rect">
            <a:avLst/>
          </a:prstGeom>
          <a:solidFill>
            <a:srgbClr val="B7C035"/>
          </a:solidFill>
        </p:spPr>
        <p:txBody>
          <a:bodyPr anchor="ctr" anchorCtr="0"/>
          <a:lstStyle>
            <a:lvl1pPr marL="0" indent="0">
              <a:lnSpc>
                <a:spcPts val="1750"/>
              </a:lnSpc>
              <a:buFont typeface="Wingdings" charset="2"/>
              <a:buNone/>
              <a:defRPr sz="175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596" indent="-285739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788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48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0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5" y="409744"/>
            <a:ext cx="7450778" cy="556975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err="1"/>
              <a:t>S</a:t>
            </a:r>
            <a:r>
              <a:rPr lang="en-US" err="1"/>
              <a:t>lide</a:t>
            </a:r>
            <a:r>
              <a:rPr lang="en-US"/>
              <a:t> Title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355205" y="2903191"/>
            <a:ext cx="7881119" cy="377836"/>
          </a:xfrm>
          <a:prstGeom prst="rect">
            <a:avLst/>
          </a:prstGeom>
          <a:solidFill>
            <a:srgbClr val="3183AB"/>
          </a:solidFill>
        </p:spPr>
        <p:txBody>
          <a:bodyPr anchor="ctr" anchorCtr="0"/>
          <a:lstStyle>
            <a:lvl1pPr marL="0" indent="0">
              <a:lnSpc>
                <a:spcPts val="1750"/>
              </a:lnSpc>
              <a:buFont typeface="Wingdings" charset="2"/>
              <a:buNone/>
              <a:defRPr sz="175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596" indent="-285739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788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48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0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355205" y="4747498"/>
            <a:ext cx="7881119" cy="377836"/>
          </a:xfrm>
          <a:prstGeom prst="rect">
            <a:avLst/>
          </a:prstGeom>
          <a:solidFill>
            <a:srgbClr val="005AAB"/>
          </a:solidFill>
        </p:spPr>
        <p:txBody>
          <a:bodyPr anchor="ctr" anchorCtr="0"/>
          <a:lstStyle>
            <a:lvl1pPr marL="0" indent="0">
              <a:lnSpc>
                <a:spcPts val="1750"/>
              </a:lnSpc>
              <a:buFont typeface="Wingdings" charset="2"/>
              <a:buNone/>
              <a:defRPr sz="175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596" indent="-285739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2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788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48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0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15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6" y="1434353"/>
            <a:ext cx="8397875" cy="1373416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ts val="1375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ts val="1375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Content Placeholder 12"/>
          <p:cNvSpPr>
            <a:spLocks noGrp="1"/>
          </p:cNvSpPr>
          <p:nvPr>
            <p:ph sz="quarter" idx="15" hasCustomPrompt="1"/>
          </p:nvPr>
        </p:nvSpPr>
        <p:spPr>
          <a:xfrm>
            <a:off x="355206" y="3285105"/>
            <a:ext cx="8397875" cy="1365261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ts val="1375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ts val="1375"/>
              </a:lnSpc>
              <a:buClr>
                <a:srgbClr val="3183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355206" y="5125334"/>
            <a:ext cx="8397875" cy="1373415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5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ts val="1375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ts val="1375"/>
              </a:lnSpc>
              <a:buClr>
                <a:srgbClr val="005AAB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991406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3"/>
            <a:ext cx="7442949" cy="657058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err="1"/>
              <a:t>S</a:t>
            </a:r>
            <a:r>
              <a:rPr lang="en-US" err="1"/>
              <a:t>lide</a:t>
            </a:r>
            <a:r>
              <a:rPr lang="en-US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6801430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 rot="10800000">
            <a:off x="645802" y="2882845"/>
            <a:ext cx="2751611" cy="3683045"/>
            <a:chOff x="8876201" y="2009795"/>
            <a:chExt cx="3150551" cy="316277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9885089" y="1000907"/>
              <a:ext cx="963168" cy="298094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063584" y="2191622"/>
              <a:ext cx="963168" cy="2980944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>
            <a:off x="5571198" y="810487"/>
            <a:ext cx="2751611" cy="3683045"/>
            <a:chOff x="8876201" y="2009795"/>
            <a:chExt cx="3150551" cy="316277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9885089" y="1000907"/>
              <a:ext cx="963168" cy="298094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063584" y="2191622"/>
              <a:ext cx="963168" cy="2980944"/>
            </a:xfrm>
            <a:prstGeom prst="rect">
              <a:avLst/>
            </a:prstGeom>
          </p:spPr>
        </p:pic>
      </p:grp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478104" y="3402963"/>
            <a:ext cx="1893996" cy="49170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1750"/>
              </a:lnSpc>
              <a:buFont typeface="Wingdings" charset="2"/>
              <a:buNone/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80596" indent="-285739">
              <a:lnSpc>
                <a:spcPts val="1750"/>
              </a:lnSpc>
              <a:buClr>
                <a:srgbClr val="B7BF36"/>
              </a:buClr>
              <a:buSzPct val="90000"/>
              <a:buFontTx/>
              <a:buBlip>
                <a:blip r:embed="rId3"/>
              </a:buBlip>
              <a:defRPr sz="17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48788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4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9848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5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75102" indent="-285739">
              <a:lnSpc>
                <a:spcPts val="1375"/>
              </a:lnSpc>
              <a:buClr>
                <a:srgbClr val="B7BF36"/>
              </a:buClr>
              <a:buSzPct val="90000"/>
              <a:buFontTx/>
              <a:buBlip>
                <a:blip r:embed="rId6"/>
              </a:buBlip>
              <a:defRPr sz="137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Visual</a:t>
            </a:r>
          </a:p>
        </p:txBody>
      </p:sp>
      <p:sp>
        <p:nvSpPr>
          <p:cNvPr id="11" name="Title 2"/>
          <p:cNvSpPr>
            <a:spLocks noGrp="1"/>
          </p:cNvSpPr>
          <p:nvPr>
            <p:ph type="title" hasCustomPrompt="1"/>
          </p:nvPr>
        </p:nvSpPr>
        <p:spPr>
          <a:xfrm>
            <a:off x="346675" y="409743"/>
            <a:ext cx="7435120" cy="657058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he-IL" err="1"/>
              <a:t>S</a:t>
            </a:r>
            <a:r>
              <a:rPr lang="en-US" err="1"/>
              <a:t>lide</a:t>
            </a:r>
            <a:r>
              <a:rPr lang="en-US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7460968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65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 bwMode="auto">
          <a:xfrm>
            <a:off x="7851164" y="0"/>
            <a:ext cx="383565" cy="487805"/>
          </a:xfrm>
          <a:prstGeom prst="rect">
            <a:avLst/>
          </a:prstGeom>
          <a:solidFill>
            <a:srgbClr val="B7BF3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8054585" y="519049"/>
            <a:ext cx="180144" cy="234463"/>
          </a:xfrm>
          <a:prstGeom prst="rect">
            <a:avLst/>
          </a:prstGeom>
          <a:solidFill>
            <a:srgbClr val="3383A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033722" y="0"/>
            <a:ext cx="1795683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8980713" y="0"/>
            <a:ext cx="169410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6489" y="0"/>
            <a:ext cx="702466" cy="93518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 bwMode="auto">
          <a:xfrm>
            <a:off x="355352" y="5473432"/>
            <a:ext cx="396683" cy="528910"/>
          </a:xfrm>
          <a:prstGeom prst="rect">
            <a:avLst/>
          </a:prstGeom>
          <a:solidFill>
            <a:srgbClr val="B7C03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355352" y="6048554"/>
            <a:ext cx="178049" cy="237398"/>
          </a:xfrm>
          <a:prstGeom prst="rect">
            <a:avLst/>
          </a:prstGeom>
          <a:solidFill>
            <a:srgbClr val="005AA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2437" y="966425"/>
            <a:ext cx="6932821" cy="5323236"/>
          </a:xfrm>
          <a:prstGeom prst="rect">
            <a:avLst/>
          </a:prstGeom>
        </p:spPr>
      </p:pic>
      <p:sp>
        <p:nvSpPr>
          <p:cNvPr id="24" name="Title 3"/>
          <p:cNvSpPr txBox="1">
            <a:spLocks/>
          </p:cNvSpPr>
          <p:nvPr/>
        </p:nvSpPr>
        <p:spPr>
          <a:xfrm>
            <a:off x="299459" y="4753166"/>
            <a:ext cx="3047286" cy="70946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3100" b="0" baseline="0">
                <a:solidFill>
                  <a:schemeClr val="bg1"/>
                </a:solidFill>
                <a:latin typeface="+mj-lt"/>
                <a:ea typeface="Arial" pitchFamily="34" charset="0"/>
                <a:cs typeface="Arial" pitchFamily="34" charset="0"/>
              </a:defRPr>
            </a:lvl1pPr>
            <a:lvl2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2pPr>
            <a:lvl3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3pPr>
            <a:lvl4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4pPr>
            <a:lvl5pPr algn="l" rtl="0" eaLnBrk="1" fontAlgn="base" hangingPunct="1">
              <a:lnSpc>
                <a:spcPts val="4038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5pPr>
            <a:lvl6pPr marL="651093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1302191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953287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2604378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defTabSz="571478">
              <a:lnSpc>
                <a:spcPts val="3563"/>
              </a:lnSpc>
            </a:pPr>
            <a:r>
              <a:rPr lang="en-US" sz="3750" b="1" kern="0">
                <a:solidFill>
                  <a:srgbClr val="000000">
                    <a:lumMod val="65000"/>
                    <a:lumOff val="35000"/>
                  </a:srgbClr>
                </a:solidFill>
                <a:latin typeface="Calibri" charset="0"/>
                <a:ea typeface="Calibri" charset="0"/>
                <a:cs typeface="Calibri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892643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55600" y="-1"/>
            <a:ext cx="7373939" cy="875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0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8854" y="1032935"/>
            <a:ext cx="2631998" cy="5396442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15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146482" y="1032935"/>
            <a:ext cx="2631998" cy="5396442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15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1"/>
          </p:nvPr>
        </p:nvSpPr>
        <p:spPr>
          <a:xfrm>
            <a:off x="3254454" y="1032935"/>
            <a:ext cx="2631998" cy="5396442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15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0421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 noChangeArrowheads="1"/>
          </p:cNvSpPr>
          <p:nvPr>
            <p:ph type="title"/>
          </p:nvPr>
        </p:nvSpPr>
        <p:spPr bwMode="white">
          <a:xfrm>
            <a:off x="355600" y="0"/>
            <a:ext cx="7373939" cy="875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0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358853" y="1032935"/>
            <a:ext cx="3975023" cy="542819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15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579618" y="1024998"/>
            <a:ext cx="4236961" cy="5441419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15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4558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204" y="0"/>
            <a:ext cx="7373939" cy="87527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4351" y="1039449"/>
            <a:ext cx="8398093" cy="53295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43140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46674" y="409744"/>
            <a:ext cx="7442949" cy="545601"/>
          </a:xfrm>
          <a:prstGeom prst="rect">
            <a:avLst/>
          </a:prstGeom>
        </p:spPr>
        <p:txBody>
          <a:bodyPr/>
          <a:lstStyle>
            <a:lvl1pPr>
              <a:lnSpc>
                <a:spcPts val="2813"/>
              </a:lnSpc>
              <a:defRPr sz="2750" b="1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355204" y="1541198"/>
            <a:ext cx="8397875" cy="4826000"/>
          </a:xfrm>
          <a:prstGeom prst="rect">
            <a:avLst/>
          </a:prstGeom>
        </p:spPr>
        <p:txBody>
          <a:bodyPr/>
          <a:lstStyle>
            <a:lvl1pPr marL="142434" indent="-153823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03" indent="-159246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08" indent="-1493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677" indent="-170934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21" indent="-131058"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454587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gradFill flip="none" rotWithShape="1">
          <a:gsLst>
            <a:gs pos="75000">
              <a:schemeClr val="tx2">
                <a:lumMod val="60000"/>
                <a:lumOff val="40000"/>
              </a:schemeClr>
            </a:gs>
            <a:gs pos="89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0392" y="6129697"/>
            <a:ext cx="856907" cy="6699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8F391A-EBEF-4E17-8774-1E7237B35061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755576" y="17126"/>
            <a:ext cx="7606651" cy="1339424"/>
            <a:chOff x="-807" y="88"/>
            <a:chExt cx="11862" cy="1828"/>
          </a:xfrm>
        </p:grpSpPr>
        <p:grpSp>
          <p:nvGrpSpPr>
            <p:cNvPr id="14" name="Group 13"/>
            <p:cNvGrpSpPr>
              <a:grpSpLocks/>
            </p:cNvGrpSpPr>
            <p:nvPr userDrawn="1"/>
          </p:nvGrpSpPr>
          <p:grpSpPr bwMode="auto">
            <a:xfrm>
              <a:off x="10155" y="926"/>
              <a:ext cx="741" cy="545"/>
              <a:chOff x="10050" y="2259"/>
              <a:chExt cx="771" cy="636"/>
            </a:xfrm>
          </p:grpSpPr>
          <p:grpSp>
            <p:nvGrpSpPr>
              <p:cNvPr id="27" name="Group 26"/>
              <p:cNvGrpSpPr>
                <a:grpSpLocks/>
              </p:cNvGrpSpPr>
              <p:nvPr userDrawn="1"/>
            </p:nvGrpSpPr>
            <p:grpSpPr bwMode="auto">
              <a:xfrm>
                <a:off x="10050" y="2259"/>
                <a:ext cx="771" cy="120"/>
                <a:chOff x="10050" y="2259"/>
                <a:chExt cx="771" cy="120"/>
              </a:xfrm>
            </p:grpSpPr>
            <p:sp>
              <p:nvSpPr>
                <p:cNvPr id="40" name="Rectangle 39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1" name="Rectangle 40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2" name="Rectangle 41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3" name="Rectangle 42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44" name="Rectangle 43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28" name="Group 27"/>
              <p:cNvGrpSpPr>
                <a:grpSpLocks/>
              </p:cNvGrpSpPr>
              <p:nvPr userDrawn="1"/>
            </p:nvGrpSpPr>
            <p:grpSpPr bwMode="auto">
              <a:xfrm>
                <a:off x="10050" y="2517"/>
                <a:ext cx="771" cy="120"/>
                <a:chOff x="10050" y="2259"/>
                <a:chExt cx="771" cy="120"/>
              </a:xfrm>
            </p:grpSpPr>
            <p:sp>
              <p:nvSpPr>
                <p:cNvPr id="35" name="Rectangle 34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6" name="Rectangle 35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7" name="Rectangle 36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8" name="Rectangle 37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9" name="Rectangle 38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29" name="Group 28"/>
              <p:cNvGrpSpPr>
                <a:grpSpLocks/>
              </p:cNvGrpSpPr>
              <p:nvPr userDrawn="1"/>
            </p:nvGrpSpPr>
            <p:grpSpPr bwMode="auto">
              <a:xfrm>
                <a:off x="10050" y="2775"/>
                <a:ext cx="771" cy="120"/>
                <a:chOff x="10050" y="2259"/>
                <a:chExt cx="771" cy="120"/>
              </a:xfrm>
            </p:grpSpPr>
            <p:sp>
              <p:nvSpPr>
                <p:cNvPr id="30" name="Rectangle 29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1" name="Rectangle 30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2" name="Rectangle 31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3" name="Rectangle 32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34" name="Rectangle 33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</p:grpSp>
        <p:sp>
          <p:nvSpPr>
            <p:cNvPr id="15" name="Text Box 22"/>
            <p:cNvSpPr txBox="1">
              <a:spLocks noChangeArrowheads="1"/>
            </p:cNvSpPr>
            <p:nvPr userDrawn="1"/>
          </p:nvSpPr>
          <p:spPr bwMode="auto">
            <a:xfrm>
              <a:off x="5481" y="523"/>
              <a:ext cx="5574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ahoma" panose="020B0604030504040204" pitchFamily="34" charset="0"/>
                </a:rPr>
                <a:t>הפקולטה להנדסת חשמל ע"ש אנדרו וארנה ויטרבי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8" name="Text Box 23"/>
            <p:cNvSpPr txBox="1">
              <a:spLocks noChangeArrowheads="1"/>
            </p:cNvSpPr>
            <p:nvPr userDrawn="1"/>
          </p:nvSpPr>
          <p:spPr bwMode="auto">
            <a:xfrm>
              <a:off x="7275" y="805"/>
              <a:ext cx="2880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אלקטרוניקה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20" name="Text Box 24"/>
            <p:cNvSpPr txBox="1">
              <a:spLocks noChangeArrowheads="1"/>
            </p:cNvSpPr>
            <p:nvPr userDrawn="1"/>
          </p:nvSpPr>
          <p:spPr bwMode="auto">
            <a:xfrm>
              <a:off x="7288" y="1032"/>
              <a:ext cx="2880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מחשבים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24" name="Text Box 25"/>
            <p:cNvSpPr txBox="1">
              <a:spLocks noChangeArrowheads="1"/>
            </p:cNvSpPr>
            <p:nvPr userDrawn="1"/>
          </p:nvSpPr>
          <p:spPr bwMode="auto">
            <a:xfrm>
              <a:off x="7288" y="1278"/>
              <a:ext cx="2880" cy="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תקשורת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26" name="Text Box 27"/>
            <p:cNvSpPr txBox="1">
              <a:spLocks noChangeArrowheads="1"/>
            </p:cNvSpPr>
            <p:nvPr userDrawn="1"/>
          </p:nvSpPr>
          <p:spPr bwMode="auto">
            <a:xfrm>
              <a:off x="-807" y="88"/>
              <a:ext cx="4678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הטכניון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מכון טכנולוגי לישראל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46" name="Picture 165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763" y="156728"/>
            <a:ext cx="5715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45320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533C76-4298-43FB-B1BD-0F0829E2ADDB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76DBF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76DBF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76DBF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76DBF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grpSp>
        <p:nvGrpSpPr>
          <p:cNvPr id="63" name="Group 62"/>
          <p:cNvGrpSpPr>
            <a:grpSpLocks/>
          </p:cNvGrpSpPr>
          <p:nvPr/>
        </p:nvGrpSpPr>
        <p:grpSpPr bwMode="auto">
          <a:xfrm>
            <a:off x="925563" y="172922"/>
            <a:ext cx="7870314" cy="1180422"/>
            <a:chOff x="-512" y="305"/>
            <a:chExt cx="11567" cy="1611"/>
          </a:xfrm>
        </p:grpSpPr>
        <p:grpSp>
          <p:nvGrpSpPr>
            <p:cNvPr id="64" name="Group 63"/>
            <p:cNvGrpSpPr>
              <a:grpSpLocks/>
            </p:cNvGrpSpPr>
            <p:nvPr userDrawn="1"/>
          </p:nvGrpSpPr>
          <p:grpSpPr bwMode="auto">
            <a:xfrm>
              <a:off x="10155" y="926"/>
              <a:ext cx="741" cy="545"/>
              <a:chOff x="10050" y="2259"/>
              <a:chExt cx="771" cy="636"/>
            </a:xfrm>
          </p:grpSpPr>
          <p:grpSp>
            <p:nvGrpSpPr>
              <p:cNvPr id="70" name="Group 69"/>
              <p:cNvGrpSpPr>
                <a:grpSpLocks/>
              </p:cNvGrpSpPr>
              <p:nvPr userDrawn="1"/>
            </p:nvGrpSpPr>
            <p:grpSpPr bwMode="auto">
              <a:xfrm>
                <a:off x="10050" y="2259"/>
                <a:ext cx="771" cy="120"/>
                <a:chOff x="10050" y="2259"/>
                <a:chExt cx="771" cy="120"/>
              </a:xfrm>
            </p:grpSpPr>
            <p:sp>
              <p:nvSpPr>
                <p:cNvPr id="83" name="Rectangle 82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4" name="Rectangle 83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5" name="Rectangle 84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6" name="Rectangle 85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7" name="Rectangle 86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71" name="Group 70"/>
              <p:cNvGrpSpPr>
                <a:grpSpLocks/>
              </p:cNvGrpSpPr>
              <p:nvPr userDrawn="1"/>
            </p:nvGrpSpPr>
            <p:grpSpPr bwMode="auto">
              <a:xfrm>
                <a:off x="10050" y="2517"/>
                <a:ext cx="771" cy="120"/>
                <a:chOff x="10050" y="2259"/>
                <a:chExt cx="771" cy="120"/>
              </a:xfrm>
            </p:grpSpPr>
            <p:sp>
              <p:nvSpPr>
                <p:cNvPr id="78" name="Rectangle 77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9" name="Rectangle 78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0" name="Rectangle 79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1" name="Rectangle 80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82" name="Rectangle 81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  <p:grpSp>
            <p:nvGrpSpPr>
              <p:cNvPr id="72" name="Group 71"/>
              <p:cNvGrpSpPr>
                <a:grpSpLocks/>
              </p:cNvGrpSpPr>
              <p:nvPr userDrawn="1"/>
            </p:nvGrpSpPr>
            <p:grpSpPr bwMode="auto">
              <a:xfrm>
                <a:off x="10050" y="2775"/>
                <a:ext cx="771" cy="120"/>
                <a:chOff x="10050" y="2259"/>
                <a:chExt cx="771" cy="120"/>
              </a:xfrm>
            </p:grpSpPr>
            <p:sp>
              <p:nvSpPr>
                <p:cNvPr id="73" name="Rectangle 72"/>
                <p:cNvSpPr>
                  <a:spLocks noChangeArrowheads="1"/>
                </p:cNvSpPr>
                <p:nvPr userDrawn="1"/>
              </p:nvSpPr>
              <p:spPr bwMode="auto">
                <a:xfrm>
                  <a:off x="10701" y="2259"/>
                  <a:ext cx="120" cy="120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4" name="Rectangle 73"/>
                <p:cNvSpPr>
                  <a:spLocks noChangeArrowheads="1"/>
                </p:cNvSpPr>
                <p:nvPr userDrawn="1"/>
              </p:nvSpPr>
              <p:spPr bwMode="auto">
                <a:xfrm>
                  <a:off x="10512" y="2265"/>
                  <a:ext cx="105" cy="111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5" name="Rectangle 74"/>
                <p:cNvSpPr>
                  <a:spLocks noChangeArrowheads="1"/>
                </p:cNvSpPr>
                <p:nvPr userDrawn="1"/>
              </p:nvSpPr>
              <p:spPr bwMode="auto">
                <a:xfrm>
                  <a:off x="10353" y="2274"/>
                  <a:ext cx="93" cy="96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6" name="Rectangle 75"/>
                <p:cNvSpPr>
                  <a:spLocks noChangeArrowheads="1"/>
                </p:cNvSpPr>
                <p:nvPr userDrawn="1"/>
              </p:nvSpPr>
              <p:spPr bwMode="auto">
                <a:xfrm>
                  <a:off x="10194" y="2280"/>
                  <a:ext cx="81" cy="84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  <p:sp>
              <p:nvSpPr>
                <p:cNvPr id="77" name="Rectangle 76"/>
                <p:cNvSpPr>
                  <a:spLocks noChangeArrowheads="1"/>
                </p:cNvSpPr>
                <p:nvPr userDrawn="1"/>
              </p:nvSpPr>
              <p:spPr bwMode="auto">
                <a:xfrm>
                  <a:off x="10050" y="2286"/>
                  <a:ext cx="66" cy="69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0000FF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algn="r" defTabSz="914400" rtl="1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e-IL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Arial" charset="0"/>
                  </a:endParaRPr>
                </a:p>
              </p:txBody>
            </p:sp>
          </p:grpSp>
        </p:grpSp>
        <p:sp>
          <p:nvSpPr>
            <p:cNvPr id="65" name="Text Box 22"/>
            <p:cNvSpPr txBox="1">
              <a:spLocks noChangeArrowheads="1"/>
            </p:cNvSpPr>
            <p:nvPr userDrawn="1"/>
          </p:nvSpPr>
          <p:spPr bwMode="auto">
            <a:xfrm>
              <a:off x="5481" y="523"/>
              <a:ext cx="5574" cy="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ahoma" panose="020B0604030504040204" pitchFamily="34" charset="0"/>
                </a:rPr>
                <a:t>הפקולטה להנדסת חשמל ע"ש אנדרו וארנה ויטרבי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66" name="Text Box 23"/>
            <p:cNvSpPr txBox="1">
              <a:spLocks noChangeArrowheads="1"/>
            </p:cNvSpPr>
            <p:nvPr userDrawn="1"/>
          </p:nvSpPr>
          <p:spPr bwMode="auto">
            <a:xfrm>
              <a:off x="7275" y="805"/>
              <a:ext cx="2880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אלקטרוניקה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67" name="Text Box 24"/>
            <p:cNvSpPr txBox="1">
              <a:spLocks noChangeArrowheads="1"/>
            </p:cNvSpPr>
            <p:nvPr userDrawn="1"/>
          </p:nvSpPr>
          <p:spPr bwMode="auto">
            <a:xfrm>
              <a:off x="7288" y="1032"/>
              <a:ext cx="2880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מחשבים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68" name="Text Box 25"/>
            <p:cNvSpPr txBox="1">
              <a:spLocks noChangeArrowheads="1"/>
            </p:cNvSpPr>
            <p:nvPr userDrawn="1"/>
          </p:nvSpPr>
          <p:spPr bwMode="auto">
            <a:xfrm>
              <a:off x="7288" y="1278"/>
              <a:ext cx="2880" cy="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תקשורת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  <p:sp>
          <p:nvSpPr>
            <p:cNvPr id="69" name="Text Box 27"/>
            <p:cNvSpPr txBox="1">
              <a:spLocks noChangeArrowheads="1"/>
            </p:cNvSpPr>
            <p:nvPr userDrawn="1"/>
          </p:nvSpPr>
          <p:spPr bwMode="auto">
            <a:xfrm>
              <a:off x="-512" y="305"/>
              <a:ext cx="4261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הטכניון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ahoma" panose="020B0604030504040204" pitchFamily="34" charset="0"/>
                  <a:ea typeface="Times New Roman" panose="02020603050405020304" pitchFamily="18" charset="0"/>
                  <a:cs typeface="Arial" charset="0"/>
                </a:rPr>
                <a:t>- </a:t>
              </a: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ahoma" panose="020B0604030504040204" pitchFamily="34" charset="0"/>
                </a:rPr>
                <a:t>מכון טכנולוגי לישראל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Arial" charset="0"/>
              </a:endParaRPr>
            </a:p>
          </p:txBody>
        </p:sp>
      </p:grpSp>
      <p:pic>
        <p:nvPicPr>
          <p:cNvPr id="88" name="Picture 165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9168" y="153522"/>
            <a:ext cx="606372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0495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40465C-8A53-4911-9A00-2C946368ECA6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152938-1B01-4537-A25E-FAEE73EDB538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7723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bg2">
                  <a:lumMod val="75000"/>
                </a:schemeClr>
              </a:buClr>
              <a:buSzPct val="92000"/>
              <a:buFont typeface="Arial" panose="020B0604020202020204" pitchFamily="34" charset="0"/>
              <a:buChar char="•"/>
              <a:defRPr>
                <a:solidFill>
                  <a:srgbClr val="3333CC"/>
                </a:solidFill>
              </a:defRPr>
            </a:lvl1pPr>
            <a:lvl2pPr marL="742950" indent="-285750"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§"/>
              <a:defRPr>
                <a:solidFill>
                  <a:srgbClr val="3333CC"/>
                </a:solidFill>
              </a:defRPr>
            </a:lvl2pPr>
            <a:lvl3pPr marL="12001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>
                <a:solidFill>
                  <a:srgbClr val="3333CC"/>
                </a:solidFill>
              </a:defRPr>
            </a:lvl3pPr>
            <a:lvl4pPr>
              <a:defRPr>
                <a:solidFill>
                  <a:srgbClr val="3333CC"/>
                </a:solidFill>
              </a:defRPr>
            </a:lvl4pPr>
            <a:lvl5pPr>
              <a:defRPr>
                <a:solidFill>
                  <a:srgbClr val="3333CC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27EFFE-027F-4D77-9407-5C6CEFFE4258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B1ADD0-A997-41D7-9664-6AC9018CBCD5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9294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34BD6-B894-4FB8-86FC-1A951B8385A0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1BA823-ABCA-407C-B228-501524F0E55B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0745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D78BF0-5E00-46C6-A6C6-19ED10E2FF4F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72AF5F-50CD-45ED-AD4F-AF7A4E8579BD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7159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55A330-699D-40BA-8A68-E3DD98EB0970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06AC3E-00B4-4463-BC65-A60E1D24C7AA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3675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2E14B6-5471-4254-99F9-E0D38C4C60B0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BC94C3-7C82-485D-8E8B-5AC63A00891C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6966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3DB0A9-33D3-4C81-9BE9-D7EF95D9346E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EB3CF-63D4-4437-9550-501DC0BD9EE9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2723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056753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338863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7810972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598355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1094191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35300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9CE4AC-2C71-4594-BD9A-B49FB726B1B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FAC80-1EB7-4463-8FF1-984DC6CD2F31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3244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4F35FD-C650-4FEB-A68C-CA3BC700C471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B98B99-E041-49CA-9DE2-42DD07B3FB2A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437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37EB28-67B3-4B78-AFDE-937222F342B9}" type="datetime8">
              <a:rPr kumimoji="0" lang="he-IL" sz="10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E5FE2-1700-4F5E-9FF0-96246D98BCC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32177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77086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>
            <a:lvl1pPr marL="342900" indent="-3429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</a:defRPr>
            </a:lvl1pPr>
            <a:lvl2pPr marL="7429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2pPr>
            <a:lvl3pPr marL="12001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3pPr>
            <a:lvl4pPr marL="16573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4pPr>
            <a:lvl5pPr marL="21145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33C76-4298-43FB-B1BD-0F0829E2ADDB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7" name="Group 164"/>
          <p:cNvGrpSpPr>
            <a:grpSpLocks/>
          </p:cNvGrpSpPr>
          <p:nvPr/>
        </p:nvGrpSpPr>
        <p:grpSpPr bwMode="auto">
          <a:xfrm>
            <a:off x="7071932" y="137319"/>
            <a:ext cx="1895475" cy="792162"/>
            <a:chOff x="3467" y="348"/>
            <a:chExt cx="831" cy="380"/>
          </a:xfrm>
        </p:grpSpPr>
        <p:sp>
          <p:nvSpPr>
            <p:cNvPr id="8" name="Freeform 110"/>
            <p:cNvSpPr>
              <a:spLocks/>
            </p:cNvSpPr>
            <p:nvPr/>
          </p:nvSpPr>
          <p:spPr bwMode="auto">
            <a:xfrm flipV="1">
              <a:off x="3467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2857 w 27"/>
                <a:gd name="T3" fmla="*/ 56651 h 50"/>
                <a:gd name="T4" fmla="*/ 11276 w 27"/>
                <a:gd name="T5" fmla="*/ 56651 h 50"/>
                <a:gd name="T6" fmla="*/ 11276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276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111"/>
            <p:cNvSpPr>
              <a:spLocks/>
            </p:cNvSpPr>
            <p:nvPr/>
          </p:nvSpPr>
          <p:spPr bwMode="auto">
            <a:xfrm flipV="1">
              <a:off x="3511" y="363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608 w 34"/>
                <a:gd name="T3" fmla="*/ 58838 h 38"/>
                <a:gd name="T4" fmla="*/ 10140 w 34"/>
                <a:gd name="T5" fmla="*/ 50732 h 38"/>
                <a:gd name="T6" fmla="*/ 1 w 34"/>
                <a:gd name="T7" fmla="*/ 58838 h 38"/>
                <a:gd name="T8" fmla="*/ 0 w 34"/>
                <a:gd name="T9" fmla="*/ 54814 h 38"/>
                <a:gd name="T10" fmla="*/ 1 w 34"/>
                <a:gd name="T11" fmla="*/ 50732 h 38"/>
                <a:gd name="T12" fmla="*/ 3304 w 34"/>
                <a:gd name="T13" fmla="*/ 46622 h 38"/>
                <a:gd name="T14" fmla="*/ 4373 w 34"/>
                <a:gd name="T15" fmla="*/ 40842 h 38"/>
                <a:gd name="T16" fmla="*/ 4373 w 34"/>
                <a:gd name="T17" fmla="*/ 37800 h 38"/>
                <a:gd name="T18" fmla="*/ 1 w 34"/>
                <a:gd name="T19" fmla="*/ 0 h 38"/>
                <a:gd name="T20" fmla="*/ 2496 w 34"/>
                <a:gd name="T21" fmla="*/ 0 h 38"/>
                <a:gd name="T22" fmla="*/ 10948 w 34"/>
                <a:gd name="T23" fmla="*/ 10068 h 38"/>
                <a:gd name="T24" fmla="*/ 13421 w 34"/>
                <a:gd name="T25" fmla="*/ 39899 h 38"/>
                <a:gd name="T26" fmla="*/ 20224 w 34"/>
                <a:gd name="T27" fmla="*/ 51197 h 38"/>
                <a:gd name="T28" fmla="*/ 27883 w 34"/>
                <a:gd name="T29" fmla="*/ 30812 h 38"/>
                <a:gd name="T30" fmla="*/ 17763 w 34"/>
                <a:gd name="T31" fmla="*/ 7502 h 38"/>
                <a:gd name="T32" fmla="*/ 12335 w 34"/>
                <a:gd name="T33" fmla="*/ 1 h 38"/>
                <a:gd name="T34" fmla="*/ 17763 w 34"/>
                <a:gd name="T35" fmla="*/ 0 h 38"/>
                <a:gd name="T36" fmla="*/ 37852 w 34"/>
                <a:gd name="T37" fmla="*/ 3081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4"/>
                <a:gd name="T58" fmla="*/ 0 h 38"/>
                <a:gd name="T59" fmla="*/ 34 w 34"/>
                <a:gd name="T60" fmla="*/ 38 h 3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4" h="38">
                  <a:moveTo>
                    <a:pt x="34" y="20"/>
                  </a:moveTo>
                  <a:cubicBezTo>
                    <a:pt x="34" y="31"/>
                    <a:pt x="28" y="38"/>
                    <a:pt x="20" y="38"/>
                  </a:cubicBezTo>
                  <a:cubicBezTo>
                    <a:pt x="14" y="38"/>
                    <a:pt x="12" y="36"/>
                    <a:pt x="9" y="32"/>
                  </a:cubicBezTo>
                  <a:cubicBezTo>
                    <a:pt x="7" y="34"/>
                    <a:pt x="3" y="37"/>
                    <a:pt x="1" y="38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34"/>
                    <a:pt x="1" y="33"/>
                    <a:pt x="1" y="32"/>
                  </a:cubicBezTo>
                  <a:lnTo>
                    <a:pt x="3" y="30"/>
                  </a:lnTo>
                  <a:cubicBezTo>
                    <a:pt x="4" y="28"/>
                    <a:pt x="4" y="28"/>
                    <a:pt x="4" y="26"/>
                  </a:cubicBezTo>
                  <a:cubicBezTo>
                    <a:pt x="4" y="25"/>
                    <a:pt x="4" y="25"/>
                    <a:pt x="4" y="24"/>
                  </a:cubicBezTo>
                  <a:lnTo>
                    <a:pt x="1" y="0"/>
                  </a:ln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9" y="3"/>
                    <a:pt x="10" y="7"/>
                  </a:cubicBezTo>
                  <a:lnTo>
                    <a:pt x="12" y="25"/>
                  </a:lnTo>
                  <a:cubicBezTo>
                    <a:pt x="13" y="30"/>
                    <a:pt x="15" y="33"/>
                    <a:pt x="18" y="33"/>
                  </a:cubicBezTo>
                  <a:cubicBezTo>
                    <a:pt x="22" y="33"/>
                    <a:pt x="25" y="29"/>
                    <a:pt x="25" y="20"/>
                  </a:cubicBezTo>
                  <a:cubicBezTo>
                    <a:pt x="25" y="10"/>
                    <a:pt x="20" y="5"/>
                    <a:pt x="16" y="5"/>
                  </a:cubicBezTo>
                  <a:cubicBezTo>
                    <a:pt x="13" y="5"/>
                    <a:pt x="12" y="4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26" y="0"/>
                    <a:pt x="34" y="7"/>
                    <a:pt x="34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Freeform 112"/>
            <p:cNvSpPr>
              <a:spLocks noEditPoints="1"/>
            </p:cNvSpPr>
            <p:nvPr/>
          </p:nvSpPr>
          <p:spPr bwMode="auto">
            <a:xfrm flipV="1">
              <a:off x="3566" y="362"/>
              <a:ext cx="46" cy="52"/>
            </a:xfrm>
            <a:custGeom>
              <a:avLst/>
              <a:gdLst>
                <a:gd name="T0" fmla="*/ 20471 w 35"/>
                <a:gd name="T1" fmla="*/ 33173 h 39"/>
                <a:gd name="T2" fmla="*/ 20471 w 35"/>
                <a:gd name="T3" fmla="*/ 50975 h 39"/>
                <a:gd name="T4" fmla="*/ 11851 w 35"/>
                <a:gd name="T5" fmla="*/ 39909 h 39"/>
                <a:gd name="T6" fmla="*/ 11851 w 35"/>
                <a:gd name="T7" fmla="*/ 18660 h 39"/>
                <a:gd name="T8" fmla="*/ 20471 w 35"/>
                <a:gd name="T9" fmla="*/ 33173 h 39"/>
                <a:gd name="T10" fmla="*/ 32433 w 35"/>
                <a:gd name="T11" fmla="*/ 31956 h 39"/>
                <a:gd name="T12" fmla="*/ 32433 w 35"/>
                <a:gd name="T13" fmla="*/ 50975 h 39"/>
                <a:gd name="T14" fmla="*/ 24228 w 35"/>
                <a:gd name="T15" fmla="*/ 39909 h 39"/>
                <a:gd name="T16" fmla="*/ 24228 w 35"/>
                <a:gd name="T17" fmla="*/ 30476 h 39"/>
                <a:gd name="T18" fmla="*/ 11508 w 35"/>
                <a:gd name="T19" fmla="*/ 6540 h 39"/>
                <a:gd name="T20" fmla="*/ 9894 w 35"/>
                <a:gd name="T21" fmla="*/ 6540 h 39"/>
                <a:gd name="T22" fmla="*/ 7528 w 35"/>
                <a:gd name="T23" fmla="*/ 51785 h 39"/>
                <a:gd name="T24" fmla="*/ 0 w 35"/>
                <a:gd name="T25" fmla="*/ 39909 h 39"/>
                <a:gd name="T26" fmla="*/ 0 w 35"/>
                <a:gd name="T27" fmla="*/ 38839 h 39"/>
                <a:gd name="T28" fmla="*/ 3857 w 35"/>
                <a:gd name="T29" fmla="*/ 0 h 39"/>
                <a:gd name="T30" fmla="*/ 8756 w 35"/>
                <a:gd name="T31" fmla="*/ 0 h 39"/>
                <a:gd name="T32" fmla="*/ 32433 w 35"/>
                <a:gd name="T33" fmla="*/ 31956 h 3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5"/>
                <a:gd name="T52" fmla="*/ 0 h 39"/>
                <a:gd name="T53" fmla="*/ 35 w 35"/>
                <a:gd name="T54" fmla="*/ 39 h 3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5" h="39">
                  <a:moveTo>
                    <a:pt x="22" y="25"/>
                  </a:moveTo>
                  <a:lnTo>
                    <a:pt x="22" y="38"/>
                  </a:lnTo>
                  <a:cubicBezTo>
                    <a:pt x="17" y="38"/>
                    <a:pt x="13" y="36"/>
                    <a:pt x="13" y="30"/>
                  </a:cubicBezTo>
                  <a:lnTo>
                    <a:pt x="13" y="14"/>
                  </a:lnTo>
                  <a:cubicBezTo>
                    <a:pt x="18" y="15"/>
                    <a:pt x="22" y="18"/>
                    <a:pt x="22" y="25"/>
                  </a:cubicBezTo>
                  <a:close/>
                  <a:moveTo>
                    <a:pt x="35" y="24"/>
                  </a:moveTo>
                  <a:lnTo>
                    <a:pt x="35" y="38"/>
                  </a:lnTo>
                  <a:cubicBezTo>
                    <a:pt x="30" y="38"/>
                    <a:pt x="26" y="36"/>
                    <a:pt x="26" y="30"/>
                  </a:cubicBezTo>
                  <a:lnTo>
                    <a:pt x="26" y="23"/>
                  </a:lnTo>
                  <a:cubicBezTo>
                    <a:pt x="26" y="12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9"/>
                  </a:lnTo>
                  <a:cubicBezTo>
                    <a:pt x="2" y="38"/>
                    <a:pt x="0" y="34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4" y="0"/>
                    <a:pt x="35" y="10"/>
                    <a:pt x="35" y="24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Freeform 113"/>
            <p:cNvSpPr>
              <a:spLocks/>
            </p:cNvSpPr>
            <p:nvPr/>
          </p:nvSpPr>
          <p:spPr bwMode="auto">
            <a:xfrm flipV="1">
              <a:off x="3623" y="363"/>
              <a:ext cx="38" cy="52"/>
            </a:xfrm>
            <a:custGeom>
              <a:avLst/>
              <a:gdLst>
                <a:gd name="T0" fmla="*/ 25097 w 29"/>
                <a:gd name="T1" fmla="*/ 11276 h 39"/>
                <a:gd name="T2" fmla="*/ 25097 w 29"/>
                <a:gd name="T3" fmla="*/ 29129 h 39"/>
                <a:gd name="T4" fmla="*/ 9216 w 29"/>
                <a:gd name="T5" fmla="*/ 51785 h 39"/>
                <a:gd name="T6" fmla="*/ 0 w 29"/>
                <a:gd name="T7" fmla="*/ 48997 h 39"/>
                <a:gd name="T8" fmla="*/ 0 w 29"/>
                <a:gd name="T9" fmla="*/ 1 h 39"/>
                <a:gd name="T10" fmla="*/ 6497 w 29"/>
                <a:gd name="T11" fmla="*/ 11276 h 39"/>
                <a:gd name="T12" fmla="*/ 6497 w 29"/>
                <a:gd name="T13" fmla="*/ 45179 h 39"/>
                <a:gd name="T14" fmla="*/ 8513 w 29"/>
                <a:gd name="T15" fmla="*/ 45179 h 39"/>
                <a:gd name="T16" fmla="*/ 18514 w 29"/>
                <a:gd name="T17" fmla="*/ 29129 h 39"/>
                <a:gd name="T18" fmla="*/ 18514 w 29"/>
                <a:gd name="T19" fmla="*/ 0 h 39"/>
                <a:gd name="T20" fmla="*/ 25097 w 29"/>
                <a:gd name="T21" fmla="*/ 11276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"/>
                <a:gd name="T34" fmla="*/ 0 h 39"/>
                <a:gd name="T35" fmla="*/ 29 w 29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3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lnTo>
                    <a:pt x="0" y="1"/>
                  </a:lnTo>
                  <a:cubicBezTo>
                    <a:pt x="5" y="1"/>
                    <a:pt x="8" y="2"/>
                    <a:pt x="8" y="8"/>
                  </a:cubicBezTo>
                  <a:lnTo>
                    <a:pt x="8" y="34"/>
                  </a:lnTo>
                  <a:cubicBezTo>
                    <a:pt x="9" y="34"/>
                    <a:pt x="9" y="34"/>
                    <a:pt x="10" y="34"/>
                  </a:cubicBezTo>
                  <a:cubicBezTo>
                    <a:pt x="14" y="34"/>
                    <a:pt x="21" y="31"/>
                    <a:pt x="21" y="22"/>
                  </a:cubicBezTo>
                  <a:lnTo>
                    <a:pt x="21" y="0"/>
                  </a:lnTo>
                  <a:cubicBezTo>
                    <a:pt x="24" y="0"/>
                    <a:pt x="29" y="3"/>
                    <a:pt x="2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114"/>
            <p:cNvSpPr>
              <a:spLocks/>
            </p:cNvSpPr>
            <p:nvPr/>
          </p:nvSpPr>
          <p:spPr bwMode="auto">
            <a:xfrm flipV="1">
              <a:off x="3689" y="363"/>
              <a:ext cx="47" cy="52"/>
            </a:xfrm>
            <a:custGeom>
              <a:avLst/>
              <a:gdLst>
                <a:gd name="T0" fmla="*/ 55463 w 35"/>
                <a:gd name="T1" fmla="*/ 11627 h 39"/>
                <a:gd name="T2" fmla="*/ 55463 w 35"/>
                <a:gd name="T3" fmla="*/ 29129 h 39"/>
                <a:gd name="T4" fmla="*/ 27469 w 35"/>
                <a:gd name="T5" fmla="*/ 51785 h 39"/>
                <a:gd name="T6" fmla="*/ 4188 w 35"/>
                <a:gd name="T7" fmla="*/ 47519 h 39"/>
                <a:gd name="T8" fmla="*/ 9561 w 35"/>
                <a:gd name="T9" fmla="*/ 44231 h 39"/>
                <a:gd name="T10" fmla="*/ 9561 w 35"/>
                <a:gd name="T11" fmla="*/ 44231 h 39"/>
                <a:gd name="T12" fmla="*/ 9561 w 35"/>
                <a:gd name="T13" fmla="*/ 11276 h 39"/>
                <a:gd name="T14" fmla="*/ 5624 w 35"/>
                <a:gd name="T15" fmla="*/ 6540 h 39"/>
                <a:gd name="T16" fmla="*/ 4188 w 35"/>
                <a:gd name="T17" fmla="*/ 6540 h 39"/>
                <a:gd name="T18" fmla="*/ 4188 w 35"/>
                <a:gd name="T19" fmla="*/ 6540 h 39"/>
                <a:gd name="T20" fmla="*/ 0 w 35"/>
                <a:gd name="T21" fmla="*/ 2759 h 39"/>
                <a:gd name="T22" fmla="*/ 7552 w 35"/>
                <a:gd name="T23" fmla="*/ 0 h 39"/>
                <a:gd name="T24" fmla="*/ 23152 w 35"/>
                <a:gd name="T25" fmla="*/ 12857 h 39"/>
                <a:gd name="T26" fmla="*/ 23152 w 35"/>
                <a:gd name="T27" fmla="*/ 45179 h 39"/>
                <a:gd name="T28" fmla="*/ 24557 w 35"/>
                <a:gd name="T29" fmla="*/ 45179 h 39"/>
                <a:gd name="T30" fmla="*/ 41749 w 35"/>
                <a:gd name="T31" fmla="*/ 29129 h 39"/>
                <a:gd name="T32" fmla="*/ 41749 w 35"/>
                <a:gd name="T33" fmla="*/ 0 h 39"/>
                <a:gd name="T34" fmla="*/ 55463 w 35"/>
                <a:gd name="T35" fmla="*/ 11627 h 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5"/>
                <a:gd name="T55" fmla="*/ 0 h 39"/>
                <a:gd name="T56" fmla="*/ 35 w 35"/>
                <a:gd name="T57" fmla="*/ 39 h 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5" h="39">
                  <a:moveTo>
                    <a:pt x="35" y="9"/>
                  </a:moveTo>
                  <a:lnTo>
                    <a:pt x="35" y="22"/>
                  </a:lnTo>
                  <a:cubicBezTo>
                    <a:pt x="35" y="33"/>
                    <a:pt x="27" y="39"/>
                    <a:pt x="17" y="39"/>
                  </a:cubicBezTo>
                  <a:cubicBezTo>
                    <a:pt x="12" y="39"/>
                    <a:pt x="6" y="38"/>
                    <a:pt x="3" y="36"/>
                  </a:cubicBezTo>
                  <a:cubicBezTo>
                    <a:pt x="3" y="34"/>
                    <a:pt x="5" y="33"/>
                    <a:pt x="6" y="33"/>
                  </a:cubicBezTo>
                  <a:lnTo>
                    <a:pt x="6" y="8"/>
                  </a:lnTo>
                  <a:cubicBezTo>
                    <a:pt x="6" y="6"/>
                    <a:pt x="5" y="5"/>
                    <a:pt x="4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1" y="0"/>
                    <a:pt x="15" y="3"/>
                    <a:pt x="15" y="10"/>
                  </a:cubicBezTo>
                  <a:lnTo>
                    <a:pt x="15" y="34"/>
                  </a:lnTo>
                  <a:cubicBezTo>
                    <a:pt x="15" y="34"/>
                    <a:pt x="15" y="34"/>
                    <a:pt x="16" y="34"/>
                  </a:cubicBezTo>
                  <a:cubicBezTo>
                    <a:pt x="20" y="34"/>
                    <a:pt x="27" y="31"/>
                    <a:pt x="27" y="22"/>
                  </a:cubicBezTo>
                  <a:lnTo>
                    <a:pt x="27" y="0"/>
                  </a:lnTo>
                  <a:cubicBezTo>
                    <a:pt x="32" y="0"/>
                    <a:pt x="35" y="3"/>
                    <a:pt x="35" y="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15"/>
            <p:cNvSpPr>
              <a:spLocks noEditPoints="1"/>
            </p:cNvSpPr>
            <p:nvPr/>
          </p:nvSpPr>
          <p:spPr bwMode="auto">
            <a:xfrm flipV="1">
              <a:off x="3745" y="364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067 w 34"/>
                <a:gd name="T3" fmla="*/ 58838 h 38"/>
                <a:gd name="T4" fmla="*/ 0 w 34"/>
                <a:gd name="T5" fmla="*/ 58838 h 38"/>
                <a:gd name="T6" fmla="*/ 5788 w 34"/>
                <a:gd name="T7" fmla="*/ 51197 h 38"/>
                <a:gd name="T8" fmla="*/ 9320 w 34"/>
                <a:gd name="T9" fmla="*/ 51197 h 38"/>
                <a:gd name="T10" fmla="*/ 1 w 34"/>
                <a:gd name="T11" fmla="*/ 30812 h 38"/>
                <a:gd name="T12" fmla="*/ 19178 w 34"/>
                <a:gd name="T13" fmla="*/ 0 h 38"/>
                <a:gd name="T14" fmla="*/ 37852 w 34"/>
                <a:gd name="T15" fmla="*/ 30812 h 38"/>
                <a:gd name="T16" fmla="*/ 27883 w 34"/>
                <a:gd name="T17" fmla="*/ 30812 h 38"/>
                <a:gd name="T18" fmla="*/ 19178 w 34"/>
                <a:gd name="T19" fmla="*/ 7502 h 38"/>
                <a:gd name="T20" fmla="*/ 10948 w 34"/>
                <a:gd name="T21" fmla="*/ 30812 h 38"/>
                <a:gd name="T22" fmla="*/ 19178 w 34"/>
                <a:gd name="T23" fmla="*/ 53549 h 38"/>
                <a:gd name="T24" fmla="*/ 27883 w 34"/>
                <a:gd name="T25" fmla="*/ 30812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4"/>
                <a:gd name="T40" fmla="*/ 0 h 38"/>
                <a:gd name="T41" fmla="*/ 34 w 34"/>
                <a:gd name="T42" fmla="*/ 38 h 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4" h="38">
                  <a:moveTo>
                    <a:pt x="34" y="20"/>
                  </a:moveTo>
                  <a:cubicBezTo>
                    <a:pt x="34" y="30"/>
                    <a:pt x="28" y="38"/>
                    <a:pt x="19" y="38"/>
                  </a:cubicBezTo>
                  <a:lnTo>
                    <a:pt x="0" y="38"/>
                  </a:lnTo>
                  <a:cubicBezTo>
                    <a:pt x="0" y="36"/>
                    <a:pt x="2" y="33"/>
                    <a:pt x="5" y="33"/>
                  </a:cubicBezTo>
                  <a:lnTo>
                    <a:pt x="8" y="33"/>
                  </a:lnTo>
                  <a:cubicBezTo>
                    <a:pt x="4" y="32"/>
                    <a:pt x="1" y="27"/>
                    <a:pt x="1" y="20"/>
                  </a:cubicBezTo>
                  <a:cubicBezTo>
                    <a:pt x="1" y="9"/>
                    <a:pt x="8" y="0"/>
                    <a:pt x="17" y="0"/>
                  </a:cubicBezTo>
                  <a:cubicBezTo>
                    <a:pt x="26" y="0"/>
                    <a:pt x="34" y="8"/>
                    <a:pt x="34" y="20"/>
                  </a:cubicBezTo>
                  <a:close/>
                  <a:moveTo>
                    <a:pt x="25" y="20"/>
                  </a:moveTo>
                  <a:cubicBezTo>
                    <a:pt x="25" y="11"/>
                    <a:pt x="21" y="5"/>
                    <a:pt x="17" y="5"/>
                  </a:cubicBezTo>
                  <a:cubicBezTo>
                    <a:pt x="13" y="5"/>
                    <a:pt x="10" y="11"/>
                    <a:pt x="10" y="20"/>
                  </a:cubicBezTo>
                  <a:cubicBezTo>
                    <a:pt x="10" y="28"/>
                    <a:pt x="13" y="34"/>
                    <a:pt x="17" y="34"/>
                  </a:cubicBezTo>
                  <a:cubicBezTo>
                    <a:pt x="21" y="34"/>
                    <a:pt x="25" y="28"/>
                    <a:pt x="25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16"/>
            <p:cNvSpPr>
              <a:spLocks/>
            </p:cNvSpPr>
            <p:nvPr/>
          </p:nvSpPr>
          <p:spPr bwMode="auto">
            <a:xfrm flipV="1">
              <a:off x="3797" y="364"/>
              <a:ext cx="40" cy="51"/>
            </a:xfrm>
            <a:custGeom>
              <a:avLst/>
              <a:gdLst>
                <a:gd name="T0" fmla="*/ 39909 w 30"/>
                <a:gd name="T1" fmla="*/ 58838 h 38"/>
                <a:gd name="T2" fmla="*/ 0 w 30"/>
                <a:gd name="T3" fmla="*/ 58838 h 38"/>
                <a:gd name="T4" fmla="*/ 4905 w 30"/>
                <a:gd name="T5" fmla="*/ 51197 h 38"/>
                <a:gd name="T6" fmla="*/ 23967 w 30"/>
                <a:gd name="T7" fmla="*/ 51197 h 38"/>
                <a:gd name="T8" fmla="*/ 17143 w 30"/>
                <a:gd name="T9" fmla="*/ 41353 h 38"/>
                <a:gd name="T10" fmla="*/ 17143 w 30"/>
                <a:gd name="T11" fmla="*/ 0 h 38"/>
                <a:gd name="T12" fmla="*/ 27561 w 30"/>
                <a:gd name="T13" fmla="*/ 12746 h 38"/>
                <a:gd name="T14" fmla="*/ 27561 w 30"/>
                <a:gd name="T15" fmla="*/ 43840 h 38"/>
                <a:gd name="T16" fmla="*/ 35233 w 30"/>
                <a:gd name="T17" fmla="*/ 51197 h 38"/>
                <a:gd name="T18" fmla="*/ 35233 w 30"/>
                <a:gd name="T19" fmla="*/ 51197 h 38"/>
                <a:gd name="T20" fmla="*/ 39909 w 30"/>
                <a:gd name="T21" fmla="*/ 58838 h 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38"/>
                <a:gd name="T35" fmla="*/ 30 w 30"/>
                <a:gd name="T36" fmla="*/ 38 h 3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38">
                  <a:moveTo>
                    <a:pt x="30" y="38"/>
                  </a:moveTo>
                  <a:lnTo>
                    <a:pt x="0" y="38"/>
                  </a:lnTo>
                  <a:cubicBezTo>
                    <a:pt x="0" y="37"/>
                    <a:pt x="1" y="33"/>
                    <a:pt x="4" y="33"/>
                  </a:cubicBezTo>
                  <a:lnTo>
                    <a:pt x="18" y="33"/>
                  </a:lnTo>
                  <a:cubicBezTo>
                    <a:pt x="16" y="32"/>
                    <a:pt x="13" y="30"/>
                    <a:pt x="13" y="27"/>
                  </a:cubicBezTo>
                  <a:lnTo>
                    <a:pt x="13" y="0"/>
                  </a:lnTo>
                  <a:cubicBezTo>
                    <a:pt x="17" y="0"/>
                    <a:pt x="21" y="3"/>
                    <a:pt x="21" y="8"/>
                  </a:cubicBezTo>
                  <a:lnTo>
                    <a:pt x="21" y="28"/>
                  </a:lnTo>
                  <a:cubicBezTo>
                    <a:pt x="21" y="31"/>
                    <a:pt x="24" y="33"/>
                    <a:pt x="26" y="33"/>
                  </a:cubicBezTo>
                  <a:cubicBezTo>
                    <a:pt x="29" y="33"/>
                    <a:pt x="30" y="36"/>
                    <a:pt x="30" y="3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17"/>
            <p:cNvSpPr>
              <a:spLocks/>
            </p:cNvSpPr>
            <p:nvPr/>
          </p:nvSpPr>
          <p:spPr bwMode="auto">
            <a:xfrm flipV="1">
              <a:off x="3843" y="363"/>
              <a:ext cx="23" cy="49"/>
            </a:xfrm>
            <a:custGeom>
              <a:avLst/>
              <a:gdLst>
                <a:gd name="T0" fmla="*/ 32534 w 17"/>
                <a:gd name="T1" fmla="*/ 7110 h 37"/>
                <a:gd name="T2" fmla="*/ 32534 w 17"/>
                <a:gd name="T3" fmla="*/ 28963 h 37"/>
                <a:gd name="T4" fmla="*/ 9352 w 17"/>
                <a:gd name="T5" fmla="*/ 41657 h 37"/>
                <a:gd name="T6" fmla="*/ 0 w 17"/>
                <a:gd name="T7" fmla="*/ 41486 h 37"/>
                <a:gd name="T8" fmla="*/ 6912 w 17"/>
                <a:gd name="T9" fmla="*/ 35859 h 37"/>
                <a:gd name="T10" fmla="*/ 15590 w 17"/>
                <a:gd name="T11" fmla="*/ 28963 h 37"/>
                <a:gd name="T12" fmla="*/ 15590 w 17"/>
                <a:gd name="T13" fmla="*/ 5831 h 37"/>
                <a:gd name="T14" fmla="*/ 6912 w 17"/>
                <a:gd name="T15" fmla="*/ 5831 h 37"/>
                <a:gd name="T16" fmla="*/ 0 w 17"/>
                <a:gd name="T17" fmla="*/ 0 h 37"/>
                <a:gd name="T18" fmla="*/ 21092 w 17"/>
                <a:gd name="T19" fmla="*/ 0 h 37"/>
                <a:gd name="T20" fmla="*/ 32534 w 17"/>
                <a:gd name="T21" fmla="*/ 7110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"/>
                <a:gd name="T34" fmla="*/ 0 h 37"/>
                <a:gd name="T35" fmla="*/ 17 w 17"/>
                <a:gd name="T36" fmla="*/ 37 h 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" h="37">
                  <a:moveTo>
                    <a:pt x="17" y="6"/>
                  </a:moveTo>
                  <a:lnTo>
                    <a:pt x="17" y="26"/>
                  </a:lnTo>
                  <a:cubicBezTo>
                    <a:pt x="17" y="33"/>
                    <a:pt x="11" y="37"/>
                    <a:pt x="5" y="37"/>
                  </a:cubicBezTo>
                  <a:cubicBezTo>
                    <a:pt x="4" y="37"/>
                    <a:pt x="1" y="37"/>
                    <a:pt x="0" y="36"/>
                  </a:cubicBezTo>
                  <a:cubicBezTo>
                    <a:pt x="1" y="34"/>
                    <a:pt x="3" y="32"/>
                    <a:pt x="4" y="32"/>
                  </a:cubicBezTo>
                  <a:cubicBezTo>
                    <a:pt x="6" y="32"/>
                    <a:pt x="8" y="29"/>
                    <a:pt x="8" y="26"/>
                  </a:cubicBezTo>
                  <a:lnTo>
                    <a:pt x="8" y="5"/>
                  </a:lnTo>
                  <a:lnTo>
                    <a:pt x="4" y="5"/>
                  </a:lnTo>
                  <a:cubicBezTo>
                    <a:pt x="2" y="5"/>
                    <a:pt x="0" y="2"/>
                    <a:pt x="0" y="0"/>
                  </a:cubicBezTo>
                  <a:lnTo>
                    <a:pt x="11" y="0"/>
                  </a:lnTo>
                  <a:cubicBezTo>
                    <a:pt x="15" y="0"/>
                    <a:pt x="17" y="3"/>
                    <a:pt x="17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18"/>
            <p:cNvSpPr>
              <a:spLocks noEditPoints="1"/>
            </p:cNvSpPr>
            <p:nvPr/>
          </p:nvSpPr>
          <p:spPr bwMode="auto">
            <a:xfrm flipV="1">
              <a:off x="3875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555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0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119"/>
            <p:cNvSpPr>
              <a:spLocks/>
            </p:cNvSpPr>
            <p:nvPr/>
          </p:nvSpPr>
          <p:spPr bwMode="auto">
            <a:xfrm flipV="1">
              <a:off x="3923" y="348"/>
              <a:ext cx="35" cy="67"/>
            </a:xfrm>
            <a:custGeom>
              <a:avLst/>
              <a:gdLst>
                <a:gd name="T0" fmla="*/ 43370 w 26"/>
                <a:gd name="T1" fmla="*/ 42277 h 50"/>
                <a:gd name="T2" fmla="*/ 29465 w 26"/>
                <a:gd name="T3" fmla="*/ 56651 h 50"/>
                <a:gd name="T4" fmla="*/ 13728 w 26"/>
                <a:gd name="T5" fmla="*/ 56651 h 50"/>
                <a:gd name="T6" fmla="*/ 13728 w 26"/>
                <a:gd name="T7" fmla="*/ 75707 h 50"/>
                <a:gd name="T8" fmla="*/ 0 w 26"/>
                <a:gd name="T9" fmla="*/ 62185 h 50"/>
                <a:gd name="T10" fmla="*/ 0 w 26"/>
                <a:gd name="T11" fmla="*/ 49560 h 50"/>
                <a:gd name="T12" fmla="*/ 18480 w 26"/>
                <a:gd name="T13" fmla="*/ 49560 h 50"/>
                <a:gd name="T14" fmla="*/ 29786 w 26"/>
                <a:gd name="T15" fmla="*/ 39135 h 50"/>
                <a:gd name="T16" fmla="*/ 13728 w 26"/>
                <a:gd name="T17" fmla="*/ 9786 h 50"/>
                <a:gd name="T18" fmla="*/ 6320 w 26"/>
                <a:gd name="T19" fmla="*/ 0 h 50"/>
                <a:gd name="T20" fmla="*/ 43370 w 26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"/>
                <a:gd name="T34" fmla="*/ 0 h 50"/>
                <a:gd name="T35" fmla="*/ 26 w 26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" h="50">
                  <a:moveTo>
                    <a:pt x="26" y="28"/>
                  </a:moveTo>
                  <a:cubicBezTo>
                    <a:pt x="26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5" y="6"/>
                    <a:pt x="4" y="4"/>
                    <a:pt x="4" y="0"/>
                  </a:cubicBezTo>
                  <a:cubicBezTo>
                    <a:pt x="12" y="1"/>
                    <a:pt x="26" y="11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 120"/>
            <p:cNvSpPr>
              <a:spLocks noEditPoints="1"/>
            </p:cNvSpPr>
            <p:nvPr/>
          </p:nvSpPr>
          <p:spPr bwMode="auto">
            <a:xfrm flipV="1">
              <a:off x="3990" y="363"/>
              <a:ext cx="40" cy="52"/>
            </a:xfrm>
            <a:custGeom>
              <a:avLst/>
              <a:gdLst>
                <a:gd name="T0" fmla="*/ 39909 w 30"/>
                <a:gd name="T1" fmla="*/ 11276 h 39"/>
                <a:gd name="T2" fmla="*/ 39909 w 30"/>
                <a:gd name="T3" fmla="*/ 29129 h 39"/>
                <a:gd name="T4" fmla="*/ 15035 w 30"/>
                <a:gd name="T5" fmla="*/ 51785 h 39"/>
                <a:gd name="T6" fmla="*/ 0 w 30"/>
                <a:gd name="T7" fmla="*/ 48997 h 39"/>
                <a:gd name="T8" fmla="*/ 4905 w 30"/>
                <a:gd name="T9" fmla="*/ 44231 h 39"/>
                <a:gd name="T10" fmla="*/ 6540 w 30"/>
                <a:gd name="T11" fmla="*/ 44231 h 39"/>
                <a:gd name="T12" fmla="*/ 12857 w 30"/>
                <a:gd name="T13" fmla="*/ 45179 h 39"/>
                <a:gd name="T14" fmla="*/ 27561 w 30"/>
                <a:gd name="T15" fmla="*/ 27561 h 39"/>
                <a:gd name="T16" fmla="*/ 27561 w 30"/>
                <a:gd name="T17" fmla="*/ 0 h 39"/>
                <a:gd name="T18" fmla="*/ 39909 w 30"/>
                <a:gd name="T19" fmla="*/ 11276 h 39"/>
                <a:gd name="T20" fmla="*/ 12857 w 30"/>
                <a:gd name="T21" fmla="*/ 11276 h 39"/>
                <a:gd name="T22" fmla="*/ 12857 w 30"/>
                <a:gd name="T23" fmla="*/ 23967 h 39"/>
                <a:gd name="T24" fmla="*/ 8457 w 30"/>
                <a:gd name="T25" fmla="*/ 30476 h 39"/>
                <a:gd name="T26" fmla="*/ 2759 w 30"/>
                <a:gd name="T27" fmla="*/ 23967 h 39"/>
                <a:gd name="T28" fmla="*/ 2759 w 30"/>
                <a:gd name="T29" fmla="*/ 0 h 39"/>
                <a:gd name="T30" fmla="*/ 12857 w 30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"/>
                <a:gd name="T49" fmla="*/ 0 h 39"/>
                <a:gd name="T50" fmla="*/ 30 w 30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" h="39">
                  <a:moveTo>
                    <a:pt x="30" y="8"/>
                  </a:moveTo>
                  <a:lnTo>
                    <a:pt x="30" y="22"/>
                  </a:lnTo>
                  <a:cubicBezTo>
                    <a:pt x="30" y="32"/>
                    <a:pt x="22" y="39"/>
                    <a:pt x="11" y="39"/>
                  </a:cubicBezTo>
                  <a:cubicBezTo>
                    <a:pt x="7" y="39"/>
                    <a:pt x="3" y="38"/>
                    <a:pt x="0" y="37"/>
                  </a:cubicBezTo>
                  <a:cubicBezTo>
                    <a:pt x="1" y="35"/>
                    <a:pt x="3" y="33"/>
                    <a:pt x="4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4"/>
                    <a:pt x="8" y="34"/>
                    <a:pt x="10" y="34"/>
                  </a:cubicBezTo>
                  <a:cubicBezTo>
                    <a:pt x="18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6" y="0"/>
                    <a:pt x="30" y="3"/>
                    <a:pt x="30" y="8"/>
                  </a:cubicBezTo>
                  <a:close/>
                  <a:moveTo>
                    <a:pt x="10" y="8"/>
                  </a:moveTo>
                  <a:lnTo>
                    <a:pt x="10" y="18"/>
                  </a:lnTo>
                  <a:cubicBezTo>
                    <a:pt x="10" y="21"/>
                    <a:pt x="8" y="23"/>
                    <a:pt x="6" y="23"/>
                  </a:cubicBezTo>
                  <a:cubicBezTo>
                    <a:pt x="4" y="23"/>
                    <a:pt x="2" y="21"/>
                    <a:pt x="2" y="18"/>
                  </a:cubicBezTo>
                  <a:lnTo>
                    <a:pt x="2" y="0"/>
                  </a:lnTo>
                  <a:cubicBezTo>
                    <a:pt x="6" y="0"/>
                    <a:pt x="10" y="3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Freeform 121"/>
            <p:cNvSpPr>
              <a:spLocks/>
            </p:cNvSpPr>
            <p:nvPr/>
          </p:nvSpPr>
          <p:spPr bwMode="auto">
            <a:xfrm flipV="1">
              <a:off x="4039" y="363"/>
              <a:ext cx="42" cy="51"/>
            </a:xfrm>
            <a:custGeom>
              <a:avLst/>
              <a:gdLst>
                <a:gd name="T0" fmla="*/ 28215 w 32"/>
                <a:gd name="T1" fmla="*/ 36619 h 38"/>
                <a:gd name="T2" fmla="*/ 16295 w 32"/>
                <a:gd name="T3" fmla="*/ 58838 h 38"/>
                <a:gd name="T4" fmla="*/ 9459 w 32"/>
                <a:gd name="T5" fmla="*/ 55500 h 38"/>
                <a:gd name="T6" fmla="*/ 13578 w 32"/>
                <a:gd name="T7" fmla="*/ 51197 h 38"/>
                <a:gd name="T8" fmla="*/ 14645 w 32"/>
                <a:gd name="T9" fmla="*/ 51197 h 38"/>
                <a:gd name="T10" fmla="*/ 15281 w 32"/>
                <a:gd name="T11" fmla="*/ 51197 h 38"/>
                <a:gd name="T12" fmla="*/ 20181 w 32"/>
                <a:gd name="T13" fmla="*/ 34738 h 38"/>
                <a:gd name="T14" fmla="*/ 11158 w 32"/>
                <a:gd name="T15" fmla="*/ 7502 h 38"/>
                <a:gd name="T16" fmla="*/ 9459 w 32"/>
                <a:gd name="T17" fmla="*/ 7502 h 38"/>
                <a:gd name="T18" fmla="*/ 7207 w 32"/>
                <a:gd name="T19" fmla="*/ 58838 h 38"/>
                <a:gd name="T20" fmla="*/ 0 w 32"/>
                <a:gd name="T21" fmla="*/ 49147 h 38"/>
                <a:gd name="T22" fmla="*/ 0 w 32"/>
                <a:gd name="T23" fmla="*/ 46622 h 38"/>
                <a:gd name="T24" fmla="*/ 3760 w 32"/>
                <a:gd name="T25" fmla="*/ 0 h 38"/>
                <a:gd name="T26" fmla="*/ 8501 w 32"/>
                <a:gd name="T27" fmla="*/ 0 h 38"/>
                <a:gd name="T28" fmla="*/ 28215 w 32"/>
                <a:gd name="T29" fmla="*/ 36619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38"/>
                <a:gd name="T47" fmla="*/ 32 w 32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38">
                  <a:moveTo>
                    <a:pt x="32" y="23"/>
                  </a:moveTo>
                  <a:cubicBezTo>
                    <a:pt x="32" y="32"/>
                    <a:pt x="26" y="38"/>
                    <a:pt x="18" y="38"/>
                  </a:cubicBezTo>
                  <a:cubicBezTo>
                    <a:pt x="17" y="38"/>
                    <a:pt x="13" y="38"/>
                    <a:pt x="11" y="36"/>
                  </a:cubicBezTo>
                  <a:cubicBezTo>
                    <a:pt x="12" y="34"/>
                    <a:pt x="13" y="33"/>
                    <a:pt x="15" y="33"/>
                  </a:cubicBezTo>
                  <a:cubicBezTo>
                    <a:pt x="15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3"/>
                  </a:cubicBezTo>
                  <a:cubicBezTo>
                    <a:pt x="20" y="33"/>
                    <a:pt x="23" y="29"/>
                    <a:pt x="23" y="22"/>
                  </a:cubicBezTo>
                  <a:cubicBezTo>
                    <a:pt x="23" y="13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8"/>
                  </a:lnTo>
                  <a:cubicBezTo>
                    <a:pt x="3" y="38"/>
                    <a:pt x="0" y="34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5" y="0"/>
                    <a:pt x="32" y="11"/>
                    <a:pt x="32" y="2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Freeform 122"/>
            <p:cNvSpPr>
              <a:spLocks/>
            </p:cNvSpPr>
            <p:nvPr/>
          </p:nvSpPr>
          <p:spPr bwMode="auto">
            <a:xfrm flipV="1">
              <a:off x="4089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3967 w 27"/>
                <a:gd name="T3" fmla="*/ 56651 h 50"/>
                <a:gd name="T4" fmla="*/ 11627 w 27"/>
                <a:gd name="T5" fmla="*/ 56651 h 50"/>
                <a:gd name="T6" fmla="*/ 11627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627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8" y="38"/>
                  </a:cubicBezTo>
                  <a:lnTo>
                    <a:pt x="9" y="38"/>
                  </a:lnTo>
                  <a:lnTo>
                    <a:pt x="9" y="50"/>
                  </a:lnTo>
                  <a:cubicBezTo>
                    <a:pt x="5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4" y="33"/>
                    <a:pt x="18" y="33"/>
                    <a:pt x="18" y="26"/>
                  </a:cubicBezTo>
                  <a:cubicBezTo>
                    <a:pt x="18" y="17"/>
                    <a:pt x="13" y="10"/>
                    <a:pt x="9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123"/>
            <p:cNvSpPr>
              <a:spLocks/>
            </p:cNvSpPr>
            <p:nvPr/>
          </p:nvSpPr>
          <p:spPr bwMode="auto">
            <a:xfrm flipV="1">
              <a:off x="4134" y="363"/>
              <a:ext cx="12" cy="52"/>
            </a:xfrm>
            <a:custGeom>
              <a:avLst/>
              <a:gdLst>
                <a:gd name="T0" fmla="*/ 11627 w 9"/>
                <a:gd name="T1" fmla="*/ 11276 h 39"/>
                <a:gd name="T2" fmla="*/ 11627 w 9"/>
                <a:gd name="T3" fmla="*/ 45179 h 39"/>
                <a:gd name="T4" fmla="*/ 6540 w 9"/>
                <a:gd name="T5" fmla="*/ 51785 h 39"/>
                <a:gd name="T6" fmla="*/ 0 w 9"/>
                <a:gd name="T7" fmla="*/ 45179 h 39"/>
                <a:gd name="T8" fmla="*/ 0 w 9"/>
                <a:gd name="T9" fmla="*/ 0 h 39"/>
                <a:gd name="T10" fmla="*/ 11627 w 9"/>
                <a:gd name="T11" fmla="*/ 11276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39"/>
                <a:gd name="T20" fmla="*/ 9 w 9"/>
                <a:gd name="T21" fmla="*/ 39 h 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39">
                  <a:moveTo>
                    <a:pt x="9" y="8"/>
                  </a:moveTo>
                  <a:lnTo>
                    <a:pt x="9" y="34"/>
                  </a:lnTo>
                  <a:cubicBezTo>
                    <a:pt x="9" y="37"/>
                    <a:pt x="7" y="39"/>
                    <a:pt x="5" y="39"/>
                  </a:cubicBezTo>
                  <a:cubicBezTo>
                    <a:pt x="2" y="39"/>
                    <a:pt x="0" y="37"/>
                    <a:pt x="0" y="34"/>
                  </a:cubicBezTo>
                  <a:lnTo>
                    <a:pt x="0" y="0"/>
                  </a:lnTo>
                  <a:cubicBezTo>
                    <a:pt x="6" y="0"/>
                    <a:pt x="9" y="5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124"/>
            <p:cNvSpPr>
              <a:spLocks/>
            </p:cNvSpPr>
            <p:nvPr/>
          </p:nvSpPr>
          <p:spPr bwMode="auto">
            <a:xfrm flipV="1">
              <a:off x="4154" y="364"/>
              <a:ext cx="46" cy="66"/>
            </a:xfrm>
            <a:custGeom>
              <a:avLst/>
              <a:gdLst>
                <a:gd name="T0" fmla="*/ 64729 w 34"/>
                <a:gd name="T1" fmla="*/ 59488 h 49"/>
                <a:gd name="T2" fmla="*/ 36761 w 34"/>
                <a:gd name="T3" fmla="*/ 84254 h 49"/>
                <a:gd name="T4" fmla="*/ 0 w 34"/>
                <a:gd name="T5" fmla="*/ 84254 h 49"/>
                <a:gd name="T6" fmla="*/ 9352 w 34"/>
                <a:gd name="T7" fmla="*/ 74395 h 49"/>
                <a:gd name="T8" fmla="*/ 15590 w 34"/>
                <a:gd name="T9" fmla="*/ 74395 h 49"/>
                <a:gd name="T10" fmla="*/ 5109 w 34"/>
                <a:gd name="T11" fmla="*/ 55233 h 49"/>
                <a:gd name="T12" fmla="*/ 5109 w 34"/>
                <a:gd name="T13" fmla="*/ 0 h 49"/>
                <a:gd name="T14" fmla="*/ 21092 w 34"/>
                <a:gd name="T15" fmla="*/ 13977 h 49"/>
                <a:gd name="T16" fmla="*/ 21092 w 34"/>
                <a:gd name="T17" fmla="*/ 58799 h 49"/>
                <a:gd name="T18" fmla="*/ 32534 w 34"/>
                <a:gd name="T19" fmla="*/ 74395 h 49"/>
                <a:gd name="T20" fmla="*/ 47843 w 34"/>
                <a:gd name="T21" fmla="*/ 58799 h 49"/>
                <a:gd name="T22" fmla="*/ 32916 w 34"/>
                <a:gd name="T23" fmla="*/ 32789 h 49"/>
                <a:gd name="T24" fmla="*/ 27171 w 34"/>
                <a:gd name="T25" fmla="*/ 22304 h 49"/>
                <a:gd name="T26" fmla="*/ 27171 w 34"/>
                <a:gd name="T27" fmla="*/ 22304 h 49"/>
                <a:gd name="T28" fmla="*/ 64729 w 34"/>
                <a:gd name="T29" fmla="*/ 59488 h 4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"/>
                <a:gd name="T46" fmla="*/ 0 h 49"/>
                <a:gd name="T47" fmla="*/ 34 w 34"/>
                <a:gd name="T48" fmla="*/ 49 h 4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" h="49">
                  <a:moveTo>
                    <a:pt x="34" y="35"/>
                  </a:moveTo>
                  <a:cubicBezTo>
                    <a:pt x="34" y="43"/>
                    <a:pt x="28" y="49"/>
                    <a:pt x="19" y="49"/>
                  </a:cubicBezTo>
                  <a:lnTo>
                    <a:pt x="0" y="49"/>
                  </a:lnTo>
                  <a:cubicBezTo>
                    <a:pt x="0" y="47"/>
                    <a:pt x="2" y="44"/>
                    <a:pt x="5" y="44"/>
                  </a:cubicBezTo>
                  <a:lnTo>
                    <a:pt x="8" y="44"/>
                  </a:lnTo>
                  <a:cubicBezTo>
                    <a:pt x="5" y="43"/>
                    <a:pt x="3" y="39"/>
                    <a:pt x="3" y="33"/>
                  </a:cubicBezTo>
                  <a:lnTo>
                    <a:pt x="3" y="0"/>
                  </a:lnTo>
                  <a:cubicBezTo>
                    <a:pt x="8" y="0"/>
                    <a:pt x="11" y="4"/>
                    <a:pt x="11" y="8"/>
                  </a:cubicBezTo>
                  <a:lnTo>
                    <a:pt x="11" y="34"/>
                  </a:lnTo>
                  <a:cubicBezTo>
                    <a:pt x="11" y="42"/>
                    <a:pt x="14" y="44"/>
                    <a:pt x="17" y="44"/>
                  </a:cubicBezTo>
                  <a:cubicBezTo>
                    <a:pt x="21" y="44"/>
                    <a:pt x="25" y="41"/>
                    <a:pt x="25" y="34"/>
                  </a:cubicBezTo>
                  <a:cubicBezTo>
                    <a:pt x="25" y="25"/>
                    <a:pt x="21" y="21"/>
                    <a:pt x="18" y="19"/>
                  </a:cubicBezTo>
                  <a:cubicBezTo>
                    <a:pt x="15" y="18"/>
                    <a:pt x="14" y="16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3" y="14"/>
                    <a:pt x="34" y="22"/>
                    <a:pt x="34" y="3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3" name="Freeform 125"/>
            <p:cNvSpPr>
              <a:spLocks/>
            </p:cNvSpPr>
            <p:nvPr/>
          </p:nvSpPr>
          <p:spPr bwMode="auto">
            <a:xfrm flipV="1">
              <a:off x="4209" y="363"/>
              <a:ext cx="41" cy="51"/>
            </a:xfrm>
            <a:custGeom>
              <a:avLst/>
              <a:gdLst>
                <a:gd name="T0" fmla="*/ 33320 w 31"/>
                <a:gd name="T1" fmla="*/ 30812 h 38"/>
                <a:gd name="T2" fmla="*/ 15995 w 31"/>
                <a:gd name="T3" fmla="*/ 58838 h 38"/>
                <a:gd name="T4" fmla="*/ 0 w 31"/>
                <a:gd name="T5" fmla="*/ 36619 h 38"/>
                <a:gd name="T6" fmla="*/ 9144 w 31"/>
                <a:gd name="T7" fmla="*/ 18135 h 38"/>
                <a:gd name="T8" fmla="*/ 10015 w 31"/>
                <a:gd name="T9" fmla="*/ 18135 h 38"/>
                <a:gd name="T10" fmla="*/ 13349 w 31"/>
                <a:gd name="T11" fmla="*/ 22958 h 38"/>
                <a:gd name="T12" fmla="*/ 9144 w 31"/>
                <a:gd name="T13" fmla="*/ 37800 h 38"/>
                <a:gd name="T14" fmla="*/ 15995 w 31"/>
                <a:gd name="T15" fmla="*/ 51197 h 38"/>
                <a:gd name="T16" fmla="*/ 23350 w 31"/>
                <a:gd name="T17" fmla="*/ 30812 h 38"/>
                <a:gd name="T18" fmla="*/ 13246 w 31"/>
                <a:gd name="T19" fmla="*/ 7502 h 38"/>
                <a:gd name="T20" fmla="*/ 7572 w 31"/>
                <a:gd name="T21" fmla="*/ 9497 h 38"/>
                <a:gd name="T22" fmla="*/ 6914 w 31"/>
                <a:gd name="T23" fmla="*/ 9497 h 38"/>
                <a:gd name="T24" fmla="*/ 2475 w 31"/>
                <a:gd name="T25" fmla="*/ 4165 h 38"/>
                <a:gd name="T26" fmla="*/ 13349 w 31"/>
                <a:gd name="T27" fmla="*/ 0 h 38"/>
                <a:gd name="T28" fmla="*/ 33320 w 31"/>
                <a:gd name="T29" fmla="*/ 30812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"/>
                <a:gd name="T46" fmla="*/ 0 h 38"/>
                <a:gd name="T47" fmla="*/ 31 w 31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" h="38">
                  <a:moveTo>
                    <a:pt x="31" y="20"/>
                  </a:moveTo>
                  <a:cubicBezTo>
                    <a:pt x="31" y="31"/>
                    <a:pt x="26" y="38"/>
                    <a:pt x="15" y="38"/>
                  </a:cubicBezTo>
                  <a:cubicBezTo>
                    <a:pt x="5" y="38"/>
                    <a:pt x="0" y="32"/>
                    <a:pt x="0" y="23"/>
                  </a:cubicBezTo>
                  <a:cubicBezTo>
                    <a:pt x="0" y="18"/>
                    <a:pt x="4" y="13"/>
                    <a:pt x="8" y="12"/>
                  </a:cubicBezTo>
                  <a:cubicBezTo>
                    <a:pt x="8" y="12"/>
                    <a:pt x="8" y="12"/>
                    <a:pt x="9" y="12"/>
                  </a:cubicBezTo>
                  <a:cubicBezTo>
                    <a:pt x="10" y="12"/>
                    <a:pt x="12" y="13"/>
                    <a:pt x="13" y="15"/>
                  </a:cubicBezTo>
                  <a:cubicBezTo>
                    <a:pt x="10" y="16"/>
                    <a:pt x="8" y="19"/>
                    <a:pt x="8" y="24"/>
                  </a:cubicBezTo>
                  <a:cubicBezTo>
                    <a:pt x="8" y="31"/>
                    <a:pt x="11" y="33"/>
                    <a:pt x="15" y="33"/>
                  </a:cubicBezTo>
                  <a:cubicBezTo>
                    <a:pt x="18" y="33"/>
                    <a:pt x="22" y="29"/>
                    <a:pt x="22" y="20"/>
                  </a:cubicBezTo>
                  <a:cubicBezTo>
                    <a:pt x="22" y="11"/>
                    <a:pt x="18" y="5"/>
                    <a:pt x="12" y="5"/>
                  </a:cubicBezTo>
                  <a:cubicBezTo>
                    <a:pt x="10" y="5"/>
                    <a:pt x="9" y="5"/>
                    <a:pt x="7" y="6"/>
                  </a:cubicBezTo>
                  <a:cubicBezTo>
                    <a:pt x="7" y="6"/>
                    <a:pt x="7" y="6"/>
                    <a:pt x="6" y="6"/>
                  </a:cubicBezTo>
                  <a:cubicBezTo>
                    <a:pt x="5" y="6"/>
                    <a:pt x="3" y="5"/>
                    <a:pt x="2" y="3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3" y="0"/>
                    <a:pt x="31" y="7"/>
                    <a:pt x="31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4" name="Freeform 126"/>
            <p:cNvSpPr>
              <a:spLocks noEditPoints="1"/>
            </p:cNvSpPr>
            <p:nvPr/>
          </p:nvSpPr>
          <p:spPr bwMode="auto">
            <a:xfrm flipV="1">
              <a:off x="4259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797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27"/>
            <p:cNvSpPr>
              <a:spLocks/>
            </p:cNvSpPr>
            <p:nvPr/>
          </p:nvSpPr>
          <p:spPr bwMode="auto">
            <a:xfrm flipV="1">
              <a:off x="376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8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8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28"/>
            <p:cNvSpPr>
              <a:spLocks/>
            </p:cNvSpPr>
            <p:nvPr/>
          </p:nvSpPr>
          <p:spPr bwMode="auto">
            <a:xfrm flipV="1">
              <a:off x="3810" y="675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8559 w 22"/>
                <a:gd name="T5" fmla="*/ 33320 h 31"/>
                <a:gd name="T6" fmla="*/ 0 w 22"/>
                <a:gd name="T7" fmla="*/ 30882 h 31"/>
                <a:gd name="T8" fmla="*/ 2353 w 22"/>
                <a:gd name="T9" fmla="*/ 30644 h 31"/>
                <a:gd name="T10" fmla="*/ 3102 w 22"/>
                <a:gd name="T11" fmla="*/ 30644 h 31"/>
                <a:gd name="T12" fmla="*/ 7105 w 22"/>
                <a:gd name="T13" fmla="*/ 30882 h 31"/>
                <a:gd name="T14" fmla="*/ 16671 w 22"/>
                <a:gd name="T15" fmla="*/ 17655 h 31"/>
                <a:gd name="T16" fmla="*/ 16671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6" y="31"/>
                    <a:pt x="8" y="31"/>
                  </a:cubicBezTo>
                  <a:cubicBezTo>
                    <a:pt x="5" y="31"/>
                    <a:pt x="1" y="30"/>
                    <a:pt x="0" y="29"/>
                  </a:cubicBezTo>
                  <a:cubicBezTo>
                    <a:pt x="0" y="28"/>
                    <a:pt x="1" y="28"/>
                    <a:pt x="2" y="28"/>
                  </a:cubicBezTo>
                  <a:cubicBezTo>
                    <a:pt x="2" y="28"/>
                    <a:pt x="3" y="28"/>
                    <a:pt x="3" y="28"/>
                  </a:cubicBezTo>
                  <a:cubicBezTo>
                    <a:pt x="4" y="28"/>
                    <a:pt x="5" y="29"/>
                    <a:pt x="7" y="29"/>
                  </a:cubicBezTo>
                  <a:cubicBezTo>
                    <a:pt x="14" y="29"/>
                    <a:pt x="17" y="24"/>
                    <a:pt x="17" y="17"/>
                  </a:cubicBezTo>
                  <a:lnTo>
                    <a:pt x="17" y="0"/>
                  </a:lnTo>
                  <a:cubicBezTo>
                    <a:pt x="19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29"/>
            <p:cNvSpPr>
              <a:spLocks/>
            </p:cNvSpPr>
            <p:nvPr/>
          </p:nvSpPr>
          <p:spPr bwMode="auto">
            <a:xfrm flipV="1">
              <a:off x="3850" y="675"/>
              <a:ext cx="5" cy="41"/>
            </a:xfrm>
            <a:custGeom>
              <a:avLst/>
              <a:gdLst>
                <a:gd name="T0" fmla="*/ 890 w 4"/>
                <a:gd name="T1" fmla="*/ 5725 h 31"/>
                <a:gd name="T2" fmla="*/ 890 w 4"/>
                <a:gd name="T3" fmla="*/ 30644 h 31"/>
                <a:gd name="T4" fmla="*/ 570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89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8" name="Freeform 130"/>
            <p:cNvSpPr>
              <a:spLocks noEditPoints="1"/>
            </p:cNvSpPr>
            <p:nvPr/>
          </p:nvSpPr>
          <p:spPr bwMode="auto">
            <a:xfrm flipV="1">
              <a:off x="3866" y="675"/>
              <a:ext cx="37" cy="41"/>
            </a:xfrm>
            <a:custGeom>
              <a:avLst/>
              <a:gdLst>
                <a:gd name="T0" fmla="*/ 17274 w 28"/>
                <a:gd name="T1" fmla="*/ 19881 h 31"/>
                <a:gd name="T2" fmla="*/ 17274 w 28"/>
                <a:gd name="T3" fmla="*/ 33320 h 31"/>
                <a:gd name="T4" fmla="*/ 13072 w 28"/>
                <a:gd name="T5" fmla="*/ 27979 h 31"/>
                <a:gd name="T6" fmla="*/ 13072 w 28"/>
                <a:gd name="T7" fmla="*/ 13246 h 31"/>
                <a:gd name="T8" fmla="*/ 17274 w 28"/>
                <a:gd name="T9" fmla="*/ 19881 h 31"/>
                <a:gd name="T10" fmla="*/ 30163 w 28"/>
                <a:gd name="T11" fmla="*/ 21155 h 31"/>
                <a:gd name="T12" fmla="*/ 30163 w 28"/>
                <a:gd name="T13" fmla="*/ 33320 h 31"/>
                <a:gd name="T14" fmla="*/ 25876 w 28"/>
                <a:gd name="T15" fmla="*/ 27979 h 31"/>
                <a:gd name="T16" fmla="*/ 25876 w 28"/>
                <a:gd name="T17" fmla="*/ 20762 h 31"/>
                <a:gd name="T18" fmla="*/ 8900 w 28"/>
                <a:gd name="T19" fmla="*/ 3273 h 31"/>
                <a:gd name="T20" fmla="*/ 7486 w 28"/>
                <a:gd name="T21" fmla="*/ 3273 h 31"/>
                <a:gd name="T22" fmla="*/ 4287 w 28"/>
                <a:gd name="T23" fmla="*/ 33320 h 31"/>
                <a:gd name="T24" fmla="*/ 0 w 28"/>
                <a:gd name="T25" fmla="*/ 27459 h 31"/>
                <a:gd name="T26" fmla="*/ 0 w 28"/>
                <a:gd name="T27" fmla="*/ 26294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21155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4" y="29"/>
                    <a:pt x="24" y="26"/>
                  </a:cubicBezTo>
                  <a:lnTo>
                    <a:pt x="24" y="19"/>
                  </a:lnTo>
                  <a:cubicBezTo>
                    <a:pt x="24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5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Freeform 131"/>
            <p:cNvSpPr>
              <a:spLocks/>
            </p:cNvSpPr>
            <p:nvPr/>
          </p:nvSpPr>
          <p:spPr bwMode="auto">
            <a:xfrm flipV="1">
              <a:off x="3912" y="675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1453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7" y="37"/>
                  </a:lnTo>
                  <a:cubicBezTo>
                    <a:pt x="5" y="36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132"/>
            <p:cNvSpPr>
              <a:spLocks/>
            </p:cNvSpPr>
            <p:nvPr/>
          </p:nvSpPr>
          <p:spPr bwMode="auto">
            <a:xfrm flipV="1">
              <a:off x="395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7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7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133"/>
            <p:cNvSpPr>
              <a:spLocks noEditPoints="1"/>
            </p:cNvSpPr>
            <p:nvPr/>
          </p:nvSpPr>
          <p:spPr bwMode="auto">
            <a:xfrm flipV="1">
              <a:off x="3768" y="581"/>
              <a:ext cx="33" cy="40"/>
            </a:xfrm>
            <a:custGeom>
              <a:avLst/>
              <a:gdLst>
                <a:gd name="T0" fmla="*/ 26316 w 25"/>
                <a:gd name="T1" fmla="*/ 3679 h 30"/>
                <a:gd name="T2" fmla="*/ 26316 w 25"/>
                <a:gd name="T3" fmla="*/ 20671 h 30"/>
                <a:gd name="T4" fmla="*/ 9651 w 25"/>
                <a:gd name="T5" fmla="*/ 39909 h 30"/>
                <a:gd name="T6" fmla="*/ 0 w 25"/>
                <a:gd name="T7" fmla="*/ 36748 h 30"/>
                <a:gd name="T8" fmla="*/ 0 w 25"/>
                <a:gd name="T9" fmla="*/ 0 h 30"/>
                <a:gd name="T10" fmla="*/ 22196 w 25"/>
                <a:gd name="T11" fmla="*/ 0 h 30"/>
                <a:gd name="T12" fmla="*/ 26316 w 25"/>
                <a:gd name="T13" fmla="*/ 3679 h 30"/>
                <a:gd name="T14" fmla="*/ 20188 w 25"/>
                <a:gd name="T15" fmla="*/ 3679 h 30"/>
                <a:gd name="T16" fmla="*/ 4196 w 25"/>
                <a:gd name="T17" fmla="*/ 3679 h 30"/>
                <a:gd name="T18" fmla="*/ 4196 w 25"/>
                <a:gd name="T19" fmla="*/ 35639 h 30"/>
                <a:gd name="T20" fmla="*/ 8777 w 25"/>
                <a:gd name="T21" fmla="*/ 36748 h 30"/>
                <a:gd name="T22" fmla="*/ 20188 w 25"/>
                <a:gd name="T23" fmla="*/ 20671 h 30"/>
                <a:gd name="T24" fmla="*/ 20188 w 25"/>
                <a:gd name="T25" fmla="*/ 3679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30"/>
                <a:gd name="T41" fmla="*/ 25 w 25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30">
                  <a:moveTo>
                    <a:pt x="25" y="3"/>
                  </a:moveTo>
                  <a:lnTo>
                    <a:pt x="25" y="16"/>
                  </a:lnTo>
                  <a:cubicBezTo>
                    <a:pt x="25" y="25"/>
                    <a:pt x="18" y="30"/>
                    <a:pt x="9" y="30"/>
                  </a:cubicBezTo>
                  <a:cubicBezTo>
                    <a:pt x="5" y="30"/>
                    <a:pt x="1" y="29"/>
                    <a:pt x="0" y="28"/>
                  </a:cubicBezTo>
                  <a:lnTo>
                    <a:pt x="0" y="0"/>
                  </a:lnTo>
                  <a:lnTo>
                    <a:pt x="21" y="0"/>
                  </a:lnTo>
                  <a:cubicBezTo>
                    <a:pt x="22" y="0"/>
                    <a:pt x="24" y="1"/>
                    <a:pt x="25" y="3"/>
                  </a:cubicBezTo>
                  <a:close/>
                  <a:moveTo>
                    <a:pt x="20" y="3"/>
                  </a:moveTo>
                  <a:lnTo>
                    <a:pt x="4" y="3"/>
                  </a:lnTo>
                  <a:lnTo>
                    <a:pt x="4" y="27"/>
                  </a:lnTo>
                  <a:cubicBezTo>
                    <a:pt x="5" y="28"/>
                    <a:pt x="7" y="28"/>
                    <a:pt x="8" y="28"/>
                  </a:cubicBezTo>
                  <a:cubicBezTo>
                    <a:pt x="14" y="28"/>
                    <a:pt x="20" y="24"/>
                    <a:pt x="20" y="1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134"/>
            <p:cNvSpPr>
              <a:spLocks/>
            </p:cNvSpPr>
            <p:nvPr/>
          </p:nvSpPr>
          <p:spPr bwMode="auto">
            <a:xfrm flipV="1">
              <a:off x="3812" y="581"/>
              <a:ext cx="5" cy="24"/>
            </a:xfrm>
            <a:custGeom>
              <a:avLst/>
              <a:gdLst>
                <a:gd name="T0" fmla="*/ 890 w 4"/>
                <a:gd name="T1" fmla="*/ 6540 h 18"/>
                <a:gd name="T2" fmla="*/ 890 w 4"/>
                <a:gd name="T3" fmla="*/ 20047 h 18"/>
                <a:gd name="T4" fmla="*/ 570 w 4"/>
                <a:gd name="T5" fmla="*/ 23967 h 18"/>
                <a:gd name="T6" fmla="*/ 0 w 4"/>
                <a:gd name="T7" fmla="*/ 20047 h 18"/>
                <a:gd name="T8" fmla="*/ 0 w 4"/>
                <a:gd name="T9" fmla="*/ 0 h 18"/>
                <a:gd name="T10" fmla="*/ 890 w 4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18"/>
                <a:gd name="T20" fmla="*/ 4 w 4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18">
                  <a:moveTo>
                    <a:pt x="4" y="5"/>
                  </a:moveTo>
                  <a:lnTo>
                    <a:pt x="4" y="15"/>
                  </a:lnTo>
                  <a:cubicBezTo>
                    <a:pt x="4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135"/>
            <p:cNvSpPr>
              <a:spLocks/>
            </p:cNvSpPr>
            <p:nvPr/>
          </p:nvSpPr>
          <p:spPr bwMode="auto">
            <a:xfrm flipV="1">
              <a:off x="3825" y="581"/>
              <a:ext cx="34" cy="40"/>
            </a:xfrm>
            <a:custGeom>
              <a:avLst/>
              <a:gdLst>
                <a:gd name="T0" fmla="*/ 21143 w 26"/>
                <a:gd name="T1" fmla="*/ 2759 h 30"/>
                <a:gd name="T2" fmla="*/ 19995 w 26"/>
                <a:gd name="T3" fmla="*/ 2759 h 30"/>
                <a:gd name="T4" fmla="*/ 18722 w 26"/>
                <a:gd name="T5" fmla="*/ 3679 h 30"/>
                <a:gd name="T6" fmla="*/ 18722 w 26"/>
                <a:gd name="T7" fmla="*/ 22857 h 30"/>
                <a:gd name="T8" fmla="*/ 7458 w 26"/>
                <a:gd name="T9" fmla="*/ 39909 h 30"/>
                <a:gd name="T10" fmla="*/ 1 w 26"/>
                <a:gd name="T11" fmla="*/ 36748 h 30"/>
                <a:gd name="T12" fmla="*/ 2550 w 26"/>
                <a:gd name="T13" fmla="*/ 35639 h 30"/>
                <a:gd name="T14" fmla="*/ 3335 w 26"/>
                <a:gd name="T15" fmla="*/ 35639 h 30"/>
                <a:gd name="T16" fmla="*/ 6191 w 26"/>
                <a:gd name="T17" fmla="*/ 36748 h 30"/>
                <a:gd name="T18" fmla="*/ 15290 w 26"/>
                <a:gd name="T19" fmla="*/ 20671 h 30"/>
                <a:gd name="T20" fmla="*/ 15290 w 26"/>
                <a:gd name="T21" fmla="*/ 2759 h 30"/>
                <a:gd name="T22" fmla="*/ 2550 w 26"/>
                <a:gd name="T23" fmla="*/ 2759 h 30"/>
                <a:gd name="T24" fmla="*/ 0 w 26"/>
                <a:gd name="T25" fmla="*/ 0 h 30"/>
                <a:gd name="T26" fmla="*/ 19995 w 26"/>
                <a:gd name="T27" fmla="*/ 0 h 30"/>
                <a:gd name="T28" fmla="*/ 21143 w 26"/>
                <a:gd name="T29" fmla="*/ 2759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0"/>
                <a:gd name="T47" fmla="*/ 26 w 26"/>
                <a:gd name="T48" fmla="*/ 30 h 3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0">
                  <a:moveTo>
                    <a:pt x="26" y="2"/>
                  </a:moveTo>
                  <a:lnTo>
                    <a:pt x="24" y="2"/>
                  </a:lnTo>
                  <a:cubicBezTo>
                    <a:pt x="23" y="2"/>
                    <a:pt x="23" y="3"/>
                    <a:pt x="23" y="3"/>
                  </a:cubicBezTo>
                  <a:lnTo>
                    <a:pt x="23" y="17"/>
                  </a:lnTo>
                  <a:cubicBezTo>
                    <a:pt x="23" y="26"/>
                    <a:pt x="17" y="30"/>
                    <a:pt x="9" y="30"/>
                  </a:cubicBezTo>
                  <a:cubicBezTo>
                    <a:pt x="6" y="30"/>
                    <a:pt x="3" y="29"/>
                    <a:pt x="1" y="28"/>
                  </a:cubicBezTo>
                  <a:cubicBezTo>
                    <a:pt x="1" y="27"/>
                    <a:pt x="2" y="27"/>
                    <a:pt x="3" y="27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5" y="27"/>
                    <a:pt x="7" y="28"/>
                    <a:pt x="8" y="28"/>
                  </a:cubicBezTo>
                  <a:cubicBezTo>
                    <a:pt x="15" y="28"/>
                    <a:pt x="18" y="23"/>
                    <a:pt x="18" y="16"/>
                  </a:cubicBezTo>
                  <a:lnTo>
                    <a:pt x="18" y="2"/>
                  </a:lnTo>
                  <a:lnTo>
                    <a:pt x="3" y="2"/>
                  </a:lnTo>
                  <a:cubicBezTo>
                    <a:pt x="2" y="2"/>
                    <a:pt x="0" y="2"/>
                    <a:pt x="0" y="0"/>
                  </a:cubicBezTo>
                  <a:lnTo>
                    <a:pt x="24" y="0"/>
                  </a:lnTo>
                  <a:cubicBezTo>
                    <a:pt x="25" y="0"/>
                    <a:pt x="26" y="1"/>
                    <a:pt x="26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Freeform 136"/>
            <p:cNvSpPr>
              <a:spLocks noEditPoints="1"/>
            </p:cNvSpPr>
            <p:nvPr/>
          </p:nvSpPr>
          <p:spPr bwMode="auto">
            <a:xfrm flipV="1">
              <a:off x="3867" y="581"/>
              <a:ext cx="37" cy="42"/>
            </a:xfrm>
            <a:custGeom>
              <a:avLst/>
              <a:gdLst>
                <a:gd name="T0" fmla="*/ 17274 w 28"/>
                <a:gd name="T1" fmla="*/ 35961 h 31"/>
                <a:gd name="T2" fmla="*/ 17274 w 28"/>
                <a:gd name="T3" fmla="*/ 61353 h 31"/>
                <a:gd name="T4" fmla="*/ 13072 w 28"/>
                <a:gd name="T5" fmla="*/ 51245 h 31"/>
                <a:gd name="T6" fmla="*/ 13072 w 28"/>
                <a:gd name="T7" fmla="*/ 24413 h 31"/>
                <a:gd name="T8" fmla="*/ 17274 w 28"/>
                <a:gd name="T9" fmla="*/ 35961 h 31"/>
                <a:gd name="T10" fmla="*/ 30163 w 28"/>
                <a:gd name="T11" fmla="*/ 39970 h 31"/>
                <a:gd name="T12" fmla="*/ 30163 w 28"/>
                <a:gd name="T13" fmla="*/ 61353 h 31"/>
                <a:gd name="T14" fmla="*/ 24544 w 28"/>
                <a:gd name="T15" fmla="*/ 51245 h 31"/>
                <a:gd name="T16" fmla="*/ 24544 w 28"/>
                <a:gd name="T17" fmla="*/ 37824 h 31"/>
                <a:gd name="T18" fmla="*/ 8900 w 28"/>
                <a:gd name="T19" fmla="*/ 5348 h 31"/>
                <a:gd name="T20" fmla="*/ 7486 w 28"/>
                <a:gd name="T21" fmla="*/ 5348 h 31"/>
                <a:gd name="T22" fmla="*/ 4287 w 28"/>
                <a:gd name="T23" fmla="*/ 61353 h 31"/>
                <a:gd name="T24" fmla="*/ 0 w 28"/>
                <a:gd name="T25" fmla="*/ 51245 h 31"/>
                <a:gd name="T26" fmla="*/ 0 w 28"/>
                <a:gd name="T27" fmla="*/ 48721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39970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3" y="29"/>
                    <a:pt x="23" y="26"/>
                  </a:cubicBezTo>
                  <a:lnTo>
                    <a:pt x="23" y="19"/>
                  </a:lnTo>
                  <a:cubicBezTo>
                    <a:pt x="23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Freeform 137"/>
            <p:cNvSpPr>
              <a:spLocks/>
            </p:cNvSpPr>
            <p:nvPr/>
          </p:nvSpPr>
          <p:spPr bwMode="auto">
            <a:xfrm flipV="1">
              <a:off x="3915" y="581"/>
              <a:ext cx="32" cy="42"/>
            </a:xfrm>
            <a:custGeom>
              <a:avLst/>
              <a:gdLst>
                <a:gd name="T0" fmla="*/ 31956 w 24"/>
                <a:gd name="T1" fmla="*/ 9817 h 31"/>
                <a:gd name="T2" fmla="*/ 31956 w 24"/>
                <a:gd name="T3" fmla="*/ 35961 h 31"/>
                <a:gd name="T4" fmla="*/ 11627 w 24"/>
                <a:gd name="T5" fmla="*/ 61353 h 31"/>
                <a:gd name="T6" fmla="*/ 0 w 24"/>
                <a:gd name="T7" fmla="*/ 57711 h 31"/>
                <a:gd name="T8" fmla="*/ 0 w 24"/>
                <a:gd name="T9" fmla="*/ 0 h 31"/>
                <a:gd name="T10" fmla="*/ 4905 w 24"/>
                <a:gd name="T11" fmla="*/ 9817 h 31"/>
                <a:gd name="T12" fmla="*/ 4905 w 24"/>
                <a:gd name="T13" fmla="*/ 54779 h 31"/>
                <a:gd name="T14" fmla="*/ 11276 w 24"/>
                <a:gd name="T15" fmla="*/ 57711 h 31"/>
                <a:gd name="T16" fmla="*/ 24880 w 24"/>
                <a:gd name="T17" fmla="*/ 33424 h 31"/>
                <a:gd name="T18" fmla="*/ 24880 w 24"/>
                <a:gd name="T19" fmla="*/ 0 h 31"/>
                <a:gd name="T20" fmla="*/ 31956 w 24"/>
                <a:gd name="T21" fmla="*/ 981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31"/>
                <a:gd name="T35" fmla="*/ 24 w 24"/>
                <a:gd name="T36" fmla="*/ 31 h 3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7" y="31"/>
                    <a:pt x="9" y="31"/>
                  </a:cubicBezTo>
                  <a:cubicBezTo>
                    <a:pt x="5" y="31"/>
                    <a:pt x="2" y="30"/>
                    <a:pt x="0" y="29"/>
                  </a:cubicBezTo>
                  <a:lnTo>
                    <a:pt x="0" y="0"/>
                  </a:lnTo>
                  <a:cubicBezTo>
                    <a:pt x="2" y="0"/>
                    <a:pt x="4" y="1"/>
                    <a:pt x="4" y="5"/>
                  </a:cubicBezTo>
                  <a:lnTo>
                    <a:pt x="4" y="28"/>
                  </a:ln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9" y="24"/>
                    <a:pt x="19" y="17"/>
                  </a:cubicBezTo>
                  <a:lnTo>
                    <a:pt x="19" y="0"/>
                  </a:lnTo>
                  <a:cubicBezTo>
                    <a:pt x="22" y="0"/>
                    <a:pt x="24" y="2"/>
                    <a:pt x="2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6" name="Freeform 138"/>
            <p:cNvSpPr>
              <a:spLocks/>
            </p:cNvSpPr>
            <p:nvPr/>
          </p:nvSpPr>
          <p:spPr bwMode="auto">
            <a:xfrm flipV="1">
              <a:off x="3956" y="581"/>
              <a:ext cx="36" cy="42"/>
            </a:xfrm>
            <a:custGeom>
              <a:avLst/>
              <a:gdLst>
                <a:gd name="T0" fmla="*/ 35639 w 27"/>
                <a:gd name="T1" fmla="*/ 33076 h 31"/>
                <a:gd name="T2" fmla="*/ 20047 w 27"/>
                <a:gd name="T3" fmla="*/ 61353 h 31"/>
                <a:gd name="T4" fmla="*/ 8457 w 27"/>
                <a:gd name="T5" fmla="*/ 51245 h 31"/>
                <a:gd name="T6" fmla="*/ 0 w 27"/>
                <a:gd name="T7" fmla="*/ 61353 h 31"/>
                <a:gd name="T8" fmla="*/ 0 w 27"/>
                <a:gd name="T9" fmla="*/ 60714 h 31"/>
                <a:gd name="T10" fmla="*/ 1 w 27"/>
                <a:gd name="T11" fmla="*/ 54153 h 31"/>
                <a:gd name="T12" fmla="*/ 2759 w 27"/>
                <a:gd name="T13" fmla="*/ 51245 h 31"/>
                <a:gd name="T14" fmla="*/ 3679 w 27"/>
                <a:gd name="T15" fmla="*/ 44813 h 31"/>
                <a:gd name="T16" fmla="*/ 2759 w 27"/>
                <a:gd name="T17" fmla="*/ 39970 h 31"/>
                <a:gd name="T18" fmla="*/ 0 w 27"/>
                <a:gd name="T19" fmla="*/ 0 h 31"/>
                <a:gd name="T20" fmla="*/ 1 w 27"/>
                <a:gd name="T21" fmla="*/ 0 h 31"/>
                <a:gd name="T22" fmla="*/ 6540 w 27"/>
                <a:gd name="T23" fmla="*/ 9817 h 31"/>
                <a:gd name="T24" fmla="*/ 8720 w 27"/>
                <a:gd name="T25" fmla="*/ 40432 h 31"/>
                <a:gd name="T26" fmla="*/ 18660 w 27"/>
                <a:gd name="T27" fmla="*/ 54779 h 31"/>
                <a:gd name="T28" fmla="*/ 29129 w 27"/>
                <a:gd name="T29" fmla="*/ 33076 h 31"/>
                <a:gd name="T30" fmla="*/ 15503 w 27"/>
                <a:gd name="T31" fmla="*/ 5348 h 31"/>
                <a:gd name="T32" fmla="*/ 11627 w 27"/>
                <a:gd name="T33" fmla="*/ 5348 h 31"/>
                <a:gd name="T34" fmla="*/ 8720 w 27"/>
                <a:gd name="T35" fmla="*/ 1 h 31"/>
                <a:gd name="T36" fmla="*/ 17143 w 27"/>
                <a:gd name="T37" fmla="*/ 0 h 31"/>
                <a:gd name="T38" fmla="*/ 17143 w 27"/>
                <a:gd name="T39" fmla="*/ 0 h 31"/>
                <a:gd name="T40" fmla="*/ 35639 w 27"/>
                <a:gd name="T41" fmla="*/ 33076 h 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7"/>
                <a:gd name="T64" fmla="*/ 0 h 31"/>
                <a:gd name="T65" fmla="*/ 27 w 27"/>
                <a:gd name="T66" fmla="*/ 31 h 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7" h="31">
                  <a:moveTo>
                    <a:pt x="27" y="16"/>
                  </a:moveTo>
                  <a:cubicBezTo>
                    <a:pt x="27" y="25"/>
                    <a:pt x="22" y="31"/>
                    <a:pt x="15" y="31"/>
                  </a:cubicBezTo>
                  <a:cubicBezTo>
                    <a:pt x="11" y="31"/>
                    <a:pt x="8" y="29"/>
                    <a:pt x="6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29"/>
                    <a:pt x="0" y="28"/>
                    <a:pt x="1" y="27"/>
                  </a:cubicBezTo>
                  <a:lnTo>
                    <a:pt x="2" y="26"/>
                  </a:lnTo>
                  <a:cubicBezTo>
                    <a:pt x="3" y="25"/>
                    <a:pt x="3" y="24"/>
                    <a:pt x="3" y="22"/>
                  </a:cubicBezTo>
                  <a:cubicBezTo>
                    <a:pt x="3" y="22"/>
                    <a:pt x="3" y="21"/>
                    <a:pt x="2" y="20"/>
                  </a:cubicBezTo>
                  <a:lnTo>
                    <a:pt x="0" y="0"/>
                  </a:lnTo>
                  <a:cubicBezTo>
                    <a:pt x="0" y="0"/>
                    <a:pt x="1" y="0"/>
                    <a:pt x="1" y="0"/>
                  </a:cubicBezTo>
                  <a:cubicBezTo>
                    <a:pt x="3" y="0"/>
                    <a:pt x="4" y="2"/>
                    <a:pt x="5" y="5"/>
                  </a:cubicBezTo>
                  <a:lnTo>
                    <a:pt x="7" y="21"/>
                  </a:lnTo>
                  <a:cubicBezTo>
                    <a:pt x="8" y="26"/>
                    <a:pt x="11" y="28"/>
                    <a:pt x="14" y="28"/>
                  </a:cubicBezTo>
                  <a:cubicBezTo>
                    <a:pt x="19" y="28"/>
                    <a:pt x="22" y="24"/>
                    <a:pt x="22" y="16"/>
                  </a:cubicBezTo>
                  <a:cubicBezTo>
                    <a:pt x="22" y="9"/>
                    <a:pt x="18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9" y="3"/>
                    <a:pt x="8" y="3"/>
                    <a:pt x="7" y="1"/>
                  </a:cubicBezTo>
                  <a:cubicBezTo>
                    <a:pt x="8" y="1"/>
                    <a:pt x="1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7" y="6"/>
                    <a:pt x="27" y="1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7" name="Freeform 139"/>
            <p:cNvSpPr>
              <a:spLocks noEditPoints="1"/>
            </p:cNvSpPr>
            <p:nvPr/>
          </p:nvSpPr>
          <p:spPr bwMode="auto">
            <a:xfrm flipV="1">
              <a:off x="3653" y="488"/>
              <a:ext cx="32" cy="41"/>
            </a:xfrm>
            <a:custGeom>
              <a:avLst/>
              <a:gdLst>
                <a:gd name="T0" fmla="*/ 31956 w 24"/>
                <a:gd name="T1" fmla="*/ 5725 h 31"/>
                <a:gd name="T2" fmla="*/ 31956 w 24"/>
                <a:gd name="T3" fmla="*/ 19881 h 31"/>
                <a:gd name="T4" fmla="*/ 11627 w 24"/>
                <a:gd name="T5" fmla="*/ 33320 h 31"/>
                <a:gd name="T6" fmla="*/ 0 w 24"/>
                <a:gd name="T7" fmla="*/ 30882 h 31"/>
                <a:gd name="T8" fmla="*/ 3679 w 24"/>
                <a:gd name="T9" fmla="*/ 30644 h 31"/>
                <a:gd name="T10" fmla="*/ 4905 w 24"/>
                <a:gd name="T11" fmla="*/ 30644 h 31"/>
                <a:gd name="T12" fmla="*/ 11276 w 24"/>
                <a:gd name="T13" fmla="*/ 30882 h 31"/>
                <a:gd name="T14" fmla="*/ 26729 w 24"/>
                <a:gd name="T15" fmla="*/ 17655 h 31"/>
                <a:gd name="T16" fmla="*/ 26729 w 24"/>
                <a:gd name="T17" fmla="*/ 0 h 31"/>
                <a:gd name="T18" fmla="*/ 31956 w 24"/>
                <a:gd name="T19" fmla="*/ 5725 h 31"/>
                <a:gd name="T20" fmla="*/ 6540 w 24"/>
                <a:gd name="T21" fmla="*/ 5725 h 31"/>
                <a:gd name="T22" fmla="*/ 6540 w 24"/>
                <a:gd name="T23" fmla="*/ 15995 h 31"/>
                <a:gd name="T24" fmla="*/ 3679 w 24"/>
                <a:gd name="T25" fmla="*/ 19881 h 31"/>
                <a:gd name="T26" fmla="*/ 1 w 24"/>
                <a:gd name="T27" fmla="*/ 15995 h 31"/>
                <a:gd name="T28" fmla="*/ 1 w 24"/>
                <a:gd name="T29" fmla="*/ 0 h 31"/>
                <a:gd name="T30" fmla="*/ 6540 w 24"/>
                <a:gd name="T31" fmla="*/ 5725 h 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"/>
                <a:gd name="T49" fmla="*/ 0 h 31"/>
                <a:gd name="T50" fmla="*/ 24 w 24"/>
                <a:gd name="T51" fmla="*/ 31 h 3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8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5" y="29"/>
                    <a:pt x="7" y="29"/>
                    <a:pt x="8" y="29"/>
                  </a:cubicBezTo>
                  <a:cubicBezTo>
                    <a:pt x="15" y="29"/>
                    <a:pt x="20" y="24"/>
                    <a:pt x="20" y="17"/>
                  </a:cubicBezTo>
                  <a:lnTo>
                    <a:pt x="20" y="0"/>
                  </a:lnTo>
                  <a:cubicBezTo>
                    <a:pt x="22" y="0"/>
                    <a:pt x="24" y="2"/>
                    <a:pt x="24" y="5"/>
                  </a:cubicBezTo>
                  <a:close/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4" y="18"/>
                    <a:pt x="3" y="18"/>
                  </a:cubicBezTo>
                  <a:cubicBezTo>
                    <a:pt x="2" y="18"/>
                    <a:pt x="1" y="17"/>
                    <a:pt x="1" y="15"/>
                  </a:cubicBezTo>
                  <a:lnTo>
                    <a:pt x="1" y="0"/>
                  </a:lnTo>
                  <a:cubicBezTo>
                    <a:pt x="3" y="0"/>
                    <a:pt x="5" y="1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8" name="Freeform 140"/>
            <p:cNvSpPr>
              <a:spLocks/>
            </p:cNvSpPr>
            <p:nvPr/>
          </p:nvSpPr>
          <p:spPr bwMode="auto">
            <a:xfrm flipV="1">
              <a:off x="3694" y="488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3728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8" y="37"/>
                  </a:lnTo>
                  <a:cubicBezTo>
                    <a:pt x="5" y="37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9" name="Freeform 141"/>
            <p:cNvSpPr>
              <a:spLocks/>
            </p:cNvSpPr>
            <p:nvPr/>
          </p:nvSpPr>
          <p:spPr bwMode="auto">
            <a:xfrm flipV="1">
              <a:off x="3740" y="488"/>
              <a:ext cx="6" cy="24"/>
            </a:xfrm>
            <a:custGeom>
              <a:avLst/>
              <a:gdLst>
                <a:gd name="T0" fmla="*/ 446 w 5"/>
                <a:gd name="T1" fmla="*/ 6540 h 18"/>
                <a:gd name="T2" fmla="*/ 446 w 5"/>
                <a:gd name="T3" fmla="*/ 20047 h 18"/>
                <a:gd name="T4" fmla="*/ 2 w 5"/>
                <a:gd name="T5" fmla="*/ 23967 h 18"/>
                <a:gd name="T6" fmla="*/ 0 w 5"/>
                <a:gd name="T7" fmla="*/ 20047 h 18"/>
                <a:gd name="T8" fmla="*/ 0 w 5"/>
                <a:gd name="T9" fmla="*/ 0 h 18"/>
                <a:gd name="T10" fmla="*/ 446 w 5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"/>
                <a:gd name="T19" fmla="*/ 0 h 18"/>
                <a:gd name="T20" fmla="*/ 5 w 5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" h="18"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5" y="3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0" name="Freeform 142"/>
            <p:cNvSpPr>
              <a:spLocks/>
            </p:cNvSpPr>
            <p:nvPr/>
          </p:nvSpPr>
          <p:spPr bwMode="auto">
            <a:xfrm flipV="1">
              <a:off x="3754" y="488"/>
              <a:ext cx="16" cy="40"/>
            </a:xfrm>
            <a:custGeom>
              <a:avLst/>
              <a:gdLst>
                <a:gd name="T0" fmla="*/ 15503 w 12"/>
                <a:gd name="T1" fmla="*/ 3679 h 30"/>
                <a:gd name="T2" fmla="*/ 15503 w 12"/>
                <a:gd name="T3" fmla="*/ 27561 h 30"/>
                <a:gd name="T4" fmla="*/ 4905 w 12"/>
                <a:gd name="T5" fmla="*/ 39909 h 30"/>
                <a:gd name="T6" fmla="*/ 1 w 12"/>
                <a:gd name="T7" fmla="*/ 38839 h 30"/>
                <a:gd name="T8" fmla="*/ 3679 w 12"/>
                <a:gd name="T9" fmla="*/ 36748 h 30"/>
                <a:gd name="T10" fmla="*/ 4905 w 12"/>
                <a:gd name="T11" fmla="*/ 36748 h 30"/>
                <a:gd name="T12" fmla="*/ 11276 w 12"/>
                <a:gd name="T13" fmla="*/ 30476 h 30"/>
                <a:gd name="T14" fmla="*/ 11276 w 12"/>
                <a:gd name="T15" fmla="*/ 3679 h 30"/>
                <a:gd name="T16" fmla="*/ 3679 w 12"/>
                <a:gd name="T17" fmla="*/ 3679 h 30"/>
                <a:gd name="T18" fmla="*/ 0 w 12"/>
                <a:gd name="T19" fmla="*/ 0 h 30"/>
                <a:gd name="T20" fmla="*/ 11627 w 12"/>
                <a:gd name="T21" fmla="*/ 0 h 30"/>
                <a:gd name="T22" fmla="*/ 15503 w 12"/>
                <a:gd name="T23" fmla="*/ 3679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"/>
                <a:gd name="T37" fmla="*/ 0 h 30"/>
                <a:gd name="T38" fmla="*/ 12 w 12"/>
                <a:gd name="T39" fmla="*/ 30 h 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" h="30">
                  <a:moveTo>
                    <a:pt x="12" y="3"/>
                  </a:moveTo>
                  <a:lnTo>
                    <a:pt x="12" y="21"/>
                  </a:lnTo>
                  <a:cubicBezTo>
                    <a:pt x="12" y="26"/>
                    <a:pt x="9" y="30"/>
                    <a:pt x="4" y="30"/>
                  </a:cubicBezTo>
                  <a:cubicBezTo>
                    <a:pt x="4" y="30"/>
                    <a:pt x="2" y="30"/>
                    <a:pt x="1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6" y="28"/>
                    <a:pt x="8" y="26"/>
                    <a:pt x="8" y="23"/>
                  </a:cubicBezTo>
                  <a:lnTo>
                    <a:pt x="8" y="3"/>
                  </a:lnTo>
                  <a:lnTo>
                    <a:pt x="3" y="3"/>
                  </a:lnTo>
                  <a:cubicBezTo>
                    <a:pt x="1" y="3"/>
                    <a:pt x="0" y="2"/>
                    <a:pt x="0" y="0"/>
                  </a:cubicBezTo>
                  <a:lnTo>
                    <a:pt x="9" y="0"/>
                  </a:lnTo>
                  <a:cubicBezTo>
                    <a:pt x="11" y="1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Freeform 143"/>
            <p:cNvSpPr>
              <a:spLocks/>
            </p:cNvSpPr>
            <p:nvPr/>
          </p:nvSpPr>
          <p:spPr bwMode="auto">
            <a:xfrm flipV="1">
              <a:off x="3782" y="488"/>
              <a:ext cx="6" cy="41"/>
            </a:xfrm>
            <a:custGeom>
              <a:avLst/>
              <a:gdLst>
                <a:gd name="T0" fmla="*/ 92170 w 4"/>
                <a:gd name="T1" fmla="*/ 5725 h 31"/>
                <a:gd name="T2" fmla="*/ 92170 w 4"/>
                <a:gd name="T3" fmla="*/ 30644 h 31"/>
                <a:gd name="T4" fmla="*/ 40965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9217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2" name="Freeform 144"/>
            <p:cNvSpPr>
              <a:spLocks/>
            </p:cNvSpPr>
            <p:nvPr/>
          </p:nvSpPr>
          <p:spPr bwMode="auto">
            <a:xfrm flipV="1">
              <a:off x="3796" y="488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9366 w 22"/>
                <a:gd name="T5" fmla="*/ 33320 h 31"/>
                <a:gd name="T6" fmla="*/ 0 w 22"/>
                <a:gd name="T7" fmla="*/ 30882 h 31"/>
                <a:gd name="T8" fmla="*/ 3102 w 22"/>
                <a:gd name="T9" fmla="*/ 30644 h 31"/>
                <a:gd name="T10" fmla="*/ 4089 w 22"/>
                <a:gd name="T11" fmla="*/ 30644 h 31"/>
                <a:gd name="T12" fmla="*/ 8559 w 22"/>
                <a:gd name="T13" fmla="*/ 30882 h 31"/>
                <a:gd name="T14" fmla="*/ 18059 w 22"/>
                <a:gd name="T15" fmla="*/ 17655 h 31"/>
                <a:gd name="T16" fmla="*/ 18059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7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8" y="24"/>
                    <a:pt x="18" y="17"/>
                  </a:cubicBezTo>
                  <a:lnTo>
                    <a:pt x="18" y="0"/>
                  </a:lnTo>
                  <a:cubicBezTo>
                    <a:pt x="20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3" name="Freeform 145"/>
            <p:cNvSpPr>
              <a:spLocks/>
            </p:cNvSpPr>
            <p:nvPr/>
          </p:nvSpPr>
          <p:spPr bwMode="auto">
            <a:xfrm flipV="1">
              <a:off x="3835" y="488"/>
              <a:ext cx="35" cy="41"/>
            </a:xfrm>
            <a:custGeom>
              <a:avLst/>
              <a:gdLst>
                <a:gd name="T0" fmla="*/ 43370 w 26"/>
                <a:gd name="T1" fmla="*/ 20762 h 31"/>
                <a:gd name="T2" fmla="*/ 23933 w 26"/>
                <a:gd name="T3" fmla="*/ 33320 h 31"/>
                <a:gd name="T4" fmla="*/ 13728 w 26"/>
                <a:gd name="T5" fmla="*/ 30882 h 31"/>
                <a:gd name="T6" fmla="*/ 16437 w 26"/>
                <a:gd name="T7" fmla="*/ 30644 h 31"/>
                <a:gd name="T8" fmla="*/ 20755 w 26"/>
                <a:gd name="T9" fmla="*/ 30644 h 31"/>
                <a:gd name="T10" fmla="*/ 22127 w 26"/>
                <a:gd name="T11" fmla="*/ 30882 h 31"/>
                <a:gd name="T12" fmla="*/ 35390 w 26"/>
                <a:gd name="T13" fmla="*/ 20762 h 31"/>
                <a:gd name="T14" fmla="*/ 13728 w 26"/>
                <a:gd name="T15" fmla="*/ 3273 h 31"/>
                <a:gd name="T16" fmla="*/ 11453 w 26"/>
                <a:gd name="T17" fmla="*/ 3273 h 31"/>
                <a:gd name="T18" fmla="*/ 6320 w 26"/>
                <a:gd name="T19" fmla="*/ 33320 h 31"/>
                <a:gd name="T20" fmla="*/ 0 w 26"/>
                <a:gd name="T21" fmla="*/ 27979 h 31"/>
                <a:gd name="T22" fmla="*/ 0 w 26"/>
                <a:gd name="T23" fmla="*/ 26294 h 31"/>
                <a:gd name="T24" fmla="*/ 4695 w 26"/>
                <a:gd name="T25" fmla="*/ 1 h 31"/>
                <a:gd name="T26" fmla="*/ 11453 w 26"/>
                <a:gd name="T27" fmla="*/ 0 h 31"/>
                <a:gd name="T28" fmla="*/ 43370 w 26"/>
                <a:gd name="T29" fmla="*/ 20762 h 3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1"/>
                <a:gd name="T47" fmla="*/ 26 w 26"/>
                <a:gd name="T48" fmla="*/ 31 h 3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1">
                  <a:moveTo>
                    <a:pt x="26" y="19"/>
                  </a:moveTo>
                  <a:cubicBezTo>
                    <a:pt x="26" y="27"/>
                    <a:pt x="21" y="31"/>
                    <a:pt x="14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7" y="29"/>
                    <a:pt x="21" y="25"/>
                    <a:pt x="21" y="19"/>
                  </a:cubicBezTo>
                  <a:cubicBezTo>
                    <a:pt x="21" y="11"/>
                    <a:pt x="15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6" y="10"/>
                    <a:pt x="26" y="1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4" name="Freeform 146"/>
            <p:cNvSpPr>
              <a:spLocks/>
            </p:cNvSpPr>
            <p:nvPr/>
          </p:nvSpPr>
          <p:spPr bwMode="auto">
            <a:xfrm flipV="1">
              <a:off x="3876" y="488"/>
              <a:ext cx="36" cy="53"/>
            </a:xfrm>
            <a:custGeom>
              <a:avLst/>
              <a:gdLst>
                <a:gd name="T0" fmla="*/ 35639 w 27"/>
                <a:gd name="T1" fmla="*/ 31650 h 40"/>
                <a:gd name="T2" fmla="*/ 20047 w 27"/>
                <a:gd name="T3" fmla="*/ 45273 h 40"/>
                <a:gd name="T4" fmla="*/ 0 w 27"/>
                <a:gd name="T5" fmla="*/ 45273 h 40"/>
                <a:gd name="T6" fmla="*/ 4905 w 27"/>
                <a:gd name="T7" fmla="*/ 41936 h 40"/>
                <a:gd name="T8" fmla="*/ 11276 w 27"/>
                <a:gd name="T9" fmla="*/ 41936 h 40"/>
                <a:gd name="T10" fmla="*/ 2759 w 27"/>
                <a:gd name="T11" fmla="*/ 29117 h 40"/>
                <a:gd name="T12" fmla="*/ 2759 w 27"/>
                <a:gd name="T13" fmla="*/ 0 h 40"/>
                <a:gd name="T14" fmla="*/ 8720 w 27"/>
                <a:gd name="T15" fmla="*/ 5849 h 40"/>
                <a:gd name="T16" fmla="*/ 8720 w 27"/>
                <a:gd name="T17" fmla="*/ 31617 h 40"/>
                <a:gd name="T18" fmla="*/ 18660 w 27"/>
                <a:gd name="T19" fmla="*/ 41936 h 40"/>
                <a:gd name="T20" fmla="*/ 30476 w 27"/>
                <a:gd name="T21" fmla="*/ 31617 h 40"/>
                <a:gd name="T22" fmla="*/ 20047 w 27"/>
                <a:gd name="T23" fmla="*/ 16124 h 40"/>
                <a:gd name="T24" fmla="*/ 15035 w 27"/>
                <a:gd name="T25" fmla="*/ 11085 h 40"/>
                <a:gd name="T26" fmla="*/ 35639 w 27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"/>
                <a:gd name="T43" fmla="*/ 0 h 40"/>
                <a:gd name="T44" fmla="*/ 27 w 27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" h="40">
                  <a:moveTo>
                    <a:pt x="27" y="28"/>
                  </a:moveTo>
                  <a:cubicBezTo>
                    <a:pt x="27" y="34"/>
                    <a:pt x="23" y="40"/>
                    <a:pt x="15" y="40"/>
                  </a:cubicBezTo>
                  <a:lnTo>
                    <a:pt x="0" y="40"/>
                  </a:lnTo>
                  <a:cubicBezTo>
                    <a:pt x="1" y="38"/>
                    <a:pt x="2" y="37"/>
                    <a:pt x="4" y="37"/>
                  </a:cubicBezTo>
                  <a:lnTo>
                    <a:pt x="8" y="37"/>
                  </a:lnTo>
                  <a:cubicBezTo>
                    <a:pt x="6" y="37"/>
                    <a:pt x="2" y="32"/>
                    <a:pt x="2" y="26"/>
                  </a:cubicBezTo>
                  <a:lnTo>
                    <a:pt x="2" y="0"/>
                  </a:lnTo>
                  <a:cubicBezTo>
                    <a:pt x="6" y="0"/>
                    <a:pt x="7" y="3"/>
                    <a:pt x="7" y="5"/>
                  </a:cubicBezTo>
                  <a:lnTo>
                    <a:pt x="7" y="27"/>
                  </a:lnTo>
                  <a:cubicBezTo>
                    <a:pt x="7" y="33"/>
                    <a:pt x="9" y="37"/>
                    <a:pt x="14" y="37"/>
                  </a:cubicBezTo>
                  <a:cubicBezTo>
                    <a:pt x="20" y="37"/>
                    <a:pt x="23" y="32"/>
                    <a:pt x="23" y="27"/>
                  </a:cubicBezTo>
                  <a:cubicBezTo>
                    <a:pt x="23" y="20"/>
                    <a:pt x="19" y="16"/>
                    <a:pt x="15" y="14"/>
                  </a:cubicBezTo>
                  <a:cubicBezTo>
                    <a:pt x="12" y="13"/>
                    <a:pt x="12" y="12"/>
                    <a:pt x="11" y="10"/>
                  </a:cubicBezTo>
                  <a:cubicBezTo>
                    <a:pt x="18" y="11"/>
                    <a:pt x="27" y="17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Freeform 147"/>
            <p:cNvSpPr>
              <a:spLocks/>
            </p:cNvSpPr>
            <p:nvPr/>
          </p:nvSpPr>
          <p:spPr bwMode="auto">
            <a:xfrm flipV="1">
              <a:off x="3922" y="478"/>
              <a:ext cx="28" cy="51"/>
            </a:xfrm>
            <a:custGeom>
              <a:avLst/>
              <a:gdLst>
                <a:gd name="T0" fmla="*/ 27561 w 21"/>
                <a:gd name="T1" fmla="*/ 18105 h 39"/>
                <a:gd name="T2" fmla="*/ 17143 w 21"/>
                <a:gd name="T3" fmla="*/ 26147 h 39"/>
                <a:gd name="T4" fmla="*/ 4905 w 21"/>
                <a:gd name="T5" fmla="*/ 26147 h 39"/>
                <a:gd name="T6" fmla="*/ 4905 w 21"/>
                <a:gd name="T7" fmla="*/ 32016 h 39"/>
                <a:gd name="T8" fmla="*/ 0 w 21"/>
                <a:gd name="T9" fmla="*/ 27649 h 39"/>
                <a:gd name="T10" fmla="*/ 0 w 21"/>
                <a:gd name="T11" fmla="*/ 22894 h 39"/>
                <a:gd name="T12" fmla="*/ 15035 w 21"/>
                <a:gd name="T13" fmla="*/ 22894 h 39"/>
                <a:gd name="T14" fmla="*/ 22857 w 21"/>
                <a:gd name="T15" fmla="*/ 16678 h 39"/>
                <a:gd name="T16" fmla="*/ 8720 w 21"/>
                <a:gd name="T17" fmla="*/ 3335 h 39"/>
                <a:gd name="T18" fmla="*/ 3679 w 21"/>
                <a:gd name="T19" fmla="*/ 0 h 39"/>
                <a:gd name="T20" fmla="*/ 27561 w 21"/>
                <a:gd name="T21" fmla="*/ 18105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"/>
                <a:gd name="T34" fmla="*/ 0 h 39"/>
                <a:gd name="T35" fmla="*/ 21 w 21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" h="39">
                  <a:moveTo>
                    <a:pt x="21" y="22"/>
                  </a:moveTo>
                  <a:cubicBezTo>
                    <a:pt x="21" y="27"/>
                    <a:pt x="18" y="31"/>
                    <a:pt x="13" y="31"/>
                  </a:cubicBezTo>
                  <a:lnTo>
                    <a:pt x="4" y="31"/>
                  </a:lnTo>
                  <a:lnTo>
                    <a:pt x="4" y="39"/>
                  </a:lnTo>
                  <a:cubicBezTo>
                    <a:pt x="2" y="39"/>
                    <a:pt x="0" y="38"/>
                    <a:pt x="0" y="34"/>
                  </a:cubicBezTo>
                  <a:lnTo>
                    <a:pt x="0" y="28"/>
                  </a:lnTo>
                  <a:lnTo>
                    <a:pt x="11" y="28"/>
                  </a:lnTo>
                  <a:cubicBezTo>
                    <a:pt x="13" y="28"/>
                    <a:pt x="17" y="27"/>
                    <a:pt x="17" y="21"/>
                  </a:cubicBezTo>
                  <a:cubicBezTo>
                    <a:pt x="17" y="12"/>
                    <a:pt x="11" y="6"/>
                    <a:pt x="7" y="4"/>
                  </a:cubicBezTo>
                  <a:cubicBezTo>
                    <a:pt x="5" y="3"/>
                    <a:pt x="3" y="2"/>
                    <a:pt x="3" y="0"/>
                  </a:cubicBezTo>
                  <a:cubicBezTo>
                    <a:pt x="10" y="1"/>
                    <a:pt x="21" y="9"/>
                    <a:pt x="21" y="2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6" name="Freeform 148"/>
            <p:cNvSpPr>
              <a:spLocks/>
            </p:cNvSpPr>
            <p:nvPr/>
          </p:nvSpPr>
          <p:spPr bwMode="auto">
            <a:xfrm flipV="1">
              <a:off x="3960" y="488"/>
              <a:ext cx="32" cy="41"/>
            </a:xfrm>
            <a:custGeom>
              <a:avLst/>
              <a:gdLst>
                <a:gd name="T0" fmla="*/ 31956 w 24"/>
                <a:gd name="T1" fmla="*/ 2475 h 31"/>
                <a:gd name="T2" fmla="*/ 30476 w 24"/>
                <a:gd name="T3" fmla="*/ 6914 h 31"/>
                <a:gd name="T4" fmla="*/ 22857 w 24"/>
                <a:gd name="T5" fmla="*/ 13246 h 31"/>
                <a:gd name="T6" fmla="*/ 30476 w 24"/>
                <a:gd name="T7" fmla="*/ 23350 h 31"/>
                <a:gd name="T8" fmla="*/ 30476 w 24"/>
                <a:gd name="T9" fmla="*/ 33320 h 31"/>
                <a:gd name="T10" fmla="*/ 24880 w 24"/>
                <a:gd name="T11" fmla="*/ 27979 h 31"/>
                <a:gd name="T12" fmla="*/ 24880 w 24"/>
                <a:gd name="T13" fmla="*/ 21155 h 31"/>
                <a:gd name="T14" fmla="*/ 20671 w 24"/>
                <a:gd name="T15" fmla="*/ 15698 h 31"/>
                <a:gd name="T16" fmla="*/ 1 w 24"/>
                <a:gd name="T17" fmla="*/ 33320 h 31"/>
                <a:gd name="T18" fmla="*/ 0 w 24"/>
                <a:gd name="T19" fmla="*/ 30882 h 31"/>
                <a:gd name="T20" fmla="*/ 1 w 24"/>
                <a:gd name="T21" fmla="*/ 27979 h 31"/>
                <a:gd name="T22" fmla="*/ 8457 w 24"/>
                <a:gd name="T23" fmla="*/ 21155 h 31"/>
                <a:gd name="T24" fmla="*/ 0 w 24"/>
                <a:gd name="T25" fmla="*/ 10093 h 31"/>
                <a:gd name="T26" fmla="*/ 0 w 24"/>
                <a:gd name="T27" fmla="*/ 0 h 31"/>
                <a:gd name="T28" fmla="*/ 4905 w 24"/>
                <a:gd name="T29" fmla="*/ 5725 h 31"/>
                <a:gd name="T30" fmla="*/ 4905 w 24"/>
                <a:gd name="T31" fmla="*/ 12094 h 31"/>
                <a:gd name="T32" fmla="*/ 11276 w 24"/>
                <a:gd name="T33" fmla="*/ 19881 h 31"/>
                <a:gd name="T34" fmla="*/ 30476 w 24"/>
                <a:gd name="T35" fmla="*/ 0 h 31"/>
                <a:gd name="T36" fmla="*/ 31956 w 24"/>
                <a:gd name="T37" fmla="*/ 2475 h 3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4"/>
                <a:gd name="T58" fmla="*/ 0 h 31"/>
                <a:gd name="T59" fmla="*/ 24 w 24"/>
                <a:gd name="T60" fmla="*/ 31 h 3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4" h="31">
                  <a:moveTo>
                    <a:pt x="24" y="2"/>
                  </a:moveTo>
                  <a:cubicBezTo>
                    <a:pt x="24" y="4"/>
                    <a:pt x="23" y="5"/>
                    <a:pt x="23" y="6"/>
                  </a:cubicBezTo>
                  <a:lnTo>
                    <a:pt x="17" y="12"/>
                  </a:lnTo>
                  <a:cubicBezTo>
                    <a:pt x="20" y="14"/>
                    <a:pt x="23" y="18"/>
                    <a:pt x="23" y="22"/>
                  </a:cubicBezTo>
                  <a:lnTo>
                    <a:pt x="23" y="31"/>
                  </a:lnTo>
                  <a:cubicBezTo>
                    <a:pt x="21" y="31"/>
                    <a:pt x="19" y="30"/>
                    <a:pt x="19" y="26"/>
                  </a:cubicBezTo>
                  <a:lnTo>
                    <a:pt x="19" y="20"/>
                  </a:lnTo>
                  <a:cubicBezTo>
                    <a:pt x="19" y="16"/>
                    <a:pt x="17" y="15"/>
                    <a:pt x="16" y="14"/>
                  </a:cubicBezTo>
                  <a:lnTo>
                    <a:pt x="1" y="31"/>
                  </a:lnTo>
                  <a:cubicBezTo>
                    <a:pt x="0" y="31"/>
                    <a:pt x="0" y="30"/>
                    <a:pt x="0" y="29"/>
                  </a:cubicBezTo>
                  <a:cubicBezTo>
                    <a:pt x="0" y="28"/>
                    <a:pt x="0" y="27"/>
                    <a:pt x="1" y="26"/>
                  </a:cubicBezTo>
                  <a:lnTo>
                    <a:pt x="6" y="20"/>
                  </a:lnTo>
                  <a:cubicBezTo>
                    <a:pt x="3" y="19"/>
                    <a:pt x="0" y="14"/>
                    <a:pt x="0" y="10"/>
                  </a:cubicBezTo>
                  <a:lnTo>
                    <a:pt x="0" y="0"/>
                  </a:lnTo>
                  <a:cubicBezTo>
                    <a:pt x="2" y="0"/>
                    <a:pt x="4" y="2"/>
                    <a:pt x="4" y="5"/>
                  </a:cubicBezTo>
                  <a:lnTo>
                    <a:pt x="4" y="11"/>
                  </a:lnTo>
                  <a:cubicBezTo>
                    <a:pt x="4" y="15"/>
                    <a:pt x="5" y="18"/>
                    <a:pt x="8" y="18"/>
                  </a:cubicBezTo>
                  <a:lnTo>
                    <a:pt x="23" y="0"/>
                  </a:lnTo>
                  <a:cubicBezTo>
                    <a:pt x="23" y="1"/>
                    <a:pt x="24" y="2"/>
                    <a:pt x="24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7" name="Rectangle 149"/>
            <p:cNvSpPr>
              <a:spLocks noChangeArrowheads="1"/>
            </p:cNvSpPr>
            <p:nvPr/>
          </p:nvSpPr>
          <p:spPr bwMode="auto">
            <a:xfrm>
              <a:off x="4259" y="483"/>
              <a:ext cx="39" cy="3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8" name="Rectangle 150"/>
            <p:cNvSpPr>
              <a:spLocks noChangeArrowheads="1"/>
            </p:cNvSpPr>
            <p:nvPr/>
          </p:nvSpPr>
          <p:spPr bwMode="auto">
            <a:xfrm>
              <a:off x="4201" y="484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144" y="486"/>
              <a:ext cx="33" cy="34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085" y="487"/>
              <a:ext cx="32" cy="32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1" name="Rectangle 153"/>
            <p:cNvSpPr>
              <a:spLocks noChangeArrowheads="1"/>
            </p:cNvSpPr>
            <p:nvPr/>
          </p:nvSpPr>
          <p:spPr bwMode="auto">
            <a:xfrm>
              <a:off x="4028" y="488"/>
              <a:ext cx="28" cy="2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2" name="Rectangle 154"/>
            <p:cNvSpPr>
              <a:spLocks noChangeArrowheads="1"/>
            </p:cNvSpPr>
            <p:nvPr/>
          </p:nvSpPr>
          <p:spPr bwMode="auto">
            <a:xfrm>
              <a:off x="4259" y="580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3" name="Rectangle 155"/>
            <p:cNvSpPr>
              <a:spLocks noChangeArrowheads="1"/>
            </p:cNvSpPr>
            <p:nvPr/>
          </p:nvSpPr>
          <p:spPr bwMode="auto">
            <a:xfrm>
              <a:off x="4201" y="581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4" name="Rectangle 156"/>
            <p:cNvSpPr>
              <a:spLocks noChangeArrowheads="1"/>
            </p:cNvSpPr>
            <p:nvPr/>
          </p:nvSpPr>
          <p:spPr bwMode="auto">
            <a:xfrm>
              <a:off x="4144" y="583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5" name="Rectangle 157"/>
            <p:cNvSpPr>
              <a:spLocks noChangeArrowheads="1"/>
            </p:cNvSpPr>
            <p:nvPr/>
          </p:nvSpPr>
          <p:spPr bwMode="auto">
            <a:xfrm>
              <a:off x="4085" y="584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Rectangle 158"/>
            <p:cNvSpPr>
              <a:spLocks noChangeArrowheads="1"/>
            </p:cNvSpPr>
            <p:nvPr/>
          </p:nvSpPr>
          <p:spPr bwMode="auto">
            <a:xfrm>
              <a:off x="4028" y="585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Rectangle 159"/>
            <p:cNvSpPr>
              <a:spLocks noChangeArrowheads="1"/>
            </p:cNvSpPr>
            <p:nvPr/>
          </p:nvSpPr>
          <p:spPr bwMode="auto">
            <a:xfrm>
              <a:off x="4259" y="677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Rectangle 160"/>
            <p:cNvSpPr>
              <a:spLocks noChangeArrowheads="1"/>
            </p:cNvSpPr>
            <p:nvPr/>
          </p:nvSpPr>
          <p:spPr bwMode="auto">
            <a:xfrm>
              <a:off x="4201" y="679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9" name="Rectangle 161"/>
            <p:cNvSpPr>
              <a:spLocks noChangeArrowheads="1"/>
            </p:cNvSpPr>
            <p:nvPr/>
          </p:nvSpPr>
          <p:spPr bwMode="auto">
            <a:xfrm>
              <a:off x="4144" y="680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0" name="Rectangle 162"/>
            <p:cNvSpPr>
              <a:spLocks noChangeArrowheads="1"/>
            </p:cNvSpPr>
            <p:nvPr/>
          </p:nvSpPr>
          <p:spPr bwMode="auto">
            <a:xfrm>
              <a:off x="4085" y="681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1" name="Rectangle 163"/>
            <p:cNvSpPr>
              <a:spLocks noChangeArrowheads="1"/>
            </p:cNvSpPr>
            <p:nvPr/>
          </p:nvSpPr>
          <p:spPr bwMode="auto">
            <a:xfrm>
              <a:off x="4028" y="683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</p:grpSp>
      <p:pic>
        <p:nvPicPr>
          <p:cNvPr id="62" name="Picture 58" descr="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976" y="112198"/>
            <a:ext cx="5715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3935226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6EC113-5EF6-48E9-9CE4-D869B359D9CF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F391A-EBEF-4E17-8774-1E7237B3506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89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0"/>
            <a:ext cx="6554867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>
            <a:lvl1pPr marL="342900" indent="-3429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</a:defRPr>
            </a:lvl1pPr>
            <a:lvl2pPr marL="7429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2pPr>
            <a:lvl3pPr marL="12001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3pPr>
            <a:lvl4pPr marL="16573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4pPr>
            <a:lvl5pPr marL="21145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33C76-4298-43FB-B1BD-0F0829E2ADDB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7" name="Group 164"/>
          <p:cNvGrpSpPr>
            <a:grpSpLocks/>
          </p:cNvGrpSpPr>
          <p:nvPr userDrawn="1"/>
        </p:nvGrpSpPr>
        <p:grpSpPr bwMode="auto">
          <a:xfrm>
            <a:off x="7071932" y="137319"/>
            <a:ext cx="1895475" cy="792162"/>
            <a:chOff x="3467" y="348"/>
            <a:chExt cx="831" cy="380"/>
          </a:xfrm>
        </p:grpSpPr>
        <p:sp>
          <p:nvSpPr>
            <p:cNvPr id="8" name="Freeform 110"/>
            <p:cNvSpPr>
              <a:spLocks/>
            </p:cNvSpPr>
            <p:nvPr/>
          </p:nvSpPr>
          <p:spPr bwMode="auto">
            <a:xfrm flipV="1">
              <a:off x="3467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2857 w 27"/>
                <a:gd name="T3" fmla="*/ 56651 h 50"/>
                <a:gd name="T4" fmla="*/ 11276 w 27"/>
                <a:gd name="T5" fmla="*/ 56651 h 50"/>
                <a:gd name="T6" fmla="*/ 11276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276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111"/>
            <p:cNvSpPr>
              <a:spLocks/>
            </p:cNvSpPr>
            <p:nvPr/>
          </p:nvSpPr>
          <p:spPr bwMode="auto">
            <a:xfrm flipV="1">
              <a:off x="3511" y="363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608 w 34"/>
                <a:gd name="T3" fmla="*/ 58838 h 38"/>
                <a:gd name="T4" fmla="*/ 10140 w 34"/>
                <a:gd name="T5" fmla="*/ 50732 h 38"/>
                <a:gd name="T6" fmla="*/ 1 w 34"/>
                <a:gd name="T7" fmla="*/ 58838 h 38"/>
                <a:gd name="T8" fmla="*/ 0 w 34"/>
                <a:gd name="T9" fmla="*/ 54814 h 38"/>
                <a:gd name="T10" fmla="*/ 1 w 34"/>
                <a:gd name="T11" fmla="*/ 50732 h 38"/>
                <a:gd name="T12" fmla="*/ 3304 w 34"/>
                <a:gd name="T13" fmla="*/ 46622 h 38"/>
                <a:gd name="T14" fmla="*/ 4373 w 34"/>
                <a:gd name="T15" fmla="*/ 40842 h 38"/>
                <a:gd name="T16" fmla="*/ 4373 w 34"/>
                <a:gd name="T17" fmla="*/ 37800 h 38"/>
                <a:gd name="T18" fmla="*/ 1 w 34"/>
                <a:gd name="T19" fmla="*/ 0 h 38"/>
                <a:gd name="T20" fmla="*/ 2496 w 34"/>
                <a:gd name="T21" fmla="*/ 0 h 38"/>
                <a:gd name="T22" fmla="*/ 10948 w 34"/>
                <a:gd name="T23" fmla="*/ 10068 h 38"/>
                <a:gd name="T24" fmla="*/ 13421 w 34"/>
                <a:gd name="T25" fmla="*/ 39899 h 38"/>
                <a:gd name="T26" fmla="*/ 20224 w 34"/>
                <a:gd name="T27" fmla="*/ 51197 h 38"/>
                <a:gd name="T28" fmla="*/ 27883 w 34"/>
                <a:gd name="T29" fmla="*/ 30812 h 38"/>
                <a:gd name="T30" fmla="*/ 17763 w 34"/>
                <a:gd name="T31" fmla="*/ 7502 h 38"/>
                <a:gd name="T32" fmla="*/ 12335 w 34"/>
                <a:gd name="T33" fmla="*/ 1 h 38"/>
                <a:gd name="T34" fmla="*/ 17763 w 34"/>
                <a:gd name="T35" fmla="*/ 0 h 38"/>
                <a:gd name="T36" fmla="*/ 37852 w 34"/>
                <a:gd name="T37" fmla="*/ 3081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4"/>
                <a:gd name="T58" fmla="*/ 0 h 38"/>
                <a:gd name="T59" fmla="*/ 34 w 34"/>
                <a:gd name="T60" fmla="*/ 38 h 3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4" h="38">
                  <a:moveTo>
                    <a:pt x="34" y="20"/>
                  </a:moveTo>
                  <a:cubicBezTo>
                    <a:pt x="34" y="31"/>
                    <a:pt x="28" y="38"/>
                    <a:pt x="20" y="38"/>
                  </a:cubicBezTo>
                  <a:cubicBezTo>
                    <a:pt x="14" y="38"/>
                    <a:pt x="12" y="36"/>
                    <a:pt x="9" y="32"/>
                  </a:cubicBezTo>
                  <a:cubicBezTo>
                    <a:pt x="7" y="34"/>
                    <a:pt x="3" y="37"/>
                    <a:pt x="1" y="38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34"/>
                    <a:pt x="1" y="33"/>
                    <a:pt x="1" y="32"/>
                  </a:cubicBezTo>
                  <a:lnTo>
                    <a:pt x="3" y="30"/>
                  </a:lnTo>
                  <a:cubicBezTo>
                    <a:pt x="4" y="28"/>
                    <a:pt x="4" y="28"/>
                    <a:pt x="4" y="26"/>
                  </a:cubicBezTo>
                  <a:cubicBezTo>
                    <a:pt x="4" y="25"/>
                    <a:pt x="4" y="25"/>
                    <a:pt x="4" y="24"/>
                  </a:cubicBezTo>
                  <a:lnTo>
                    <a:pt x="1" y="0"/>
                  </a:ln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9" y="3"/>
                    <a:pt x="10" y="7"/>
                  </a:cubicBezTo>
                  <a:lnTo>
                    <a:pt x="12" y="25"/>
                  </a:lnTo>
                  <a:cubicBezTo>
                    <a:pt x="13" y="30"/>
                    <a:pt x="15" y="33"/>
                    <a:pt x="18" y="33"/>
                  </a:cubicBezTo>
                  <a:cubicBezTo>
                    <a:pt x="22" y="33"/>
                    <a:pt x="25" y="29"/>
                    <a:pt x="25" y="20"/>
                  </a:cubicBezTo>
                  <a:cubicBezTo>
                    <a:pt x="25" y="10"/>
                    <a:pt x="20" y="5"/>
                    <a:pt x="16" y="5"/>
                  </a:cubicBezTo>
                  <a:cubicBezTo>
                    <a:pt x="13" y="5"/>
                    <a:pt x="12" y="4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26" y="0"/>
                    <a:pt x="34" y="7"/>
                    <a:pt x="34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Freeform 112"/>
            <p:cNvSpPr>
              <a:spLocks noEditPoints="1"/>
            </p:cNvSpPr>
            <p:nvPr/>
          </p:nvSpPr>
          <p:spPr bwMode="auto">
            <a:xfrm flipV="1">
              <a:off x="3566" y="362"/>
              <a:ext cx="46" cy="52"/>
            </a:xfrm>
            <a:custGeom>
              <a:avLst/>
              <a:gdLst>
                <a:gd name="T0" fmla="*/ 20471 w 35"/>
                <a:gd name="T1" fmla="*/ 33173 h 39"/>
                <a:gd name="T2" fmla="*/ 20471 w 35"/>
                <a:gd name="T3" fmla="*/ 50975 h 39"/>
                <a:gd name="T4" fmla="*/ 11851 w 35"/>
                <a:gd name="T5" fmla="*/ 39909 h 39"/>
                <a:gd name="T6" fmla="*/ 11851 w 35"/>
                <a:gd name="T7" fmla="*/ 18660 h 39"/>
                <a:gd name="T8" fmla="*/ 20471 w 35"/>
                <a:gd name="T9" fmla="*/ 33173 h 39"/>
                <a:gd name="T10" fmla="*/ 32433 w 35"/>
                <a:gd name="T11" fmla="*/ 31956 h 39"/>
                <a:gd name="T12" fmla="*/ 32433 w 35"/>
                <a:gd name="T13" fmla="*/ 50975 h 39"/>
                <a:gd name="T14" fmla="*/ 24228 w 35"/>
                <a:gd name="T15" fmla="*/ 39909 h 39"/>
                <a:gd name="T16" fmla="*/ 24228 w 35"/>
                <a:gd name="T17" fmla="*/ 30476 h 39"/>
                <a:gd name="T18" fmla="*/ 11508 w 35"/>
                <a:gd name="T19" fmla="*/ 6540 h 39"/>
                <a:gd name="T20" fmla="*/ 9894 w 35"/>
                <a:gd name="T21" fmla="*/ 6540 h 39"/>
                <a:gd name="T22" fmla="*/ 7528 w 35"/>
                <a:gd name="T23" fmla="*/ 51785 h 39"/>
                <a:gd name="T24" fmla="*/ 0 w 35"/>
                <a:gd name="T25" fmla="*/ 39909 h 39"/>
                <a:gd name="T26" fmla="*/ 0 w 35"/>
                <a:gd name="T27" fmla="*/ 38839 h 39"/>
                <a:gd name="T28" fmla="*/ 3857 w 35"/>
                <a:gd name="T29" fmla="*/ 0 h 39"/>
                <a:gd name="T30" fmla="*/ 8756 w 35"/>
                <a:gd name="T31" fmla="*/ 0 h 39"/>
                <a:gd name="T32" fmla="*/ 32433 w 35"/>
                <a:gd name="T33" fmla="*/ 31956 h 3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5"/>
                <a:gd name="T52" fmla="*/ 0 h 39"/>
                <a:gd name="T53" fmla="*/ 35 w 35"/>
                <a:gd name="T54" fmla="*/ 39 h 3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5" h="39">
                  <a:moveTo>
                    <a:pt x="22" y="25"/>
                  </a:moveTo>
                  <a:lnTo>
                    <a:pt x="22" y="38"/>
                  </a:lnTo>
                  <a:cubicBezTo>
                    <a:pt x="17" y="38"/>
                    <a:pt x="13" y="36"/>
                    <a:pt x="13" y="30"/>
                  </a:cubicBezTo>
                  <a:lnTo>
                    <a:pt x="13" y="14"/>
                  </a:lnTo>
                  <a:cubicBezTo>
                    <a:pt x="18" y="15"/>
                    <a:pt x="22" y="18"/>
                    <a:pt x="22" y="25"/>
                  </a:cubicBezTo>
                  <a:close/>
                  <a:moveTo>
                    <a:pt x="35" y="24"/>
                  </a:moveTo>
                  <a:lnTo>
                    <a:pt x="35" y="38"/>
                  </a:lnTo>
                  <a:cubicBezTo>
                    <a:pt x="30" y="38"/>
                    <a:pt x="26" y="36"/>
                    <a:pt x="26" y="30"/>
                  </a:cubicBezTo>
                  <a:lnTo>
                    <a:pt x="26" y="23"/>
                  </a:lnTo>
                  <a:cubicBezTo>
                    <a:pt x="26" y="12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9"/>
                  </a:lnTo>
                  <a:cubicBezTo>
                    <a:pt x="2" y="38"/>
                    <a:pt x="0" y="34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4" y="0"/>
                    <a:pt x="35" y="10"/>
                    <a:pt x="35" y="24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Freeform 113"/>
            <p:cNvSpPr>
              <a:spLocks/>
            </p:cNvSpPr>
            <p:nvPr/>
          </p:nvSpPr>
          <p:spPr bwMode="auto">
            <a:xfrm flipV="1">
              <a:off x="3623" y="363"/>
              <a:ext cx="38" cy="52"/>
            </a:xfrm>
            <a:custGeom>
              <a:avLst/>
              <a:gdLst>
                <a:gd name="T0" fmla="*/ 25097 w 29"/>
                <a:gd name="T1" fmla="*/ 11276 h 39"/>
                <a:gd name="T2" fmla="*/ 25097 w 29"/>
                <a:gd name="T3" fmla="*/ 29129 h 39"/>
                <a:gd name="T4" fmla="*/ 9216 w 29"/>
                <a:gd name="T5" fmla="*/ 51785 h 39"/>
                <a:gd name="T6" fmla="*/ 0 w 29"/>
                <a:gd name="T7" fmla="*/ 48997 h 39"/>
                <a:gd name="T8" fmla="*/ 0 w 29"/>
                <a:gd name="T9" fmla="*/ 1 h 39"/>
                <a:gd name="T10" fmla="*/ 6497 w 29"/>
                <a:gd name="T11" fmla="*/ 11276 h 39"/>
                <a:gd name="T12" fmla="*/ 6497 w 29"/>
                <a:gd name="T13" fmla="*/ 45179 h 39"/>
                <a:gd name="T14" fmla="*/ 8513 w 29"/>
                <a:gd name="T15" fmla="*/ 45179 h 39"/>
                <a:gd name="T16" fmla="*/ 18514 w 29"/>
                <a:gd name="T17" fmla="*/ 29129 h 39"/>
                <a:gd name="T18" fmla="*/ 18514 w 29"/>
                <a:gd name="T19" fmla="*/ 0 h 39"/>
                <a:gd name="T20" fmla="*/ 25097 w 29"/>
                <a:gd name="T21" fmla="*/ 11276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"/>
                <a:gd name="T34" fmla="*/ 0 h 39"/>
                <a:gd name="T35" fmla="*/ 29 w 29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3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lnTo>
                    <a:pt x="0" y="1"/>
                  </a:lnTo>
                  <a:cubicBezTo>
                    <a:pt x="5" y="1"/>
                    <a:pt x="8" y="2"/>
                    <a:pt x="8" y="8"/>
                  </a:cubicBezTo>
                  <a:lnTo>
                    <a:pt x="8" y="34"/>
                  </a:lnTo>
                  <a:cubicBezTo>
                    <a:pt x="9" y="34"/>
                    <a:pt x="9" y="34"/>
                    <a:pt x="10" y="34"/>
                  </a:cubicBezTo>
                  <a:cubicBezTo>
                    <a:pt x="14" y="34"/>
                    <a:pt x="21" y="31"/>
                    <a:pt x="21" y="22"/>
                  </a:cubicBezTo>
                  <a:lnTo>
                    <a:pt x="21" y="0"/>
                  </a:lnTo>
                  <a:cubicBezTo>
                    <a:pt x="24" y="0"/>
                    <a:pt x="29" y="3"/>
                    <a:pt x="2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114"/>
            <p:cNvSpPr>
              <a:spLocks/>
            </p:cNvSpPr>
            <p:nvPr/>
          </p:nvSpPr>
          <p:spPr bwMode="auto">
            <a:xfrm flipV="1">
              <a:off x="3689" y="363"/>
              <a:ext cx="47" cy="52"/>
            </a:xfrm>
            <a:custGeom>
              <a:avLst/>
              <a:gdLst>
                <a:gd name="T0" fmla="*/ 55463 w 35"/>
                <a:gd name="T1" fmla="*/ 11627 h 39"/>
                <a:gd name="T2" fmla="*/ 55463 w 35"/>
                <a:gd name="T3" fmla="*/ 29129 h 39"/>
                <a:gd name="T4" fmla="*/ 27469 w 35"/>
                <a:gd name="T5" fmla="*/ 51785 h 39"/>
                <a:gd name="T6" fmla="*/ 4188 w 35"/>
                <a:gd name="T7" fmla="*/ 47519 h 39"/>
                <a:gd name="T8" fmla="*/ 9561 w 35"/>
                <a:gd name="T9" fmla="*/ 44231 h 39"/>
                <a:gd name="T10" fmla="*/ 9561 w 35"/>
                <a:gd name="T11" fmla="*/ 44231 h 39"/>
                <a:gd name="T12" fmla="*/ 9561 w 35"/>
                <a:gd name="T13" fmla="*/ 11276 h 39"/>
                <a:gd name="T14" fmla="*/ 5624 w 35"/>
                <a:gd name="T15" fmla="*/ 6540 h 39"/>
                <a:gd name="T16" fmla="*/ 4188 w 35"/>
                <a:gd name="T17" fmla="*/ 6540 h 39"/>
                <a:gd name="T18" fmla="*/ 4188 w 35"/>
                <a:gd name="T19" fmla="*/ 6540 h 39"/>
                <a:gd name="T20" fmla="*/ 0 w 35"/>
                <a:gd name="T21" fmla="*/ 2759 h 39"/>
                <a:gd name="T22" fmla="*/ 7552 w 35"/>
                <a:gd name="T23" fmla="*/ 0 h 39"/>
                <a:gd name="T24" fmla="*/ 23152 w 35"/>
                <a:gd name="T25" fmla="*/ 12857 h 39"/>
                <a:gd name="T26" fmla="*/ 23152 w 35"/>
                <a:gd name="T27" fmla="*/ 45179 h 39"/>
                <a:gd name="T28" fmla="*/ 24557 w 35"/>
                <a:gd name="T29" fmla="*/ 45179 h 39"/>
                <a:gd name="T30" fmla="*/ 41749 w 35"/>
                <a:gd name="T31" fmla="*/ 29129 h 39"/>
                <a:gd name="T32" fmla="*/ 41749 w 35"/>
                <a:gd name="T33" fmla="*/ 0 h 39"/>
                <a:gd name="T34" fmla="*/ 55463 w 35"/>
                <a:gd name="T35" fmla="*/ 11627 h 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5"/>
                <a:gd name="T55" fmla="*/ 0 h 39"/>
                <a:gd name="T56" fmla="*/ 35 w 35"/>
                <a:gd name="T57" fmla="*/ 39 h 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5" h="39">
                  <a:moveTo>
                    <a:pt x="35" y="9"/>
                  </a:moveTo>
                  <a:lnTo>
                    <a:pt x="35" y="22"/>
                  </a:lnTo>
                  <a:cubicBezTo>
                    <a:pt x="35" y="33"/>
                    <a:pt x="27" y="39"/>
                    <a:pt x="17" y="39"/>
                  </a:cubicBezTo>
                  <a:cubicBezTo>
                    <a:pt x="12" y="39"/>
                    <a:pt x="6" y="38"/>
                    <a:pt x="3" y="36"/>
                  </a:cubicBezTo>
                  <a:cubicBezTo>
                    <a:pt x="3" y="34"/>
                    <a:pt x="5" y="33"/>
                    <a:pt x="6" y="33"/>
                  </a:cubicBezTo>
                  <a:lnTo>
                    <a:pt x="6" y="8"/>
                  </a:lnTo>
                  <a:cubicBezTo>
                    <a:pt x="6" y="6"/>
                    <a:pt x="5" y="5"/>
                    <a:pt x="4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1" y="0"/>
                    <a:pt x="15" y="3"/>
                    <a:pt x="15" y="10"/>
                  </a:cubicBezTo>
                  <a:lnTo>
                    <a:pt x="15" y="34"/>
                  </a:lnTo>
                  <a:cubicBezTo>
                    <a:pt x="15" y="34"/>
                    <a:pt x="15" y="34"/>
                    <a:pt x="16" y="34"/>
                  </a:cubicBezTo>
                  <a:cubicBezTo>
                    <a:pt x="20" y="34"/>
                    <a:pt x="27" y="31"/>
                    <a:pt x="27" y="22"/>
                  </a:cubicBezTo>
                  <a:lnTo>
                    <a:pt x="27" y="0"/>
                  </a:lnTo>
                  <a:cubicBezTo>
                    <a:pt x="32" y="0"/>
                    <a:pt x="35" y="3"/>
                    <a:pt x="35" y="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15"/>
            <p:cNvSpPr>
              <a:spLocks noEditPoints="1"/>
            </p:cNvSpPr>
            <p:nvPr/>
          </p:nvSpPr>
          <p:spPr bwMode="auto">
            <a:xfrm flipV="1">
              <a:off x="3745" y="364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067 w 34"/>
                <a:gd name="T3" fmla="*/ 58838 h 38"/>
                <a:gd name="T4" fmla="*/ 0 w 34"/>
                <a:gd name="T5" fmla="*/ 58838 h 38"/>
                <a:gd name="T6" fmla="*/ 5788 w 34"/>
                <a:gd name="T7" fmla="*/ 51197 h 38"/>
                <a:gd name="T8" fmla="*/ 9320 w 34"/>
                <a:gd name="T9" fmla="*/ 51197 h 38"/>
                <a:gd name="T10" fmla="*/ 1 w 34"/>
                <a:gd name="T11" fmla="*/ 30812 h 38"/>
                <a:gd name="T12" fmla="*/ 19178 w 34"/>
                <a:gd name="T13" fmla="*/ 0 h 38"/>
                <a:gd name="T14" fmla="*/ 37852 w 34"/>
                <a:gd name="T15" fmla="*/ 30812 h 38"/>
                <a:gd name="T16" fmla="*/ 27883 w 34"/>
                <a:gd name="T17" fmla="*/ 30812 h 38"/>
                <a:gd name="T18" fmla="*/ 19178 w 34"/>
                <a:gd name="T19" fmla="*/ 7502 h 38"/>
                <a:gd name="T20" fmla="*/ 10948 w 34"/>
                <a:gd name="T21" fmla="*/ 30812 h 38"/>
                <a:gd name="T22" fmla="*/ 19178 w 34"/>
                <a:gd name="T23" fmla="*/ 53549 h 38"/>
                <a:gd name="T24" fmla="*/ 27883 w 34"/>
                <a:gd name="T25" fmla="*/ 30812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4"/>
                <a:gd name="T40" fmla="*/ 0 h 38"/>
                <a:gd name="T41" fmla="*/ 34 w 34"/>
                <a:gd name="T42" fmla="*/ 38 h 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4" h="38">
                  <a:moveTo>
                    <a:pt x="34" y="20"/>
                  </a:moveTo>
                  <a:cubicBezTo>
                    <a:pt x="34" y="30"/>
                    <a:pt x="28" y="38"/>
                    <a:pt x="19" y="38"/>
                  </a:cubicBezTo>
                  <a:lnTo>
                    <a:pt x="0" y="38"/>
                  </a:lnTo>
                  <a:cubicBezTo>
                    <a:pt x="0" y="36"/>
                    <a:pt x="2" y="33"/>
                    <a:pt x="5" y="33"/>
                  </a:cubicBezTo>
                  <a:lnTo>
                    <a:pt x="8" y="33"/>
                  </a:lnTo>
                  <a:cubicBezTo>
                    <a:pt x="4" y="32"/>
                    <a:pt x="1" y="27"/>
                    <a:pt x="1" y="20"/>
                  </a:cubicBezTo>
                  <a:cubicBezTo>
                    <a:pt x="1" y="9"/>
                    <a:pt x="8" y="0"/>
                    <a:pt x="17" y="0"/>
                  </a:cubicBezTo>
                  <a:cubicBezTo>
                    <a:pt x="26" y="0"/>
                    <a:pt x="34" y="8"/>
                    <a:pt x="34" y="20"/>
                  </a:cubicBezTo>
                  <a:close/>
                  <a:moveTo>
                    <a:pt x="25" y="20"/>
                  </a:moveTo>
                  <a:cubicBezTo>
                    <a:pt x="25" y="11"/>
                    <a:pt x="21" y="5"/>
                    <a:pt x="17" y="5"/>
                  </a:cubicBezTo>
                  <a:cubicBezTo>
                    <a:pt x="13" y="5"/>
                    <a:pt x="10" y="11"/>
                    <a:pt x="10" y="20"/>
                  </a:cubicBezTo>
                  <a:cubicBezTo>
                    <a:pt x="10" y="28"/>
                    <a:pt x="13" y="34"/>
                    <a:pt x="17" y="34"/>
                  </a:cubicBezTo>
                  <a:cubicBezTo>
                    <a:pt x="21" y="34"/>
                    <a:pt x="25" y="28"/>
                    <a:pt x="25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16"/>
            <p:cNvSpPr>
              <a:spLocks/>
            </p:cNvSpPr>
            <p:nvPr/>
          </p:nvSpPr>
          <p:spPr bwMode="auto">
            <a:xfrm flipV="1">
              <a:off x="3797" y="364"/>
              <a:ext cx="40" cy="51"/>
            </a:xfrm>
            <a:custGeom>
              <a:avLst/>
              <a:gdLst>
                <a:gd name="T0" fmla="*/ 39909 w 30"/>
                <a:gd name="T1" fmla="*/ 58838 h 38"/>
                <a:gd name="T2" fmla="*/ 0 w 30"/>
                <a:gd name="T3" fmla="*/ 58838 h 38"/>
                <a:gd name="T4" fmla="*/ 4905 w 30"/>
                <a:gd name="T5" fmla="*/ 51197 h 38"/>
                <a:gd name="T6" fmla="*/ 23967 w 30"/>
                <a:gd name="T7" fmla="*/ 51197 h 38"/>
                <a:gd name="T8" fmla="*/ 17143 w 30"/>
                <a:gd name="T9" fmla="*/ 41353 h 38"/>
                <a:gd name="T10" fmla="*/ 17143 w 30"/>
                <a:gd name="T11" fmla="*/ 0 h 38"/>
                <a:gd name="T12" fmla="*/ 27561 w 30"/>
                <a:gd name="T13" fmla="*/ 12746 h 38"/>
                <a:gd name="T14" fmla="*/ 27561 w 30"/>
                <a:gd name="T15" fmla="*/ 43840 h 38"/>
                <a:gd name="T16" fmla="*/ 35233 w 30"/>
                <a:gd name="T17" fmla="*/ 51197 h 38"/>
                <a:gd name="T18" fmla="*/ 35233 w 30"/>
                <a:gd name="T19" fmla="*/ 51197 h 38"/>
                <a:gd name="T20" fmla="*/ 39909 w 30"/>
                <a:gd name="T21" fmla="*/ 58838 h 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38"/>
                <a:gd name="T35" fmla="*/ 30 w 30"/>
                <a:gd name="T36" fmla="*/ 38 h 3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38">
                  <a:moveTo>
                    <a:pt x="30" y="38"/>
                  </a:moveTo>
                  <a:lnTo>
                    <a:pt x="0" y="38"/>
                  </a:lnTo>
                  <a:cubicBezTo>
                    <a:pt x="0" y="37"/>
                    <a:pt x="1" y="33"/>
                    <a:pt x="4" y="33"/>
                  </a:cubicBezTo>
                  <a:lnTo>
                    <a:pt x="18" y="33"/>
                  </a:lnTo>
                  <a:cubicBezTo>
                    <a:pt x="16" y="32"/>
                    <a:pt x="13" y="30"/>
                    <a:pt x="13" y="27"/>
                  </a:cubicBezTo>
                  <a:lnTo>
                    <a:pt x="13" y="0"/>
                  </a:lnTo>
                  <a:cubicBezTo>
                    <a:pt x="17" y="0"/>
                    <a:pt x="21" y="3"/>
                    <a:pt x="21" y="8"/>
                  </a:cubicBezTo>
                  <a:lnTo>
                    <a:pt x="21" y="28"/>
                  </a:lnTo>
                  <a:cubicBezTo>
                    <a:pt x="21" y="31"/>
                    <a:pt x="24" y="33"/>
                    <a:pt x="26" y="33"/>
                  </a:cubicBezTo>
                  <a:cubicBezTo>
                    <a:pt x="29" y="33"/>
                    <a:pt x="30" y="36"/>
                    <a:pt x="30" y="3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17"/>
            <p:cNvSpPr>
              <a:spLocks/>
            </p:cNvSpPr>
            <p:nvPr/>
          </p:nvSpPr>
          <p:spPr bwMode="auto">
            <a:xfrm flipV="1">
              <a:off x="3843" y="363"/>
              <a:ext cx="23" cy="49"/>
            </a:xfrm>
            <a:custGeom>
              <a:avLst/>
              <a:gdLst>
                <a:gd name="T0" fmla="*/ 32534 w 17"/>
                <a:gd name="T1" fmla="*/ 7110 h 37"/>
                <a:gd name="T2" fmla="*/ 32534 w 17"/>
                <a:gd name="T3" fmla="*/ 28963 h 37"/>
                <a:gd name="T4" fmla="*/ 9352 w 17"/>
                <a:gd name="T5" fmla="*/ 41657 h 37"/>
                <a:gd name="T6" fmla="*/ 0 w 17"/>
                <a:gd name="T7" fmla="*/ 41486 h 37"/>
                <a:gd name="T8" fmla="*/ 6912 w 17"/>
                <a:gd name="T9" fmla="*/ 35859 h 37"/>
                <a:gd name="T10" fmla="*/ 15590 w 17"/>
                <a:gd name="T11" fmla="*/ 28963 h 37"/>
                <a:gd name="T12" fmla="*/ 15590 w 17"/>
                <a:gd name="T13" fmla="*/ 5831 h 37"/>
                <a:gd name="T14" fmla="*/ 6912 w 17"/>
                <a:gd name="T15" fmla="*/ 5831 h 37"/>
                <a:gd name="T16" fmla="*/ 0 w 17"/>
                <a:gd name="T17" fmla="*/ 0 h 37"/>
                <a:gd name="T18" fmla="*/ 21092 w 17"/>
                <a:gd name="T19" fmla="*/ 0 h 37"/>
                <a:gd name="T20" fmla="*/ 32534 w 17"/>
                <a:gd name="T21" fmla="*/ 7110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"/>
                <a:gd name="T34" fmla="*/ 0 h 37"/>
                <a:gd name="T35" fmla="*/ 17 w 17"/>
                <a:gd name="T36" fmla="*/ 37 h 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" h="37">
                  <a:moveTo>
                    <a:pt x="17" y="6"/>
                  </a:moveTo>
                  <a:lnTo>
                    <a:pt x="17" y="26"/>
                  </a:lnTo>
                  <a:cubicBezTo>
                    <a:pt x="17" y="33"/>
                    <a:pt x="11" y="37"/>
                    <a:pt x="5" y="37"/>
                  </a:cubicBezTo>
                  <a:cubicBezTo>
                    <a:pt x="4" y="37"/>
                    <a:pt x="1" y="37"/>
                    <a:pt x="0" y="36"/>
                  </a:cubicBezTo>
                  <a:cubicBezTo>
                    <a:pt x="1" y="34"/>
                    <a:pt x="3" y="32"/>
                    <a:pt x="4" y="32"/>
                  </a:cubicBezTo>
                  <a:cubicBezTo>
                    <a:pt x="6" y="32"/>
                    <a:pt x="8" y="29"/>
                    <a:pt x="8" y="26"/>
                  </a:cubicBezTo>
                  <a:lnTo>
                    <a:pt x="8" y="5"/>
                  </a:lnTo>
                  <a:lnTo>
                    <a:pt x="4" y="5"/>
                  </a:lnTo>
                  <a:cubicBezTo>
                    <a:pt x="2" y="5"/>
                    <a:pt x="0" y="2"/>
                    <a:pt x="0" y="0"/>
                  </a:cubicBezTo>
                  <a:lnTo>
                    <a:pt x="11" y="0"/>
                  </a:lnTo>
                  <a:cubicBezTo>
                    <a:pt x="15" y="0"/>
                    <a:pt x="17" y="3"/>
                    <a:pt x="17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18"/>
            <p:cNvSpPr>
              <a:spLocks noEditPoints="1"/>
            </p:cNvSpPr>
            <p:nvPr/>
          </p:nvSpPr>
          <p:spPr bwMode="auto">
            <a:xfrm flipV="1">
              <a:off x="3875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555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0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7" name="Freeform 119"/>
            <p:cNvSpPr>
              <a:spLocks/>
            </p:cNvSpPr>
            <p:nvPr/>
          </p:nvSpPr>
          <p:spPr bwMode="auto">
            <a:xfrm flipV="1">
              <a:off x="3923" y="348"/>
              <a:ext cx="35" cy="67"/>
            </a:xfrm>
            <a:custGeom>
              <a:avLst/>
              <a:gdLst>
                <a:gd name="T0" fmla="*/ 43370 w 26"/>
                <a:gd name="T1" fmla="*/ 42277 h 50"/>
                <a:gd name="T2" fmla="*/ 29465 w 26"/>
                <a:gd name="T3" fmla="*/ 56651 h 50"/>
                <a:gd name="T4" fmla="*/ 13728 w 26"/>
                <a:gd name="T5" fmla="*/ 56651 h 50"/>
                <a:gd name="T6" fmla="*/ 13728 w 26"/>
                <a:gd name="T7" fmla="*/ 75707 h 50"/>
                <a:gd name="T8" fmla="*/ 0 w 26"/>
                <a:gd name="T9" fmla="*/ 62185 h 50"/>
                <a:gd name="T10" fmla="*/ 0 w 26"/>
                <a:gd name="T11" fmla="*/ 49560 h 50"/>
                <a:gd name="T12" fmla="*/ 18480 w 26"/>
                <a:gd name="T13" fmla="*/ 49560 h 50"/>
                <a:gd name="T14" fmla="*/ 29786 w 26"/>
                <a:gd name="T15" fmla="*/ 39135 h 50"/>
                <a:gd name="T16" fmla="*/ 13728 w 26"/>
                <a:gd name="T17" fmla="*/ 9786 h 50"/>
                <a:gd name="T18" fmla="*/ 6320 w 26"/>
                <a:gd name="T19" fmla="*/ 0 h 50"/>
                <a:gd name="T20" fmla="*/ 43370 w 26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"/>
                <a:gd name="T34" fmla="*/ 0 h 50"/>
                <a:gd name="T35" fmla="*/ 26 w 26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" h="50">
                  <a:moveTo>
                    <a:pt x="26" y="28"/>
                  </a:moveTo>
                  <a:cubicBezTo>
                    <a:pt x="26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5" y="6"/>
                    <a:pt x="4" y="4"/>
                    <a:pt x="4" y="0"/>
                  </a:cubicBezTo>
                  <a:cubicBezTo>
                    <a:pt x="12" y="1"/>
                    <a:pt x="26" y="11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Freeform 120"/>
            <p:cNvSpPr>
              <a:spLocks noEditPoints="1"/>
            </p:cNvSpPr>
            <p:nvPr/>
          </p:nvSpPr>
          <p:spPr bwMode="auto">
            <a:xfrm flipV="1">
              <a:off x="3990" y="363"/>
              <a:ext cx="40" cy="52"/>
            </a:xfrm>
            <a:custGeom>
              <a:avLst/>
              <a:gdLst>
                <a:gd name="T0" fmla="*/ 39909 w 30"/>
                <a:gd name="T1" fmla="*/ 11276 h 39"/>
                <a:gd name="T2" fmla="*/ 39909 w 30"/>
                <a:gd name="T3" fmla="*/ 29129 h 39"/>
                <a:gd name="T4" fmla="*/ 15035 w 30"/>
                <a:gd name="T5" fmla="*/ 51785 h 39"/>
                <a:gd name="T6" fmla="*/ 0 w 30"/>
                <a:gd name="T7" fmla="*/ 48997 h 39"/>
                <a:gd name="T8" fmla="*/ 4905 w 30"/>
                <a:gd name="T9" fmla="*/ 44231 h 39"/>
                <a:gd name="T10" fmla="*/ 6540 w 30"/>
                <a:gd name="T11" fmla="*/ 44231 h 39"/>
                <a:gd name="T12" fmla="*/ 12857 w 30"/>
                <a:gd name="T13" fmla="*/ 45179 h 39"/>
                <a:gd name="T14" fmla="*/ 27561 w 30"/>
                <a:gd name="T15" fmla="*/ 27561 h 39"/>
                <a:gd name="T16" fmla="*/ 27561 w 30"/>
                <a:gd name="T17" fmla="*/ 0 h 39"/>
                <a:gd name="T18" fmla="*/ 39909 w 30"/>
                <a:gd name="T19" fmla="*/ 11276 h 39"/>
                <a:gd name="T20" fmla="*/ 12857 w 30"/>
                <a:gd name="T21" fmla="*/ 11276 h 39"/>
                <a:gd name="T22" fmla="*/ 12857 w 30"/>
                <a:gd name="T23" fmla="*/ 23967 h 39"/>
                <a:gd name="T24" fmla="*/ 8457 w 30"/>
                <a:gd name="T25" fmla="*/ 30476 h 39"/>
                <a:gd name="T26" fmla="*/ 2759 w 30"/>
                <a:gd name="T27" fmla="*/ 23967 h 39"/>
                <a:gd name="T28" fmla="*/ 2759 w 30"/>
                <a:gd name="T29" fmla="*/ 0 h 39"/>
                <a:gd name="T30" fmla="*/ 12857 w 30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"/>
                <a:gd name="T49" fmla="*/ 0 h 39"/>
                <a:gd name="T50" fmla="*/ 30 w 30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" h="39">
                  <a:moveTo>
                    <a:pt x="30" y="8"/>
                  </a:moveTo>
                  <a:lnTo>
                    <a:pt x="30" y="22"/>
                  </a:lnTo>
                  <a:cubicBezTo>
                    <a:pt x="30" y="32"/>
                    <a:pt x="22" y="39"/>
                    <a:pt x="11" y="39"/>
                  </a:cubicBezTo>
                  <a:cubicBezTo>
                    <a:pt x="7" y="39"/>
                    <a:pt x="3" y="38"/>
                    <a:pt x="0" y="37"/>
                  </a:cubicBezTo>
                  <a:cubicBezTo>
                    <a:pt x="1" y="35"/>
                    <a:pt x="3" y="33"/>
                    <a:pt x="4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4"/>
                    <a:pt x="8" y="34"/>
                    <a:pt x="10" y="34"/>
                  </a:cubicBezTo>
                  <a:cubicBezTo>
                    <a:pt x="18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6" y="0"/>
                    <a:pt x="30" y="3"/>
                    <a:pt x="30" y="8"/>
                  </a:cubicBezTo>
                  <a:close/>
                  <a:moveTo>
                    <a:pt x="10" y="8"/>
                  </a:moveTo>
                  <a:lnTo>
                    <a:pt x="10" y="18"/>
                  </a:lnTo>
                  <a:cubicBezTo>
                    <a:pt x="10" y="21"/>
                    <a:pt x="8" y="23"/>
                    <a:pt x="6" y="23"/>
                  </a:cubicBezTo>
                  <a:cubicBezTo>
                    <a:pt x="4" y="23"/>
                    <a:pt x="2" y="21"/>
                    <a:pt x="2" y="18"/>
                  </a:cubicBezTo>
                  <a:lnTo>
                    <a:pt x="2" y="0"/>
                  </a:lnTo>
                  <a:cubicBezTo>
                    <a:pt x="6" y="0"/>
                    <a:pt x="10" y="3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9" name="Freeform 121"/>
            <p:cNvSpPr>
              <a:spLocks/>
            </p:cNvSpPr>
            <p:nvPr/>
          </p:nvSpPr>
          <p:spPr bwMode="auto">
            <a:xfrm flipV="1">
              <a:off x="4039" y="363"/>
              <a:ext cx="42" cy="51"/>
            </a:xfrm>
            <a:custGeom>
              <a:avLst/>
              <a:gdLst>
                <a:gd name="T0" fmla="*/ 28215 w 32"/>
                <a:gd name="T1" fmla="*/ 36619 h 38"/>
                <a:gd name="T2" fmla="*/ 16295 w 32"/>
                <a:gd name="T3" fmla="*/ 58838 h 38"/>
                <a:gd name="T4" fmla="*/ 9459 w 32"/>
                <a:gd name="T5" fmla="*/ 55500 h 38"/>
                <a:gd name="T6" fmla="*/ 13578 w 32"/>
                <a:gd name="T7" fmla="*/ 51197 h 38"/>
                <a:gd name="T8" fmla="*/ 14645 w 32"/>
                <a:gd name="T9" fmla="*/ 51197 h 38"/>
                <a:gd name="T10" fmla="*/ 15281 w 32"/>
                <a:gd name="T11" fmla="*/ 51197 h 38"/>
                <a:gd name="T12" fmla="*/ 20181 w 32"/>
                <a:gd name="T13" fmla="*/ 34738 h 38"/>
                <a:gd name="T14" fmla="*/ 11158 w 32"/>
                <a:gd name="T15" fmla="*/ 7502 h 38"/>
                <a:gd name="T16" fmla="*/ 9459 w 32"/>
                <a:gd name="T17" fmla="*/ 7502 h 38"/>
                <a:gd name="T18" fmla="*/ 7207 w 32"/>
                <a:gd name="T19" fmla="*/ 58838 h 38"/>
                <a:gd name="T20" fmla="*/ 0 w 32"/>
                <a:gd name="T21" fmla="*/ 49147 h 38"/>
                <a:gd name="T22" fmla="*/ 0 w 32"/>
                <a:gd name="T23" fmla="*/ 46622 h 38"/>
                <a:gd name="T24" fmla="*/ 3760 w 32"/>
                <a:gd name="T25" fmla="*/ 0 h 38"/>
                <a:gd name="T26" fmla="*/ 8501 w 32"/>
                <a:gd name="T27" fmla="*/ 0 h 38"/>
                <a:gd name="T28" fmla="*/ 28215 w 32"/>
                <a:gd name="T29" fmla="*/ 36619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38"/>
                <a:gd name="T47" fmla="*/ 32 w 32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38">
                  <a:moveTo>
                    <a:pt x="32" y="23"/>
                  </a:moveTo>
                  <a:cubicBezTo>
                    <a:pt x="32" y="32"/>
                    <a:pt x="26" y="38"/>
                    <a:pt x="18" y="38"/>
                  </a:cubicBezTo>
                  <a:cubicBezTo>
                    <a:pt x="17" y="38"/>
                    <a:pt x="13" y="38"/>
                    <a:pt x="11" y="36"/>
                  </a:cubicBezTo>
                  <a:cubicBezTo>
                    <a:pt x="12" y="34"/>
                    <a:pt x="13" y="33"/>
                    <a:pt x="15" y="33"/>
                  </a:cubicBezTo>
                  <a:cubicBezTo>
                    <a:pt x="15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3"/>
                  </a:cubicBezTo>
                  <a:cubicBezTo>
                    <a:pt x="20" y="33"/>
                    <a:pt x="23" y="29"/>
                    <a:pt x="23" y="22"/>
                  </a:cubicBezTo>
                  <a:cubicBezTo>
                    <a:pt x="23" y="13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8"/>
                  </a:lnTo>
                  <a:cubicBezTo>
                    <a:pt x="3" y="38"/>
                    <a:pt x="0" y="34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5" y="0"/>
                    <a:pt x="32" y="11"/>
                    <a:pt x="32" y="2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0" name="Freeform 122"/>
            <p:cNvSpPr>
              <a:spLocks/>
            </p:cNvSpPr>
            <p:nvPr/>
          </p:nvSpPr>
          <p:spPr bwMode="auto">
            <a:xfrm flipV="1">
              <a:off x="4089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3967 w 27"/>
                <a:gd name="T3" fmla="*/ 56651 h 50"/>
                <a:gd name="T4" fmla="*/ 11627 w 27"/>
                <a:gd name="T5" fmla="*/ 56651 h 50"/>
                <a:gd name="T6" fmla="*/ 11627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627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8" y="38"/>
                  </a:cubicBezTo>
                  <a:lnTo>
                    <a:pt x="9" y="38"/>
                  </a:lnTo>
                  <a:lnTo>
                    <a:pt x="9" y="50"/>
                  </a:lnTo>
                  <a:cubicBezTo>
                    <a:pt x="5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4" y="33"/>
                    <a:pt x="18" y="33"/>
                    <a:pt x="18" y="26"/>
                  </a:cubicBezTo>
                  <a:cubicBezTo>
                    <a:pt x="18" y="17"/>
                    <a:pt x="13" y="10"/>
                    <a:pt x="9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123"/>
            <p:cNvSpPr>
              <a:spLocks/>
            </p:cNvSpPr>
            <p:nvPr/>
          </p:nvSpPr>
          <p:spPr bwMode="auto">
            <a:xfrm flipV="1">
              <a:off x="4134" y="363"/>
              <a:ext cx="12" cy="52"/>
            </a:xfrm>
            <a:custGeom>
              <a:avLst/>
              <a:gdLst>
                <a:gd name="T0" fmla="*/ 11627 w 9"/>
                <a:gd name="T1" fmla="*/ 11276 h 39"/>
                <a:gd name="T2" fmla="*/ 11627 w 9"/>
                <a:gd name="T3" fmla="*/ 45179 h 39"/>
                <a:gd name="T4" fmla="*/ 6540 w 9"/>
                <a:gd name="T5" fmla="*/ 51785 h 39"/>
                <a:gd name="T6" fmla="*/ 0 w 9"/>
                <a:gd name="T7" fmla="*/ 45179 h 39"/>
                <a:gd name="T8" fmla="*/ 0 w 9"/>
                <a:gd name="T9" fmla="*/ 0 h 39"/>
                <a:gd name="T10" fmla="*/ 11627 w 9"/>
                <a:gd name="T11" fmla="*/ 11276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39"/>
                <a:gd name="T20" fmla="*/ 9 w 9"/>
                <a:gd name="T21" fmla="*/ 39 h 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39">
                  <a:moveTo>
                    <a:pt x="9" y="8"/>
                  </a:moveTo>
                  <a:lnTo>
                    <a:pt x="9" y="34"/>
                  </a:lnTo>
                  <a:cubicBezTo>
                    <a:pt x="9" y="37"/>
                    <a:pt x="7" y="39"/>
                    <a:pt x="5" y="39"/>
                  </a:cubicBezTo>
                  <a:cubicBezTo>
                    <a:pt x="2" y="39"/>
                    <a:pt x="0" y="37"/>
                    <a:pt x="0" y="34"/>
                  </a:cubicBezTo>
                  <a:lnTo>
                    <a:pt x="0" y="0"/>
                  </a:lnTo>
                  <a:cubicBezTo>
                    <a:pt x="6" y="0"/>
                    <a:pt x="9" y="5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124"/>
            <p:cNvSpPr>
              <a:spLocks/>
            </p:cNvSpPr>
            <p:nvPr/>
          </p:nvSpPr>
          <p:spPr bwMode="auto">
            <a:xfrm flipV="1">
              <a:off x="4154" y="364"/>
              <a:ext cx="46" cy="66"/>
            </a:xfrm>
            <a:custGeom>
              <a:avLst/>
              <a:gdLst>
                <a:gd name="T0" fmla="*/ 64729 w 34"/>
                <a:gd name="T1" fmla="*/ 59488 h 49"/>
                <a:gd name="T2" fmla="*/ 36761 w 34"/>
                <a:gd name="T3" fmla="*/ 84254 h 49"/>
                <a:gd name="T4" fmla="*/ 0 w 34"/>
                <a:gd name="T5" fmla="*/ 84254 h 49"/>
                <a:gd name="T6" fmla="*/ 9352 w 34"/>
                <a:gd name="T7" fmla="*/ 74395 h 49"/>
                <a:gd name="T8" fmla="*/ 15590 w 34"/>
                <a:gd name="T9" fmla="*/ 74395 h 49"/>
                <a:gd name="T10" fmla="*/ 5109 w 34"/>
                <a:gd name="T11" fmla="*/ 55233 h 49"/>
                <a:gd name="T12" fmla="*/ 5109 w 34"/>
                <a:gd name="T13" fmla="*/ 0 h 49"/>
                <a:gd name="T14" fmla="*/ 21092 w 34"/>
                <a:gd name="T15" fmla="*/ 13977 h 49"/>
                <a:gd name="T16" fmla="*/ 21092 w 34"/>
                <a:gd name="T17" fmla="*/ 58799 h 49"/>
                <a:gd name="T18" fmla="*/ 32534 w 34"/>
                <a:gd name="T19" fmla="*/ 74395 h 49"/>
                <a:gd name="T20" fmla="*/ 47843 w 34"/>
                <a:gd name="T21" fmla="*/ 58799 h 49"/>
                <a:gd name="T22" fmla="*/ 32916 w 34"/>
                <a:gd name="T23" fmla="*/ 32789 h 49"/>
                <a:gd name="T24" fmla="*/ 27171 w 34"/>
                <a:gd name="T25" fmla="*/ 22304 h 49"/>
                <a:gd name="T26" fmla="*/ 27171 w 34"/>
                <a:gd name="T27" fmla="*/ 22304 h 49"/>
                <a:gd name="T28" fmla="*/ 64729 w 34"/>
                <a:gd name="T29" fmla="*/ 59488 h 4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"/>
                <a:gd name="T46" fmla="*/ 0 h 49"/>
                <a:gd name="T47" fmla="*/ 34 w 34"/>
                <a:gd name="T48" fmla="*/ 49 h 4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" h="49">
                  <a:moveTo>
                    <a:pt x="34" y="35"/>
                  </a:moveTo>
                  <a:cubicBezTo>
                    <a:pt x="34" y="43"/>
                    <a:pt x="28" y="49"/>
                    <a:pt x="19" y="49"/>
                  </a:cubicBezTo>
                  <a:lnTo>
                    <a:pt x="0" y="49"/>
                  </a:lnTo>
                  <a:cubicBezTo>
                    <a:pt x="0" y="47"/>
                    <a:pt x="2" y="44"/>
                    <a:pt x="5" y="44"/>
                  </a:cubicBezTo>
                  <a:lnTo>
                    <a:pt x="8" y="44"/>
                  </a:lnTo>
                  <a:cubicBezTo>
                    <a:pt x="5" y="43"/>
                    <a:pt x="3" y="39"/>
                    <a:pt x="3" y="33"/>
                  </a:cubicBezTo>
                  <a:lnTo>
                    <a:pt x="3" y="0"/>
                  </a:lnTo>
                  <a:cubicBezTo>
                    <a:pt x="8" y="0"/>
                    <a:pt x="11" y="4"/>
                    <a:pt x="11" y="8"/>
                  </a:cubicBezTo>
                  <a:lnTo>
                    <a:pt x="11" y="34"/>
                  </a:lnTo>
                  <a:cubicBezTo>
                    <a:pt x="11" y="42"/>
                    <a:pt x="14" y="44"/>
                    <a:pt x="17" y="44"/>
                  </a:cubicBezTo>
                  <a:cubicBezTo>
                    <a:pt x="21" y="44"/>
                    <a:pt x="25" y="41"/>
                    <a:pt x="25" y="34"/>
                  </a:cubicBezTo>
                  <a:cubicBezTo>
                    <a:pt x="25" y="25"/>
                    <a:pt x="21" y="21"/>
                    <a:pt x="18" y="19"/>
                  </a:cubicBezTo>
                  <a:cubicBezTo>
                    <a:pt x="15" y="18"/>
                    <a:pt x="14" y="16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3" y="14"/>
                    <a:pt x="34" y="22"/>
                    <a:pt x="34" y="3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3" name="Freeform 125"/>
            <p:cNvSpPr>
              <a:spLocks/>
            </p:cNvSpPr>
            <p:nvPr/>
          </p:nvSpPr>
          <p:spPr bwMode="auto">
            <a:xfrm flipV="1">
              <a:off x="4209" y="363"/>
              <a:ext cx="41" cy="51"/>
            </a:xfrm>
            <a:custGeom>
              <a:avLst/>
              <a:gdLst>
                <a:gd name="T0" fmla="*/ 33320 w 31"/>
                <a:gd name="T1" fmla="*/ 30812 h 38"/>
                <a:gd name="T2" fmla="*/ 15995 w 31"/>
                <a:gd name="T3" fmla="*/ 58838 h 38"/>
                <a:gd name="T4" fmla="*/ 0 w 31"/>
                <a:gd name="T5" fmla="*/ 36619 h 38"/>
                <a:gd name="T6" fmla="*/ 9144 w 31"/>
                <a:gd name="T7" fmla="*/ 18135 h 38"/>
                <a:gd name="T8" fmla="*/ 10015 w 31"/>
                <a:gd name="T9" fmla="*/ 18135 h 38"/>
                <a:gd name="T10" fmla="*/ 13349 w 31"/>
                <a:gd name="T11" fmla="*/ 22958 h 38"/>
                <a:gd name="T12" fmla="*/ 9144 w 31"/>
                <a:gd name="T13" fmla="*/ 37800 h 38"/>
                <a:gd name="T14" fmla="*/ 15995 w 31"/>
                <a:gd name="T15" fmla="*/ 51197 h 38"/>
                <a:gd name="T16" fmla="*/ 23350 w 31"/>
                <a:gd name="T17" fmla="*/ 30812 h 38"/>
                <a:gd name="T18" fmla="*/ 13246 w 31"/>
                <a:gd name="T19" fmla="*/ 7502 h 38"/>
                <a:gd name="T20" fmla="*/ 7572 w 31"/>
                <a:gd name="T21" fmla="*/ 9497 h 38"/>
                <a:gd name="T22" fmla="*/ 6914 w 31"/>
                <a:gd name="T23" fmla="*/ 9497 h 38"/>
                <a:gd name="T24" fmla="*/ 2475 w 31"/>
                <a:gd name="T25" fmla="*/ 4165 h 38"/>
                <a:gd name="T26" fmla="*/ 13349 w 31"/>
                <a:gd name="T27" fmla="*/ 0 h 38"/>
                <a:gd name="T28" fmla="*/ 33320 w 31"/>
                <a:gd name="T29" fmla="*/ 30812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"/>
                <a:gd name="T46" fmla="*/ 0 h 38"/>
                <a:gd name="T47" fmla="*/ 31 w 31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" h="38">
                  <a:moveTo>
                    <a:pt x="31" y="20"/>
                  </a:moveTo>
                  <a:cubicBezTo>
                    <a:pt x="31" y="31"/>
                    <a:pt x="26" y="38"/>
                    <a:pt x="15" y="38"/>
                  </a:cubicBezTo>
                  <a:cubicBezTo>
                    <a:pt x="5" y="38"/>
                    <a:pt x="0" y="32"/>
                    <a:pt x="0" y="23"/>
                  </a:cubicBezTo>
                  <a:cubicBezTo>
                    <a:pt x="0" y="18"/>
                    <a:pt x="4" y="13"/>
                    <a:pt x="8" y="12"/>
                  </a:cubicBezTo>
                  <a:cubicBezTo>
                    <a:pt x="8" y="12"/>
                    <a:pt x="8" y="12"/>
                    <a:pt x="9" y="12"/>
                  </a:cubicBezTo>
                  <a:cubicBezTo>
                    <a:pt x="10" y="12"/>
                    <a:pt x="12" y="13"/>
                    <a:pt x="13" y="15"/>
                  </a:cubicBezTo>
                  <a:cubicBezTo>
                    <a:pt x="10" y="16"/>
                    <a:pt x="8" y="19"/>
                    <a:pt x="8" y="24"/>
                  </a:cubicBezTo>
                  <a:cubicBezTo>
                    <a:pt x="8" y="31"/>
                    <a:pt x="11" y="33"/>
                    <a:pt x="15" y="33"/>
                  </a:cubicBezTo>
                  <a:cubicBezTo>
                    <a:pt x="18" y="33"/>
                    <a:pt x="22" y="29"/>
                    <a:pt x="22" y="20"/>
                  </a:cubicBezTo>
                  <a:cubicBezTo>
                    <a:pt x="22" y="11"/>
                    <a:pt x="18" y="5"/>
                    <a:pt x="12" y="5"/>
                  </a:cubicBezTo>
                  <a:cubicBezTo>
                    <a:pt x="10" y="5"/>
                    <a:pt x="9" y="5"/>
                    <a:pt x="7" y="6"/>
                  </a:cubicBezTo>
                  <a:cubicBezTo>
                    <a:pt x="7" y="6"/>
                    <a:pt x="7" y="6"/>
                    <a:pt x="6" y="6"/>
                  </a:cubicBezTo>
                  <a:cubicBezTo>
                    <a:pt x="5" y="6"/>
                    <a:pt x="3" y="5"/>
                    <a:pt x="2" y="3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3" y="0"/>
                    <a:pt x="31" y="7"/>
                    <a:pt x="31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4" name="Freeform 126"/>
            <p:cNvSpPr>
              <a:spLocks noEditPoints="1"/>
            </p:cNvSpPr>
            <p:nvPr/>
          </p:nvSpPr>
          <p:spPr bwMode="auto">
            <a:xfrm flipV="1">
              <a:off x="4259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797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27"/>
            <p:cNvSpPr>
              <a:spLocks/>
            </p:cNvSpPr>
            <p:nvPr/>
          </p:nvSpPr>
          <p:spPr bwMode="auto">
            <a:xfrm flipV="1">
              <a:off x="376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8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8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28"/>
            <p:cNvSpPr>
              <a:spLocks/>
            </p:cNvSpPr>
            <p:nvPr/>
          </p:nvSpPr>
          <p:spPr bwMode="auto">
            <a:xfrm flipV="1">
              <a:off x="3810" y="675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8559 w 22"/>
                <a:gd name="T5" fmla="*/ 33320 h 31"/>
                <a:gd name="T6" fmla="*/ 0 w 22"/>
                <a:gd name="T7" fmla="*/ 30882 h 31"/>
                <a:gd name="T8" fmla="*/ 2353 w 22"/>
                <a:gd name="T9" fmla="*/ 30644 h 31"/>
                <a:gd name="T10" fmla="*/ 3102 w 22"/>
                <a:gd name="T11" fmla="*/ 30644 h 31"/>
                <a:gd name="T12" fmla="*/ 7105 w 22"/>
                <a:gd name="T13" fmla="*/ 30882 h 31"/>
                <a:gd name="T14" fmla="*/ 16671 w 22"/>
                <a:gd name="T15" fmla="*/ 17655 h 31"/>
                <a:gd name="T16" fmla="*/ 16671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6" y="31"/>
                    <a:pt x="8" y="31"/>
                  </a:cubicBezTo>
                  <a:cubicBezTo>
                    <a:pt x="5" y="31"/>
                    <a:pt x="1" y="30"/>
                    <a:pt x="0" y="29"/>
                  </a:cubicBezTo>
                  <a:cubicBezTo>
                    <a:pt x="0" y="28"/>
                    <a:pt x="1" y="28"/>
                    <a:pt x="2" y="28"/>
                  </a:cubicBezTo>
                  <a:cubicBezTo>
                    <a:pt x="2" y="28"/>
                    <a:pt x="3" y="28"/>
                    <a:pt x="3" y="28"/>
                  </a:cubicBezTo>
                  <a:cubicBezTo>
                    <a:pt x="4" y="28"/>
                    <a:pt x="5" y="29"/>
                    <a:pt x="7" y="29"/>
                  </a:cubicBezTo>
                  <a:cubicBezTo>
                    <a:pt x="14" y="29"/>
                    <a:pt x="17" y="24"/>
                    <a:pt x="17" y="17"/>
                  </a:cubicBezTo>
                  <a:lnTo>
                    <a:pt x="17" y="0"/>
                  </a:lnTo>
                  <a:cubicBezTo>
                    <a:pt x="19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29"/>
            <p:cNvSpPr>
              <a:spLocks/>
            </p:cNvSpPr>
            <p:nvPr/>
          </p:nvSpPr>
          <p:spPr bwMode="auto">
            <a:xfrm flipV="1">
              <a:off x="3850" y="675"/>
              <a:ext cx="5" cy="41"/>
            </a:xfrm>
            <a:custGeom>
              <a:avLst/>
              <a:gdLst>
                <a:gd name="T0" fmla="*/ 890 w 4"/>
                <a:gd name="T1" fmla="*/ 5725 h 31"/>
                <a:gd name="T2" fmla="*/ 890 w 4"/>
                <a:gd name="T3" fmla="*/ 30644 h 31"/>
                <a:gd name="T4" fmla="*/ 570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89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8" name="Freeform 130"/>
            <p:cNvSpPr>
              <a:spLocks noEditPoints="1"/>
            </p:cNvSpPr>
            <p:nvPr/>
          </p:nvSpPr>
          <p:spPr bwMode="auto">
            <a:xfrm flipV="1">
              <a:off x="3866" y="675"/>
              <a:ext cx="37" cy="41"/>
            </a:xfrm>
            <a:custGeom>
              <a:avLst/>
              <a:gdLst>
                <a:gd name="T0" fmla="*/ 17274 w 28"/>
                <a:gd name="T1" fmla="*/ 19881 h 31"/>
                <a:gd name="T2" fmla="*/ 17274 w 28"/>
                <a:gd name="T3" fmla="*/ 33320 h 31"/>
                <a:gd name="T4" fmla="*/ 13072 w 28"/>
                <a:gd name="T5" fmla="*/ 27979 h 31"/>
                <a:gd name="T6" fmla="*/ 13072 w 28"/>
                <a:gd name="T7" fmla="*/ 13246 h 31"/>
                <a:gd name="T8" fmla="*/ 17274 w 28"/>
                <a:gd name="T9" fmla="*/ 19881 h 31"/>
                <a:gd name="T10" fmla="*/ 30163 w 28"/>
                <a:gd name="T11" fmla="*/ 21155 h 31"/>
                <a:gd name="T12" fmla="*/ 30163 w 28"/>
                <a:gd name="T13" fmla="*/ 33320 h 31"/>
                <a:gd name="T14" fmla="*/ 25876 w 28"/>
                <a:gd name="T15" fmla="*/ 27979 h 31"/>
                <a:gd name="T16" fmla="*/ 25876 w 28"/>
                <a:gd name="T17" fmla="*/ 20762 h 31"/>
                <a:gd name="T18" fmla="*/ 8900 w 28"/>
                <a:gd name="T19" fmla="*/ 3273 h 31"/>
                <a:gd name="T20" fmla="*/ 7486 w 28"/>
                <a:gd name="T21" fmla="*/ 3273 h 31"/>
                <a:gd name="T22" fmla="*/ 4287 w 28"/>
                <a:gd name="T23" fmla="*/ 33320 h 31"/>
                <a:gd name="T24" fmla="*/ 0 w 28"/>
                <a:gd name="T25" fmla="*/ 27459 h 31"/>
                <a:gd name="T26" fmla="*/ 0 w 28"/>
                <a:gd name="T27" fmla="*/ 26294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21155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4" y="29"/>
                    <a:pt x="24" y="26"/>
                  </a:cubicBezTo>
                  <a:lnTo>
                    <a:pt x="24" y="19"/>
                  </a:lnTo>
                  <a:cubicBezTo>
                    <a:pt x="24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5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9" name="Freeform 131"/>
            <p:cNvSpPr>
              <a:spLocks/>
            </p:cNvSpPr>
            <p:nvPr/>
          </p:nvSpPr>
          <p:spPr bwMode="auto">
            <a:xfrm flipV="1">
              <a:off x="3912" y="675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1453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7" y="37"/>
                  </a:lnTo>
                  <a:cubicBezTo>
                    <a:pt x="5" y="36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132"/>
            <p:cNvSpPr>
              <a:spLocks/>
            </p:cNvSpPr>
            <p:nvPr/>
          </p:nvSpPr>
          <p:spPr bwMode="auto">
            <a:xfrm flipV="1">
              <a:off x="395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7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7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133"/>
            <p:cNvSpPr>
              <a:spLocks noEditPoints="1"/>
            </p:cNvSpPr>
            <p:nvPr/>
          </p:nvSpPr>
          <p:spPr bwMode="auto">
            <a:xfrm flipV="1">
              <a:off x="3768" y="581"/>
              <a:ext cx="33" cy="40"/>
            </a:xfrm>
            <a:custGeom>
              <a:avLst/>
              <a:gdLst>
                <a:gd name="T0" fmla="*/ 26316 w 25"/>
                <a:gd name="T1" fmla="*/ 3679 h 30"/>
                <a:gd name="T2" fmla="*/ 26316 w 25"/>
                <a:gd name="T3" fmla="*/ 20671 h 30"/>
                <a:gd name="T4" fmla="*/ 9651 w 25"/>
                <a:gd name="T5" fmla="*/ 39909 h 30"/>
                <a:gd name="T6" fmla="*/ 0 w 25"/>
                <a:gd name="T7" fmla="*/ 36748 h 30"/>
                <a:gd name="T8" fmla="*/ 0 w 25"/>
                <a:gd name="T9" fmla="*/ 0 h 30"/>
                <a:gd name="T10" fmla="*/ 22196 w 25"/>
                <a:gd name="T11" fmla="*/ 0 h 30"/>
                <a:gd name="T12" fmla="*/ 26316 w 25"/>
                <a:gd name="T13" fmla="*/ 3679 h 30"/>
                <a:gd name="T14" fmla="*/ 20188 w 25"/>
                <a:gd name="T15" fmla="*/ 3679 h 30"/>
                <a:gd name="T16" fmla="*/ 4196 w 25"/>
                <a:gd name="T17" fmla="*/ 3679 h 30"/>
                <a:gd name="T18" fmla="*/ 4196 w 25"/>
                <a:gd name="T19" fmla="*/ 35639 h 30"/>
                <a:gd name="T20" fmla="*/ 8777 w 25"/>
                <a:gd name="T21" fmla="*/ 36748 h 30"/>
                <a:gd name="T22" fmla="*/ 20188 w 25"/>
                <a:gd name="T23" fmla="*/ 20671 h 30"/>
                <a:gd name="T24" fmla="*/ 20188 w 25"/>
                <a:gd name="T25" fmla="*/ 3679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30"/>
                <a:gd name="T41" fmla="*/ 25 w 25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30">
                  <a:moveTo>
                    <a:pt x="25" y="3"/>
                  </a:moveTo>
                  <a:lnTo>
                    <a:pt x="25" y="16"/>
                  </a:lnTo>
                  <a:cubicBezTo>
                    <a:pt x="25" y="25"/>
                    <a:pt x="18" y="30"/>
                    <a:pt x="9" y="30"/>
                  </a:cubicBezTo>
                  <a:cubicBezTo>
                    <a:pt x="5" y="30"/>
                    <a:pt x="1" y="29"/>
                    <a:pt x="0" y="28"/>
                  </a:cubicBezTo>
                  <a:lnTo>
                    <a:pt x="0" y="0"/>
                  </a:lnTo>
                  <a:lnTo>
                    <a:pt x="21" y="0"/>
                  </a:lnTo>
                  <a:cubicBezTo>
                    <a:pt x="22" y="0"/>
                    <a:pt x="24" y="1"/>
                    <a:pt x="25" y="3"/>
                  </a:cubicBezTo>
                  <a:close/>
                  <a:moveTo>
                    <a:pt x="20" y="3"/>
                  </a:moveTo>
                  <a:lnTo>
                    <a:pt x="4" y="3"/>
                  </a:lnTo>
                  <a:lnTo>
                    <a:pt x="4" y="27"/>
                  </a:lnTo>
                  <a:cubicBezTo>
                    <a:pt x="5" y="28"/>
                    <a:pt x="7" y="28"/>
                    <a:pt x="8" y="28"/>
                  </a:cubicBezTo>
                  <a:cubicBezTo>
                    <a:pt x="14" y="28"/>
                    <a:pt x="20" y="24"/>
                    <a:pt x="20" y="1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134"/>
            <p:cNvSpPr>
              <a:spLocks/>
            </p:cNvSpPr>
            <p:nvPr/>
          </p:nvSpPr>
          <p:spPr bwMode="auto">
            <a:xfrm flipV="1">
              <a:off x="3812" y="581"/>
              <a:ext cx="5" cy="24"/>
            </a:xfrm>
            <a:custGeom>
              <a:avLst/>
              <a:gdLst>
                <a:gd name="T0" fmla="*/ 890 w 4"/>
                <a:gd name="T1" fmla="*/ 6540 h 18"/>
                <a:gd name="T2" fmla="*/ 890 w 4"/>
                <a:gd name="T3" fmla="*/ 20047 h 18"/>
                <a:gd name="T4" fmla="*/ 570 w 4"/>
                <a:gd name="T5" fmla="*/ 23967 h 18"/>
                <a:gd name="T6" fmla="*/ 0 w 4"/>
                <a:gd name="T7" fmla="*/ 20047 h 18"/>
                <a:gd name="T8" fmla="*/ 0 w 4"/>
                <a:gd name="T9" fmla="*/ 0 h 18"/>
                <a:gd name="T10" fmla="*/ 890 w 4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18"/>
                <a:gd name="T20" fmla="*/ 4 w 4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18">
                  <a:moveTo>
                    <a:pt x="4" y="5"/>
                  </a:moveTo>
                  <a:lnTo>
                    <a:pt x="4" y="15"/>
                  </a:lnTo>
                  <a:cubicBezTo>
                    <a:pt x="4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135"/>
            <p:cNvSpPr>
              <a:spLocks/>
            </p:cNvSpPr>
            <p:nvPr/>
          </p:nvSpPr>
          <p:spPr bwMode="auto">
            <a:xfrm flipV="1">
              <a:off x="3825" y="581"/>
              <a:ext cx="34" cy="40"/>
            </a:xfrm>
            <a:custGeom>
              <a:avLst/>
              <a:gdLst>
                <a:gd name="T0" fmla="*/ 21143 w 26"/>
                <a:gd name="T1" fmla="*/ 2759 h 30"/>
                <a:gd name="T2" fmla="*/ 19995 w 26"/>
                <a:gd name="T3" fmla="*/ 2759 h 30"/>
                <a:gd name="T4" fmla="*/ 18722 w 26"/>
                <a:gd name="T5" fmla="*/ 3679 h 30"/>
                <a:gd name="T6" fmla="*/ 18722 w 26"/>
                <a:gd name="T7" fmla="*/ 22857 h 30"/>
                <a:gd name="T8" fmla="*/ 7458 w 26"/>
                <a:gd name="T9" fmla="*/ 39909 h 30"/>
                <a:gd name="T10" fmla="*/ 1 w 26"/>
                <a:gd name="T11" fmla="*/ 36748 h 30"/>
                <a:gd name="T12" fmla="*/ 2550 w 26"/>
                <a:gd name="T13" fmla="*/ 35639 h 30"/>
                <a:gd name="T14" fmla="*/ 3335 w 26"/>
                <a:gd name="T15" fmla="*/ 35639 h 30"/>
                <a:gd name="T16" fmla="*/ 6191 w 26"/>
                <a:gd name="T17" fmla="*/ 36748 h 30"/>
                <a:gd name="T18" fmla="*/ 15290 w 26"/>
                <a:gd name="T19" fmla="*/ 20671 h 30"/>
                <a:gd name="T20" fmla="*/ 15290 w 26"/>
                <a:gd name="T21" fmla="*/ 2759 h 30"/>
                <a:gd name="T22" fmla="*/ 2550 w 26"/>
                <a:gd name="T23" fmla="*/ 2759 h 30"/>
                <a:gd name="T24" fmla="*/ 0 w 26"/>
                <a:gd name="T25" fmla="*/ 0 h 30"/>
                <a:gd name="T26" fmla="*/ 19995 w 26"/>
                <a:gd name="T27" fmla="*/ 0 h 30"/>
                <a:gd name="T28" fmla="*/ 21143 w 26"/>
                <a:gd name="T29" fmla="*/ 2759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0"/>
                <a:gd name="T47" fmla="*/ 26 w 26"/>
                <a:gd name="T48" fmla="*/ 30 h 3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0">
                  <a:moveTo>
                    <a:pt x="26" y="2"/>
                  </a:moveTo>
                  <a:lnTo>
                    <a:pt x="24" y="2"/>
                  </a:lnTo>
                  <a:cubicBezTo>
                    <a:pt x="23" y="2"/>
                    <a:pt x="23" y="3"/>
                    <a:pt x="23" y="3"/>
                  </a:cubicBezTo>
                  <a:lnTo>
                    <a:pt x="23" y="17"/>
                  </a:lnTo>
                  <a:cubicBezTo>
                    <a:pt x="23" y="26"/>
                    <a:pt x="17" y="30"/>
                    <a:pt x="9" y="30"/>
                  </a:cubicBezTo>
                  <a:cubicBezTo>
                    <a:pt x="6" y="30"/>
                    <a:pt x="3" y="29"/>
                    <a:pt x="1" y="28"/>
                  </a:cubicBezTo>
                  <a:cubicBezTo>
                    <a:pt x="1" y="27"/>
                    <a:pt x="2" y="27"/>
                    <a:pt x="3" y="27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5" y="27"/>
                    <a:pt x="7" y="28"/>
                    <a:pt x="8" y="28"/>
                  </a:cubicBezTo>
                  <a:cubicBezTo>
                    <a:pt x="15" y="28"/>
                    <a:pt x="18" y="23"/>
                    <a:pt x="18" y="16"/>
                  </a:cubicBezTo>
                  <a:lnTo>
                    <a:pt x="18" y="2"/>
                  </a:lnTo>
                  <a:lnTo>
                    <a:pt x="3" y="2"/>
                  </a:lnTo>
                  <a:cubicBezTo>
                    <a:pt x="2" y="2"/>
                    <a:pt x="0" y="2"/>
                    <a:pt x="0" y="0"/>
                  </a:cubicBezTo>
                  <a:lnTo>
                    <a:pt x="24" y="0"/>
                  </a:lnTo>
                  <a:cubicBezTo>
                    <a:pt x="25" y="0"/>
                    <a:pt x="26" y="1"/>
                    <a:pt x="26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4" name="Freeform 136"/>
            <p:cNvSpPr>
              <a:spLocks noEditPoints="1"/>
            </p:cNvSpPr>
            <p:nvPr/>
          </p:nvSpPr>
          <p:spPr bwMode="auto">
            <a:xfrm flipV="1">
              <a:off x="3867" y="581"/>
              <a:ext cx="37" cy="42"/>
            </a:xfrm>
            <a:custGeom>
              <a:avLst/>
              <a:gdLst>
                <a:gd name="T0" fmla="*/ 17274 w 28"/>
                <a:gd name="T1" fmla="*/ 35961 h 31"/>
                <a:gd name="T2" fmla="*/ 17274 w 28"/>
                <a:gd name="T3" fmla="*/ 61353 h 31"/>
                <a:gd name="T4" fmla="*/ 13072 w 28"/>
                <a:gd name="T5" fmla="*/ 51245 h 31"/>
                <a:gd name="T6" fmla="*/ 13072 w 28"/>
                <a:gd name="T7" fmla="*/ 24413 h 31"/>
                <a:gd name="T8" fmla="*/ 17274 w 28"/>
                <a:gd name="T9" fmla="*/ 35961 h 31"/>
                <a:gd name="T10" fmla="*/ 30163 w 28"/>
                <a:gd name="T11" fmla="*/ 39970 h 31"/>
                <a:gd name="T12" fmla="*/ 30163 w 28"/>
                <a:gd name="T13" fmla="*/ 61353 h 31"/>
                <a:gd name="T14" fmla="*/ 24544 w 28"/>
                <a:gd name="T15" fmla="*/ 51245 h 31"/>
                <a:gd name="T16" fmla="*/ 24544 w 28"/>
                <a:gd name="T17" fmla="*/ 37824 h 31"/>
                <a:gd name="T18" fmla="*/ 8900 w 28"/>
                <a:gd name="T19" fmla="*/ 5348 h 31"/>
                <a:gd name="T20" fmla="*/ 7486 w 28"/>
                <a:gd name="T21" fmla="*/ 5348 h 31"/>
                <a:gd name="T22" fmla="*/ 4287 w 28"/>
                <a:gd name="T23" fmla="*/ 61353 h 31"/>
                <a:gd name="T24" fmla="*/ 0 w 28"/>
                <a:gd name="T25" fmla="*/ 51245 h 31"/>
                <a:gd name="T26" fmla="*/ 0 w 28"/>
                <a:gd name="T27" fmla="*/ 48721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39970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3" y="29"/>
                    <a:pt x="23" y="26"/>
                  </a:cubicBezTo>
                  <a:lnTo>
                    <a:pt x="23" y="19"/>
                  </a:lnTo>
                  <a:cubicBezTo>
                    <a:pt x="23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5" name="Freeform 137"/>
            <p:cNvSpPr>
              <a:spLocks/>
            </p:cNvSpPr>
            <p:nvPr/>
          </p:nvSpPr>
          <p:spPr bwMode="auto">
            <a:xfrm flipV="1">
              <a:off x="3915" y="581"/>
              <a:ext cx="32" cy="42"/>
            </a:xfrm>
            <a:custGeom>
              <a:avLst/>
              <a:gdLst>
                <a:gd name="T0" fmla="*/ 31956 w 24"/>
                <a:gd name="T1" fmla="*/ 9817 h 31"/>
                <a:gd name="T2" fmla="*/ 31956 w 24"/>
                <a:gd name="T3" fmla="*/ 35961 h 31"/>
                <a:gd name="T4" fmla="*/ 11627 w 24"/>
                <a:gd name="T5" fmla="*/ 61353 h 31"/>
                <a:gd name="T6" fmla="*/ 0 w 24"/>
                <a:gd name="T7" fmla="*/ 57711 h 31"/>
                <a:gd name="T8" fmla="*/ 0 w 24"/>
                <a:gd name="T9" fmla="*/ 0 h 31"/>
                <a:gd name="T10" fmla="*/ 4905 w 24"/>
                <a:gd name="T11" fmla="*/ 9817 h 31"/>
                <a:gd name="T12" fmla="*/ 4905 w 24"/>
                <a:gd name="T13" fmla="*/ 54779 h 31"/>
                <a:gd name="T14" fmla="*/ 11276 w 24"/>
                <a:gd name="T15" fmla="*/ 57711 h 31"/>
                <a:gd name="T16" fmla="*/ 24880 w 24"/>
                <a:gd name="T17" fmla="*/ 33424 h 31"/>
                <a:gd name="T18" fmla="*/ 24880 w 24"/>
                <a:gd name="T19" fmla="*/ 0 h 31"/>
                <a:gd name="T20" fmla="*/ 31956 w 24"/>
                <a:gd name="T21" fmla="*/ 981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31"/>
                <a:gd name="T35" fmla="*/ 24 w 24"/>
                <a:gd name="T36" fmla="*/ 31 h 3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7" y="31"/>
                    <a:pt x="9" y="31"/>
                  </a:cubicBezTo>
                  <a:cubicBezTo>
                    <a:pt x="5" y="31"/>
                    <a:pt x="2" y="30"/>
                    <a:pt x="0" y="29"/>
                  </a:cubicBezTo>
                  <a:lnTo>
                    <a:pt x="0" y="0"/>
                  </a:lnTo>
                  <a:cubicBezTo>
                    <a:pt x="2" y="0"/>
                    <a:pt x="4" y="1"/>
                    <a:pt x="4" y="5"/>
                  </a:cubicBezTo>
                  <a:lnTo>
                    <a:pt x="4" y="28"/>
                  </a:ln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9" y="24"/>
                    <a:pt x="19" y="17"/>
                  </a:cubicBezTo>
                  <a:lnTo>
                    <a:pt x="19" y="0"/>
                  </a:lnTo>
                  <a:cubicBezTo>
                    <a:pt x="22" y="0"/>
                    <a:pt x="24" y="2"/>
                    <a:pt x="2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6" name="Freeform 138"/>
            <p:cNvSpPr>
              <a:spLocks/>
            </p:cNvSpPr>
            <p:nvPr/>
          </p:nvSpPr>
          <p:spPr bwMode="auto">
            <a:xfrm flipV="1">
              <a:off x="3956" y="581"/>
              <a:ext cx="36" cy="42"/>
            </a:xfrm>
            <a:custGeom>
              <a:avLst/>
              <a:gdLst>
                <a:gd name="T0" fmla="*/ 35639 w 27"/>
                <a:gd name="T1" fmla="*/ 33076 h 31"/>
                <a:gd name="T2" fmla="*/ 20047 w 27"/>
                <a:gd name="T3" fmla="*/ 61353 h 31"/>
                <a:gd name="T4" fmla="*/ 8457 w 27"/>
                <a:gd name="T5" fmla="*/ 51245 h 31"/>
                <a:gd name="T6" fmla="*/ 0 w 27"/>
                <a:gd name="T7" fmla="*/ 61353 h 31"/>
                <a:gd name="T8" fmla="*/ 0 w 27"/>
                <a:gd name="T9" fmla="*/ 60714 h 31"/>
                <a:gd name="T10" fmla="*/ 1 w 27"/>
                <a:gd name="T11" fmla="*/ 54153 h 31"/>
                <a:gd name="T12" fmla="*/ 2759 w 27"/>
                <a:gd name="T13" fmla="*/ 51245 h 31"/>
                <a:gd name="T14" fmla="*/ 3679 w 27"/>
                <a:gd name="T15" fmla="*/ 44813 h 31"/>
                <a:gd name="T16" fmla="*/ 2759 w 27"/>
                <a:gd name="T17" fmla="*/ 39970 h 31"/>
                <a:gd name="T18" fmla="*/ 0 w 27"/>
                <a:gd name="T19" fmla="*/ 0 h 31"/>
                <a:gd name="T20" fmla="*/ 1 w 27"/>
                <a:gd name="T21" fmla="*/ 0 h 31"/>
                <a:gd name="T22" fmla="*/ 6540 w 27"/>
                <a:gd name="T23" fmla="*/ 9817 h 31"/>
                <a:gd name="T24" fmla="*/ 8720 w 27"/>
                <a:gd name="T25" fmla="*/ 40432 h 31"/>
                <a:gd name="T26" fmla="*/ 18660 w 27"/>
                <a:gd name="T27" fmla="*/ 54779 h 31"/>
                <a:gd name="T28" fmla="*/ 29129 w 27"/>
                <a:gd name="T29" fmla="*/ 33076 h 31"/>
                <a:gd name="T30" fmla="*/ 15503 w 27"/>
                <a:gd name="T31" fmla="*/ 5348 h 31"/>
                <a:gd name="T32" fmla="*/ 11627 w 27"/>
                <a:gd name="T33" fmla="*/ 5348 h 31"/>
                <a:gd name="T34" fmla="*/ 8720 w 27"/>
                <a:gd name="T35" fmla="*/ 1 h 31"/>
                <a:gd name="T36" fmla="*/ 17143 w 27"/>
                <a:gd name="T37" fmla="*/ 0 h 31"/>
                <a:gd name="T38" fmla="*/ 17143 w 27"/>
                <a:gd name="T39" fmla="*/ 0 h 31"/>
                <a:gd name="T40" fmla="*/ 35639 w 27"/>
                <a:gd name="T41" fmla="*/ 33076 h 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7"/>
                <a:gd name="T64" fmla="*/ 0 h 31"/>
                <a:gd name="T65" fmla="*/ 27 w 27"/>
                <a:gd name="T66" fmla="*/ 31 h 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7" h="31">
                  <a:moveTo>
                    <a:pt x="27" y="16"/>
                  </a:moveTo>
                  <a:cubicBezTo>
                    <a:pt x="27" y="25"/>
                    <a:pt x="22" y="31"/>
                    <a:pt x="15" y="31"/>
                  </a:cubicBezTo>
                  <a:cubicBezTo>
                    <a:pt x="11" y="31"/>
                    <a:pt x="8" y="29"/>
                    <a:pt x="6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29"/>
                    <a:pt x="0" y="28"/>
                    <a:pt x="1" y="27"/>
                  </a:cubicBezTo>
                  <a:lnTo>
                    <a:pt x="2" y="26"/>
                  </a:lnTo>
                  <a:cubicBezTo>
                    <a:pt x="3" y="25"/>
                    <a:pt x="3" y="24"/>
                    <a:pt x="3" y="22"/>
                  </a:cubicBezTo>
                  <a:cubicBezTo>
                    <a:pt x="3" y="22"/>
                    <a:pt x="3" y="21"/>
                    <a:pt x="2" y="20"/>
                  </a:cubicBezTo>
                  <a:lnTo>
                    <a:pt x="0" y="0"/>
                  </a:lnTo>
                  <a:cubicBezTo>
                    <a:pt x="0" y="0"/>
                    <a:pt x="1" y="0"/>
                    <a:pt x="1" y="0"/>
                  </a:cubicBezTo>
                  <a:cubicBezTo>
                    <a:pt x="3" y="0"/>
                    <a:pt x="4" y="2"/>
                    <a:pt x="5" y="5"/>
                  </a:cubicBezTo>
                  <a:lnTo>
                    <a:pt x="7" y="21"/>
                  </a:lnTo>
                  <a:cubicBezTo>
                    <a:pt x="8" y="26"/>
                    <a:pt x="11" y="28"/>
                    <a:pt x="14" y="28"/>
                  </a:cubicBezTo>
                  <a:cubicBezTo>
                    <a:pt x="19" y="28"/>
                    <a:pt x="22" y="24"/>
                    <a:pt x="22" y="16"/>
                  </a:cubicBezTo>
                  <a:cubicBezTo>
                    <a:pt x="22" y="9"/>
                    <a:pt x="18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9" y="3"/>
                    <a:pt x="8" y="3"/>
                    <a:pt x="7" y="1"/>
                  </a:cubicBezTo>
                  <a:cubicBezTo>
                    <a:pt x="8" y="1"/>
                    <a:pt x="1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7" y="6"/>
                    <a:pt x="27" y="1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7" name="Freeform 139"/>
            <p:cNvSpPr>
              <a:spLocks noEditPoints="1"/>
            </p:cNvSpPr>
            <p:nvPr/>
          </p:nvSpPr>
          <p:spPr bwMode="auto">
            <a:xfrm flipV="1">
              <a:off x="3653" y="488"/>
              <a:ext cx="32" cy="41"/>
            </a:xfrm>
            <a:custGeom>
              <a:avLst/>
              <a:gdLst>
                <a:gd name="T0" fmla="*/ 31956 w 24"/>
                <a:gd name="T1" fmla="*/ 5725 h 31"/>
                <a:gd name="T2" fmla="*/ 31956 w 24"/>
                <a:gd name="T3" fmla="*/ 19881 h 31"/>
                <a:gd name="T4" fmla="*/ 11627 w 24"/>
                <a:gd name="T5" fmla="*/ 33320 h 31"/>
                <a:gd name="T6" fmla="*/ 0 w 24"/>
                <a:gd name="T7" fmla="*/ 30882 h 31"/>
                <a:gd name="T8" fmla="*/ 3679 w 24"/>
                <a:gd name="T9" fmla="*/ 30644 h 31"/>
                <a:gd name="T10" fmla="*/ 4905 w 24"/>
                <a:gd name="T11" fmla="*/ 30644 h 31"/>
                <a:gd name="T12" fmla="*/ 11276 w 24"/>
                <a:gd name="T13" fmla="*/ 30882 h 31"/>
                <a:gd name="T14" fmla="*/ 26729 w 24"/>
                <a:gd name="T15" fmla="*/ 17655 h 31"/>
                <a:gd name="T16" fmla="*/ 26729 w 24"/>
                <a:gd name="T17" fmla="*/ 0 h 31"/>
                <a:gd name="T18" fmla="*/ 31956 w 24"/>
                <a:gd name="T19" fmla="*/ 5725 h 31"/>
                <a:gd name="T20" fmla="*/ 6540 w 24"/>
                <a:gd name="T21" fmla="*/ 5725 h 31"/>
                <a:gd name="T22" fmla="*/ 6540 w 24"/>
                <a:gd name="T23" fmla="*/ 15995 h 31"/>
                <a:gd name="T24" fmla="*/ 3679 w 24"/>
                <a:gd name="T25" fmla="*/ 19881 h 31"/>
                <a:gd name="T26" fmla="*/ 1 w 24"/>
                <a:gd name="T27" fmla="*/ 15995 h 31"/>
                <a:gd name="T28" fmla="*/ 1 w 24"/>
                <a:gd name="T29" fmla="*/ 0 h 31"/>
                <a:gd name="T30" fmla="*/ 6540 w 24"/>
                <a:gd name="T31" fmla="*/ 5725 h 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"/>
                <a:gd name="T49" fmla="*/ 0 h 31"/>
                <a:gd name="T50" fmla="*/ 24 w 24"/>
                <a:gd name="T51" fmla="*/ 31 h 3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8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5" y="29"/>
                    <a:pt x="7" y="29"/>
                    <a:pt x="8" y="29"/>
                  </a:cubicBezTo>
                  <a:cubicBezTo>
                    <a:pt x="15" y="29"/>
                    <a:pt x="20" y="24"/>
                    <a:pt x="20" y="17"/>
                  </a:cubicBezTo>
                  <a:lnTo>
                    <a:pt x="20" y="0"/>
                  </a:lnTo>
                  <a:cubicBezTo>
                    <a:pt x="22" y="0"/>
                    <a:pt x="24" y="2"/>
                    <a:pt x="24" y="5"/>
                  </a:cubicBezTo>
                  <a:close/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4" y="18"/>
                    <a:pt x="3" y="18"/>
                  </a:cubicBezTo>
                  <a:cubicBezTo>
                    <a:pt x="2" y="18"/>
                    <a:pt x="1" y="17"/>
                    <a:pt x="1" y="15"/>
                  </a:cubicBezTo>
                  <a:lnTo>
                    <a:pt x="1" y="0"/>
                  </a:lnTo>
                  <a:cubicBezTo>
                    <a:pt x="3" y="0"/>
                    <a:pt x="5" y="1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8" name="Freeform 140"/>
            <p:cNvSpPr>
              <a:spLocks/>
            </p:cNvSpPr>
            <p:nvPr/>
          </p:nvSpPr>
          <p:spPr bwMode="auto">
            <a:xfrm flipV="1">
              <a:off x="3694" y="488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3728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8" y="37"/>
                  </a:lnTo>
                  <a:cubicBezTo>
                    <a:pt x="5" y="37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9" name="Freeform 141"/>
            <p:cNvSpPr>
              <a:spLocks/>
            </p:cNvSpPr>
            <p:nvPr/>
          </p:nvSpPr>
          <p:spPr bwMode="auto">
            <a:xfrm flipV="1">
              <a:off x="3740" y="488"/>
              <a:ext cx="6" cy="24"/>
            </a:xfrm>
            <a:custGeom>
              <a:avLst/>
              <a:gdLst>
                <a:gd name="T0" fmla="*/ 446 w 5"/>
                <a:gd name="T1" fmla="*/ 6540 h 18"/>
                <a:gd name="T2" fmla="*/ 446 w 5"/>
                <a:gd name="T3" fmla="*/ 20047 h 18"/>
                <a:gd name="T4" fmla="*/ 2 w 5"/>
                <a:gd name="T5" fmla="*/ 23967 h 18"/>
                <a:gd name="T6" fmla="*/ 0 w 5"/>
                <a:gd name="T7" fmla="*/ 20047 h 18"/>
                <a:gd name="T8" fmla="*/ 0 w 5"/>
                <a:gd name="T9" fmla="*/ 0 h 18"/>
                <a:gd name="T10" fmla="*/ 446 w 5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"/>
                <a:gd name="T19" fmla="*/ 0 h 18"/>
                <a:gd name="T20" fmla="*/ 5 w 5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" h="18"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5" y="3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0" name="Freeform 142"/>
            <p:cNvSpPr>
              <a:spLocks/>
            </p:cNvSpPr>
            <p:nvPr/>
          </p:nvSpPr>
          <p:spPr bwMode="auto">
            <a:xfrm flipV="1">
              <a:off x="3754" y="488"/>
              <a:ext cx="16" cy="40"/>
            </a:xfrm>
            <a:custGeom>
              <a:avLst/>
              <a:gdLst>
                <a:gd name="T0" fmla="*/ 15503 w 12"/>
                <a:gd name="T1" fmla="*/ 3679 h 30"/>
                <a:gd name="T2" fmla="*/ 15503 w 12"/>
                <a:gd name="T3" fmla="*/ 27561 h 30"/>
                <a:gd name="T4" fmla="*/ 4905 w 12"/>
                <a:gd name="T5" fmla="*/ 39909 h 30"/>
                <a:gd name="T6" fmla="*/ 1 w 12"/>
                <a:gd name="T7" fmla="*/ 38839 h 30"/>
                <a:gd name="T8" fmla="*/ 3679 w 12"/>
                <a:gd name="T9" fmla="*/ 36748 h 30"/>
                <a:gd name="T10" fmla="*/ 4905 w 12"/>
                <a:gd name="T11" fmla="*/ 36748 h 30"/>
                <a:gd name="T12" fmla="*/ 11276 w 12"/>
                <a:gd name="T13" fmla="*/ 30476 h 30"/>
                <a:gd name="T14" fmla="*/ 11276 w 12"/>
                <a:gd name="T15" fmla="*/ 3679 h 30"/>
                <a:gd name="T16" fmla="*/ 3679 w 12"/>
                <a:gd name="T17" fmla="*/ 3679 h 30"/>
                <a:gd name="T18" fmla="*/ 0 w 12"/>
                <a:gd name="T19" fmla="*/ 0 h 30"/>
                <a:gd name="T20" fmla="*/ 11627 w 12"/>
                <a:gd name="T21" fmla="*/ 0 h 30"/>
                <a:gd name="T22" fmla="*/ 15503 w 12"/>
                <a:gd name="T23" fmla="*/ 3679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"/>
                <a:gd name="T37" fmla="*/ 0 h 30"/>
                <a:gd name="T38" fmla="*/ 12 w 12"/>
                <a:gd name="T39" fmla="*/ 30 h 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" h="30">
                  <a:moveTo>
                    <a:pt x="12" y="3"/>
                  </a:moveTo>
                  <a:lnTo>
                    <a:pt x="12" y="21"/>
                  </a:lnTo>
                  <a:cubicBezTo>
                    <a:pt x="12" y="26"/>
                    <a:pt x="9" y="30"/>
                    <a:pt x="4" y="30"/>
                  </a:cubicBezTo>
                  <a:cubicBezTo>
                    <a:pt x="4" y="30"/>
                    <a:pt x="2" y="30"/>
                    <a:pt x="1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6" y="28"/>
                    <a:pt x="8" y="26"/>
                    <a:pt x="8" y="23"/>
                  </a:cubicBezTo>
                  <a:lnTo>
                    <a:pt x="8" y="3"/>
                  </a:lnTo>
                  <a:lnTo>
                    <a:pt x="3" y="3"/>
                  </a:lnTo>
                  <a:cubicBezTo>
                    <a:pt x="1" y="3"/>
                    <a:pt x="0" y="2"/>
                    <a:pt x="0" y="0"/>
                  </a:cubicBezTo>
                  <a:lnTo>
                    <a:pt x="9" y="0"/>
                  </a:lnTo>
                  <a:cubicBezTo>
                    <a:pt x="11" y="1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1" name="Freeform 143"/>
            <p:cNvSpPr>
              <a:spLocks/>
            </p:cNvSpPr>
            <p:nvPr/>
          </p:nvSpPr>
          <p:spPr bwMode="auto">
            <a:xfrm flipV="1">
              <a:off x="3782" y="488"/>
              <a:ext cx="6" cy="41"/>
            </a:xfrm>
            <a:custGeom>
              <a:avLst/>
              <a:gdLst>
                <a:gd name="T0" fmla="*/ 92170 w 4"/>
                <a:gd name="T1" fmla="*/ 5725 h 31"/>
                <a:gd name="T2" fmla="*/ 92170 w 4"/>
                <a:gd name="T3" fmla="*/ 30644 h 31"/>
                <a:gd name="T4" fmla="*/ 40965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9217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2" name="Freeform 144"/>
            <p:cNvSpPr>
              <a:spLocks/>
            </p:cNvSpPr>
            <p:nvPr/>
          </p:nvSpPr>
          <p:spPr bwMode="auto">
            <a:xfrm flipV="1">
              <a:off x="3796" y="488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9366 w 22"/>
                <a:gd name="T5" fmla="*/ 33320 h 31"/>
                <a:gd name="T6" fmla="*/ 0 w 22"/>
                <a:gd name="T7" fmla="*/ 30882 h 31"/>
                <a:gd name="T8" fmla="*/ 3102 w 22"/>
                <a:gd name="T9" fmla="*/ 30644 h 31"/>
                <a:gd name="T10" fmla="*/ 4089 w 22"/>
                <a:gd name="T11" fmla="*/ 30644 h 31"/>
                <a:gd name="T12" fmla="*/ 8559 w 22"/>
                <a:gd name="T13" fmla="*/ 30882 h 31"/>
                <a:gd name="T14" fmla="*/ 18059 w 22"/>
                <a:gd name="T15" fmla="*/ 17655 h 31"/>
                <a:gd name="T16" fmla="*/ 18059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7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8" y="24"/>
                    <a:pt x="18" y="17"/>
                  </a:cubicBezTo>
                  <a:lnTo>
                    <a:pt x="18" y="0"/>
                  </a:lnTo>
                  <a:cubicBezTo>
                    <a:pt x="20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3" name="Freeform 145"/>
            <p:cNvSpPr>
              <a:spLocks/>
            </p:cNvSpPr>
            <p:nvPr/>
          </p:nvSpPr>
          <p:spPr bwMode="auto">
            <a:xfrm flipV="1">
              <a:off x="3835" y="488"/>
              <a:ext cx="35" cy="41"/>
            </a:xfrm>
            <a:custGeom>
              <a:avLst/>
              <a:gdLst>
                <a:gd name="T0" fmla="*/ 43370 w 26"/>
                <a:gd name="T1" fmla="*/ 20762 h 31"/>
                <a:gd name="T2" fmla="*/ 23933 w 26"/>
                <a:gd name="T3" fmla="*/ 33320 h 31"/>
                <a:gd name="T4" fmla="*/ 13728 w 26"/>
                <a:gd name="T5" fmla="*/ 30882 h 31"/>
                <a:gd name="T6" fmla="*/ 16437 w 26"/>
                <a:gd name="T7" fmla="*/ 30644 h 31"/>
                <a:gd name="T8" fmla="*/ 20755 w 26"/>
                <a:gd name="T9" fmla="*/ 30644 h 31"/>
                <a:gd name="T10" fmla="*/ 22127 w 26"/>
                <a:gd name="T11" fmla="*/ 30882 h 31"/>
                <a:gd name="T12" fmla="*/ 35390 w 26"/>
                <a:gd name="T13" fmla="*/ 20762 h 31"/>
                <a:gd name="T14" fmla="*/ 13728 w 26"/>
                <a:gd name="T15" fmla="*/ 3273 h 31"/>
                <a:gd name="T16" fmla="*/ 11453 w 26"/>
                <a:gd name="T17" fmla="*/ 3273 h 31"/>
                <a:gd name="T18" fmla="*/ 6320 w 26"/>
                <a:gd name="T19" fmla="*/ 33320 h 31"/>
                <a:gd name="T20" fmla="*/ 0 w 26"/>
                <a:gd name="T21" fmla="*/ 27979 h 31"/>
                <a:gd name="T22" fmla="*/ 0 w 26"/>
                <a:gd name="T23" fmla="*/ 26294 h 31"/>
                <a:gd name="T24" fmla="*/ 4695 w 26"/>
                <a:gd name="T25" fmla="*/ 1 h 31"/>
                <a:gd name="T26" fmla="*/ 11453 w 26"/>
                <a:gd name="T27" fmla="*/ 0 h 31"/>
                <a:gd name="T28" fmla="*/ 43370 w 26"/>
                <a:gd name="T29" fmla="*/ 20762 h 3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1"/>
                <a:gd name="T47" fmla="*/ 26 w 26"/>
                <a:gd name="T48" fmla="*/ 31 h 3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1">
                  <a:moveTo>
                    <a:pt x="26" y="19"/>
                  </a:moveTo>
                  <a:cubicBezTo>
                    <a:pt x="26" y="27"/>
                    <a:pt x="21" y="31"/>
                    <a:pt x="14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7" y="29"/>
                    <a:pt x="21" y="25"/>
                    <a:pt x="21" y="19"/>
                  </a:cubicBezTo>
                  <a:cubicBezTo>
                    <a:pt x="21" y="11"/>
                    <a:pt x="15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6" y="10"/>
                    <a:pt x="26" y="1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4" name="Freeform 146"/>
            <p:cNvSpPr>
              <a:spLocks/>
            </p:cNvSpPr>
            <p:nvPr/>
          </p:nvSpPr>
          <p:spPr bwMode="auto">
            <a:xfrm flipV="1">
              <a:off x="3876" y="488"/>
              <a:ext cx="36" cy="53"/>
            </a:xfrm>
            <a:custGeom>
              <a:avLst/>
              <a:gdLst>
                <a:gd name="T0" fmla="*/ 35639 w 27"/>
                <a:gd name="T1" fmla="*/ 31650 h 40"/>
                <a:gd name="T2" fmla="*/ 20047 w 27"/>
                <a:gd name="T3" fmla="*/ 45273 h 40"/>
                <a:gd name="T4" fmla="*/ 0 w 27"/>
                <a:gd name="T5" fmla="*/ 45273 h 40"/>
                <a:gd name="T6" fmla="*/ 4905 w 27"/>
                <a:gd name="T7" fmla="*/ 41936 h 40"/>
                <a:gd name="T8" fmla="*/ 11276 w 27"/>
                <a:gd name="T9" fmla="*/ 41936 h 40"/>
                <a:gd name="T10" fmla="*/ 2759 w 27"/>
                <a:gd name="T11" fmla="*/ 29117 h 40"/>
                <a:gd name="T12" fmla="*/ 2759 w 27"/>
                <a:gd name="T13" fmla="*/ 0 h 40"/>
                <a:gd name="T14" fmla="*/ 8720 w 27"/>
                <a:gd name="T15" fmla="*/ 5849 h 40"/>
                <a:gd name="T16" fmla="*/ 8720 w 27"/>
                <a:gd name="T17" fmla="*/ 31617 h 40"/>
                <a:gd name="T18" fmla="*/ 18660 w 27"/>
                <a:gd name="T19" fmla="*/ 41936 h 40"/>
                <a:gd name="T20" fmla="*/ 30476 w 27"/>
                <a:gd name="T21" fmla="*/ 31617 h 40"/>
                <a:gd name="T22" fmla="*/ 20047 w 27"/>
                <a:gd name="T23" fmla="*/ 16124 h 40"/>
                <a:gd name="T24" fmla="*/ 15035 w 27"/>
                <a:gd name="T25" fmla="*/ 11085 h 40"/>
                <a:gd name="T26" fmla="*/ 35639 w 27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"/>
                <a:gd name="T43" fmla="*/ 0 h 40"/>
                <a:gd name="T44" fmla="*/ 27 w 27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" h="40">
                  <a:moveTo>
                    <a:pt x="27" y="28"/>
                  </a:moveTo>
                  <a:cubicBezTo>
                    <a:pt x="27" y="34"/>
                    <a:pt x="23" y="40"/>
                    <a:pt x="15" y="40"/>
                  </a:cubicBezTo>
                  <a:lnTo>
                    <a:pt x="0" y="40"/>
                  </a:lnTo>
                  <a:cubicBezTo>
                    <a:pt x="1" y="38"/>
                    <a:pt x="2" y="37"/>
                    <a:pt x="4" y="37"/>
                  </a:cubicBezTo>
                  <a:lnTo>
                    <a:pt x="8" y="37"/>
                  </a:lnTo>
                  <a:cubicBezTo>
                    <a:pt x="6" y="37"/>
                    <a:pt x="2" y="32"/>
                    <a:pt x="2" y="26"/>
                  </a:cubicBezTo>
                  <a:lnTo>
                    <a:pt x="2" y="0"/>
                  </a:lnTo>
                  <a:cubicBezTo>
                    <a:pt x="6" y="0"/>
                    <a:pt x="7" y="3"/>
                    <a:pt x="7" y="5"/>
                  </a:cubicBezTo>
                  <a:lnTo>
                    <a:pt x="7" y="27"/>
                  </a:lnTo>
                  <a:cubicBezTo>
                    <a:pt x="7" y="33"/>
                    <a:pt x="9" y="37"/>
                    <a:pt x="14" y="37"/>
                  </a:cubicBezTo>
                  <a:cubicBezTo>
                    <a:pt x="20" y="37"/>
                    <a:pt x="23" y="32"/>
                    <a:pt x="23" y="27"/>
                  </a:cubicBezTo>
                  <a:cubicBezTo>
                    <a:pt x="23" y="20"/>
                    <a:pt x="19" y="16"/>
                    <a:pt x="15" y="14"/>
                  </a:cubicBezTo>
                  <a:cubicBezTo>
                    <a:pt x="12" y="13"/>
                    <a:pt x="12" y="12"/>
                    <a:pt x="11" y="10"/>
                  </a:cubicBezTo>
                  <a:cubicBezTo>
                    <a:pt x="18" y="11"/>
                    <a:pt x="27" y="17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Freeform 147"/>
            <p:cNvSpPr>
              <a:spLocks/>
            </p:cNvSpPr>
            <p:nvPr/>
          </p:nvSpPr>
          <p:spPr bwMode="auto">
            <a:xfrm flipV="1">
              <a:off x="3922" y="478"/>
              <a:ext cx="28" cy="51"/>
            </a:xfrm>
            <a:custGeom>
              <a:avLst/>
              <a:gdLst>
                <a:gd name="T0" fmla="*/ 27561 w 21"/>
                <a:gd name="T1" fmla="*/ 18105 h 39"/>
                <a:gd name="T2" fmla="*/ 17143 w 21"/>
                <a:gd name="T3" fmla="*/ 26147 h 39"/>
                <a:gd name="T4" fmla="*/ 4905 w 21"/>
                <a:gd name="T5" fmla="*/ 26147 h 39"/>
                <a:gd name="T6" fmla="*/ 4905 w 21"/>
                <a:gd name="T7" fmla="*/ 32016 h 39"/>
                <a:gd name="T8" fmla="*/ 0 w 21"/>
                <a:gd name="T9" fmla="*/ 27649 h 39"/>
                <a:gd name="T10" fmla="*/ 0 w 21"/>
                <a:gd name="T11" fmla="*/ 22894 h 39"/>
                <a:gd name="T12" fmla="*/ 15035 w 21"/>
                <a:gd name="T13" fmla="*/ 22894 h 39"/>
                <a:gd name="T14" fmla="*/ 22857 w 21"/>
                <a:gd name="T15" fmla="*/ 16678 h 39"/>
                <a:gd name="T16" fmla="*/ 8720 w 21"/>
                <a:gd name="T17" fmla="*/ 3335 h 39"/>
                <a:gd name="T18" fmla="*/ 3679 w 21"/>
                <a:gd name="T19" fmla="*/ 0 h 39"/>
                <a:gd name="T20" fmla="*/ 27561 w 21"/>
                <a:gd name="T21" fmla="*/ 18105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"/>
                <a:gd name="T34" fmla="*/ 0 h 39"/>
                <a:gd name="T35" fmla="*/ 21 w 21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" h="39">
                  <a:moveTo>
                    <a:pt x="21" y="22"/>
                  </a:moveTo>
                  <a:cubicBezTo>
                    <a:pt x="21" y="27"/>
                    <a:pt x="18" y="31"/>
                    <a:pt x="13" y="31"/>
                  </a:cubicBezTo>
                  <a:lnTo>
                    <a:pt x="4" y="31"/>
                  </a:lnTo>
                  <a:lnTo>
                    <a:pt x="4" y="39"/>
                  </a:lnTo>
                  <a:cubicBezTo>
                    <a:pt x="2" y="39"/>
                    <a:pt x="0" y="38"/>
                    <a:pt x="0" y="34"/>
                  </a:cubicBezTo>
                  <a:lnTo>
                    <a:pt x="0" y="28"/>
                  </a:lnTo>
                  <a:lnTo>
                    <a:pt x="11" y="28"/>
                  </a:lnTo>
                  <a:cubicBezTo>
                    <a:pt x="13" y="28"/>
                    <a:pt x="17" y="27"/>
                    <a:pt x="17" y="21"/>
                  </a:cubicBezTo>
                  <a:cubicBezTo>
                    <a:pt x="17" y="12"/>
                    <a:pt x="11" y="6"/>
                    <a:pt x="7" y="4"/>
                  </a:cubicBezTo>
                  <a:cubicBezTo>
                    <a:pt x="5" y="3"/>
                    <a:pt x="3" y="2"/>
                    <a:pt x="3" y="0"/>
                  </a:cubicBezTo>
                  <a:cubicBezTo>
                    <a:pt x="10" y="1"/>
                    <a:pt x="21" y="9"/>
                    <a:pt x="21" y="2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6" name="Freeform 148"/>
            <p:cNvSpPr>
              <a:spLocks/>
            </p:cNvSpPr>
            <p:nvPr/>
          </p:nvSpPr>
          <p:spPr bwMode="auto">
            <a:xfrm flipV="1">
              <a:off x="3960" y="488"/>
              <a:ext cx="32" cy="41"/>
            </a:xfrm>
            <a:custGeom>
              <a:avLst/>
              <a:gdLst>
                <a:gd name="T0" fmla="*/ 31956 w 24"/>
                <a:gd name="T1" fmla="*/ 2475 h 31"/>
                <a:gd name="T2" fmla="*/ 30476 w 24"/>
                <a:gd name="T3" fmla="*/ 6914 h 31"/>
                <a:gd name="T4" fmla="*/ 22857 w 24"/>
                <a:gd name="T5" fmla="*/ 13246 h 31"/>
                <a:gd name="T6" fmla="*/ 30476 w 24"/>
                <a:gd name="T7" fmla="*/ 23350 h 31"/>
                <a:gd name="T8" fmla="*/ 30476 w 24"/>
                <a:gd name="T9" fmla="*/ 33320 h 31"/>
                <a:gd name="T10" fmla="*/ 24880 w 24"/>
                <a:gd name="T11" fmla="*/ 27979 h 31"/>
                <a:gd name="T12" fmla="*/ 24880 w 24"/>
                <a:gd name="T13" fmla="*/ 21155 h 31"/>
                <a:gd name="T14" fmla="*/ 20671 w 24"/>
                <a:gd name="T15" fmla="*/ 15698 h 31"/>
                <a:gd name="T16" fmla="*/ 1 w 24"/>
                <a:gd name="T17" fmla="*/ 33320 h 31"/>
                <a:gd name="T18" fmla="*/ 0 w 24"/>
                <a:gd name="T19" fmla="*/ 30882 h 31"/>
                <a:gd name="T20" fmla="*/ 1 w 24"/>
                <a:gd name="T21" fmla="*/ 27979 h 31"/>
                <a:gd name="T22" fmla="*/ 8457 w 24"/>
                <a:gd name="T23" fmla="*/ 21155 h 31"/>
                <a:gd name="T24" fmla="*/ 0 w 24"/>
                <a:gd name="T25" fmla="*/ 10093 h 31"/>
                <a:gd name="T26" fmla="*/ 0 w 24"/>
                <a:gd name="T27" fmla="*/ 0 h 31"/>
                <a:gd name="T28" fmla="*/ 4905 w 24"/>
                <a:gd name="T29" fmla="*/ 5725 h 31"/>
                <a:gd name="T30" fmla="*/ 4905 w 24"/>
                <a:gd name="T31" fmla="*/ 12094 h 31"/>
                <a:gd name="T32" fmla="*/ 11276 w 24"/>
                <a:gd name="T33" fmla="*/ 19881 h 31"/>
                <a:gd name="T34" fmla="*/ 30476 w 24"/>
                <a:gd name="T35" fmla="*/ 0 h 31"/>
                <a:gd name="T36" fmla="*/ 31956 w 24"/>
                <a:gd name="T37" fmla="*/ 2475 h 3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4"/>
                <a:gd name="T58" fmla="*/ 0 h 31"/>
                <a:gd name="T59" fmla="*/ 24 w 24"/>
                <a:gd name="T60" fmla="*/ 31 h 3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4" h="31">
                  <a:moveTo>
                    <a:pt x="24" y="2"/>
                  </a:moveTo>
                  <a:cubicBezTo>
                    <a:pt x="24" y="4"/>
                    <a:pt x="23" y="5"/>
                    <a:pt x="23" y="6"/>
                  </a:cubicBezTo>
                  <a:lnTo>
                    <a:pt x="17" y="12"/>
                  </a:lnTo>
                  <a:cubicBezTo>
                    <a:pt x="20" y="14"/>
                    <a:pt x="23" y="18"/>
                    <a:pt x="23" y="22"/>
                  </a:cubicBezTo>
                  <a:lnTo>
                    <a:pt x="23" y="31"/>
                  </a:lnTo>
                  <a:cubicBezTo>
                    <a:pt x="21" y="31"/>
                    <a:pt x="19" y="30"/>
                    <a:pt x="19" y="26"/>
                  </a:cubicBezTo>
                  <a:lnTo>
                    <a:pt x="19" y="20"/>
                  </a:lnTo>
                  <a:cubicBezTo>
                    <a:pt x="19" y="16"/>
                    <a:pt x="17" y="15"/>
                    <a:pt x="16" y="14"/>
                  </a:cubicBezTo>
                  <a:lnTo>
                    <a:pt x="1" y="31"/>
                  </a:lnTo>
                  <a:cubicBezTo>
                    <a:pt x="0" y="31"/>
                    <a:pt x="0" y="30"/>
                    <a:pt x="0" y="29"/>
                  </a:cubicBezTo>
                  <a:cubicBezTo>
                    <a:pt x="0" y="28"/>
                    <a:pt x="0" y="27"/>
                    <a:pt x="1" y="26"/>
                  </a:cubicBezTo>
                  <a:lnTo>
                    <a:pt x="6" y="20"/>
                  </a:lnTo>
                  <a:cubicBezTo>
                    <a:pt x="3" y="19"/>
                    <a:pt x="0" y="14"/>
                    <a:pt x="0" y="10"/>
                  </a:cubicBezTo>
                  <a:lnTo>
                    <a:pt x="0" y="0"/>
                  </a:lnTo>
                  <a:cubicBezTo>
                    <a:pt x="2" y="0"/>
                    <a:pt x="4" y="2"/>
                    <a:pt x="4" y="5"/>
                  </a:cubicBezTo>
                  <a:lnTo>
                    <a:pt x="4" y="11"/>
                  </a:lnTo>
                  <a:cubicBezTo>
                    <a:pt x="4" y="15"/>
                    <a:pt x="5" y="18"/>
                    <a:pt x="8" y="18"/>
                  </a:cubicBezTo>
                  <a:lnTo>
                    <a:pt x="23" y="0"/>
                  </a:lnTo>
                  <a:cubicBezTo>
                    <a:pt x="23" y="1"/>
                    <a:pt x="24" y="2"/>
                    <a:pt x="24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7" name="Rectangle 149"/>
            <p:cNvSpPr>
              <a:spLocks noChangeArrowheads="1"/>
            </p:cNvSpPr>
            <p:nvPr/>
          </p:nvSpPr>
          <p:spPr bwMode="auto">
            <a:xfrm>
              <a:off x="4259" y="483"/>
              <a:ext cx="39" cy="3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8" name="Rectangle 150"/>
            <p:cNvSpPr>
              <a:spLocks noChangeArrowheads="1"/>
            </p:cNvSpPr>
            <p:nvPr/>
          </p:nvSpPr>
          <p:spPr bwMode="auto">
            <a:xfrm>
              <a:off x="4201" y="484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144" y="486"/>
              <a:ext cx="33" cy="34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085" y="487"/>
              <a:ext cx="32" cy="32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1" name="Rectangle 153"/>
            <p:cNvSpPr>
              <a:spLocks noChangeArrowheads="1"/>
            </p:cNvSpPr>
            <p:nvPr/>
          </p:nvSpPr>
          <p:spPr bwMode="auto">
            <a:xfrm>
              <a:off x="4028" y="488"/>
              <a:ext cx="28" cy="2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2" name="Rectangle 154"/>
            <p:cNvSpPr>
              <a:spLocks noChangeArrowheads="1"/>
            </p:cNvSpPr>
            <p:nvPr/>
          </p:nvSpPr>
          <p:spPr bwMode="auto">
            <a:xfrm>
              <a:off x="4259" y="580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3" name="Rectangle 155"/>
            <p:cNvSpPr>
              <a:spLocks noChangeArrowheads="1"/>
            </p:cNvSpPr>
            <p:nvPr/>
          </p:nvSpPr>
          <p:spPr bwMode="auto">
            <a:xfrm>
              <a:off x="4201" y="581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4" name="Rectangle 156"/>
            <p:cNvSpPr>
              <a:spLocks noChangeArrowheads="1"/>
            </p:cNvSpPr>
            <p:nvPr/>
          </p:nvSpPr>
          <p:spPr bwMode="auto">
            <a:xfrm>
              <a:off x="4144" y="583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5" name="Rectangle 157"/>
            <p:cNvSpPr>
              <a:spLocks noChangeArrowheads="1"/>
            </p:cNvSpPr>
            <p:nvPr/>
          </p:nvSpPr>
          <p:spPr bwMode="auto">
            <a:xfrm>
              <a:off x="4085" y="584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6" name="Rectangle 158"/>
            <p:cNvSpPr>
              <a:spLocks noChangeArrowheads="1"/>
            </p:cNvSpPr>
            <p:nvPr/>
          </p:nvSpPr>
          <p:spPr bwMode="auto">
            <a:xfrm>
              <a:off x="4028" y="585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7" name="Rectangle 159"/>
            <p:cNvSpPr>
              <a:spLocks noChangeArrowheads="1"/>
            </p:cNvSpPr>
            <p:nvPr/>
          </p:nvSpPr>
          <p:spPr bwMode="auto">
            <a:xfrm>
              <a:off x="4259" y="677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8" name="Rectangle 160"/>
            <p:cNvSpPr>
              <a:spLocks noChangeArrowheads="1"/>
            </p:cNvSpPr>
            <p:nvPr/>
          </p:nvSpPr>
          <p:spPr bwMode="auto">
            <a:xfrm>
              <a:off x="4201" y="679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9" name="Rectangle 161"/>
            <p:cNvSpPr>
              <a:spLocks noChangeArrowheads="1"/>
            </p:cNvSpPr>
            <p:nvPr/>
          </p:nvSpPr>
          <p:spPr bwMode="auto">
            <a:xfrm>
              <a:off x="4144" y="680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0" name="Rectangle 162"/>
            <p:cNvSpPr>
              <a:spLocks noChangeArrowheads="1"/>
            </p:cNvSpPr>
            <p:nvPr/>
          </p:nvSpPr>
          <p:spPr bwMode="auto">
            <a:xfrm>
              <a:off x="4085" y="681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1" name="Rectangle 163"/>
            <p:cNvSpPr>
              <a:spLocks noChangeArrowheads="1"/>
            </p:cNvSpPr>
            <p:nvPr/>
          </p:nvSpPr>
          <p:spPr bwMode="auto">
            <a:xfrm>
              <a:off x="4028" y="683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/>
            </a:p>
          </p:txBody>
        </p:sp>
      </p:grpSp>
      <p:pic>
        <p:nvPicPr>
          <p:cNvPr id="62" name="Picture 58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976" y="112198"/>
            <a:ext cx="5715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744625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40465C-8A53-4911-9A00-2C946368ECA6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52938-1B01-4537-A25E-FAEE73EDB538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748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27EFFE-027F-4D77-9407-5C6CEFFE4258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B1ADD0-A997-41D7-9664-6AC9018CBCD5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362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134BD6-B894-4FB8-86FC-1A951B8385A0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1BA823-ABCA-407C-B228-501524F0E55B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425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D78BF0-5E00-46C6-A6C6-19ED10E2FF4F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72AF5F-50CD-45ED-AD4F-AF7A4E8579BD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1372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55A330-699D-40BA-8A68-E3DD98EB0970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06AC3E-00B4-4463-BC65-A60E1D24C7A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1246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2E14B6-5471-4254-99F9-E0D38C4C60B0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BC94C3-7C82-485D-8E8B-5AC63A00891C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747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3DB0A9-33D3-4C81-9BE9-D7EF95D9346E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1EB3CF-63D4-4437-9550-501DC0BD9EE9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525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53183"/>
      </p:ext>
    </p:extLst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48989"/>
      </p:ext>
    </p:extLst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6111434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30101"/>
      </p:ext>
    </p:extLst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395532"/>
      </p:ext>
    </p:extLst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97679"/>
      </p:ext>
    </p:extLst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9CE4AC-2C71-4594-BD9A-B49FB726B1B4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AFAC80-1EB7-4463-8FF1-984DC6CD2F3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0237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4F35FD-C650-4FEB-A68C-CA3BC700C471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98B99-E041-49CA-9DE2-42DD07B3FB2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9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39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  <a:alpha val="70000"/>
              </a:schemeClr>
            </a:gs>
            <a:gs pos="100000">
              <a:schemeClr val="bg1">
                <a:lumMod val="85000"/>
                <a:alpha val="66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 bwMode="auto">
          <a:xfrm>
            <a:off x="8917988" y="6602364"/>
            <a:ext cx="202282" cy="257255"/>
          </a:xfrm>
          <a:prstGeom prst="rect">
            <a:avLst/>
          </a:prstGeom>
          <a:solidFill>
            <a:srgbClr val="B7BF3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851164" y="0"/>
            <a:ext cx="383565" cy="487805"/>
          </a:xfrm>
          <a:prstGeom prst="rect">
            <a:avLst/>
          </a:prstGeom>
          <a:solidFill>
            <a:srgbClr val="B7BF3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8054585" y="519048"/>
            <a:ext cx="180144" cy="234463"/>
          </a:xfrm>
          <a:prstGeom prst="rect">
            <a:avLst/>
          </a:prstGeom>
          <a:solidFill>
            <a:srgbClr val="3383A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033722" y="0"/>
            <a:ext cx="1795683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980713" y="0"/>
            <a:ext cx="169410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6488" y="0"/>
            <a:ext cx="702466" cy="935182"/>
          </a:xfrm>
          <a:prstGeom prst="rect">
            <a:avLst/>
          </a:prstGeom>
        </p:spPr>
      </p:pic>
      <p:sp>
        <p:nvSpPr>
          <p:cNvPr id="21" name="TextBox 11"/>
          <p:cNvSpPr txBox="1">
            <a:spLocks noChangeArrowheads="1"/>
          </p:cNvSpPr>
          <p:nvPr/>
        </p:nvSpPr>
        <p:spPr bwMode="auto">
          <a:xfrm>
            <a:off x="8826501" y="6631901"/>
            <a:ext cx="331934" cy="214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634" tIns="40818" rIns="81634" bIns="40818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813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pPr algn="r" eaLnBrk="1" hangingPunct="1"/>
              <a:t>‹#›</a:t>
            </a:fld>
            <a:endParaRPr lang="en-US" sz="813" b="0" i="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7063218" y="6600745"/>
            <a:ext cx="1817410" cy="257255"/>
          </a:xfrm>
          <a:prstGeom prst="rect">
            <a:avLst/>
          </a:prstGeom>
          <a:solidFill>
            <a:srgbClr val="005AA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571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88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Arial" charset="0"/>
              </a:rPr>
              <a:t>© 2018 Mellanox Technologies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160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  <p:sldLayoutId id="2147483863" r:id="rId18"/>
  </p:sldLayoutIdLst>
  <p:hf hdr="0" ftr="0" dt="0"/>
  <p:txStyles>
    <p:titleStyle>
      <a:lvl1pPr algn="l" rtl="0" eaLnBrk="1" fontAlgn="base" hangingPunct="1">
        <a:lnSpc>
          <a:spcPts val="2524"/>
        </a:lnSpc>
        <a:spcBef>
          <a:spcPct val="0"/>
        </a:spcBef>
        <a:spcAft>
          <a:spcPct val="0"/>
        </a:spcAft>
        <a:defRPr sz="1938" b="0" baseline="0">
          <a:solidFill>
            <a:schemeClr val="bg1"/>
          </a:solidFill>
          <a:latin typeface="+mj-lt"/>
          <a:ea typeface="Arial" pitchFamily="34" charset="0"/>
          <a:cs typeface="Arial" pitchFamily="34" charset="0"/>
        </a:defRPr>
      </a:lvl1pPr>
      <a:lvl2pPr algn="l" rtl="0" eaLnBrk="1" fontAlgn="base" hangingPunct="1">
        <a:lnSpc>
          <a:spcPts val="2524"/>
        </a:lnSpc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2pPr>
      <a:lvl3pPr algn="l" rtl="0" eaLnBrk="1" fontAlgn="base" hangingPunct="1">
        <a:lnSpc>
          <a:spcPts val="2524"/>
        </a:lnSpc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3pPr>
      <a:lvl4pPr algn="l" rtl="0" eaLnBrk="1" fontAlgn="base" hangingPunct="1">
        <a:lnSpc>
          <a:spcPts val="2524"/>
        </a:lnSpc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4pPr>
      <a:lvl5pPr algn="l" rtl="0" eaLnBrk="1" fontAlgn="base" hangingPunct="1">
        <a:lnSpc>
          <a:spcPts val="2524"/>
        </a:lnSpc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5pPr>
      <a:lvl6pPr marL="406933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cs typeface="Arial" charset="0"/>
        </a:defRPr>
      </a:lvl6pPr>
      <a:lvl7pPr marL="813869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cs typeface="Arial" charset="0"/>
        </a:defRPr>
      </a:lvl7pPr>
      <a:lvl8pPr marL="1220804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cs typeface="Arial" charset="0"/>
        </a:defRPr>
      </a:lvl8pPr>
      <a:lvl9pPr marL="1627736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142439" indent="-153829" algn="l" rtl="0" eaLnBrk="1" fontAlgn="base" hangingPunct="1">
        <a:spcBef>
          <a:spcPts val="375"/>
        </a:spcBef>
        <a:spcAft>
          <a:spcPct val="0"/>
        </a:spcAft>
        <a:buClr>
          <a:schemeClr val="bg2">
            <a:lumMod val="75000"/>
          </a:schemeClr>
        </a:buClr>
        <a:buSzPct val="110000"/>
        <a:buFont typeface="Wingdings" charset="0"/>
        <a:buChar char="§"/>
        <a:defRPr sz="1500">
          <a:solidFill>
            <a:schemeClr val="tx2"/>
          </a:solidFill>
          <a:latin typeface="+mn-lt"/>
          <a:ea typeface="ＭＳ Ｐゴシック" charset="0"/>
          <a:cs typeface="Arial" pitchFamily="-108" charset="0"/>
        </a:defRPr>
      </a:lvl1pPr>
      <a:lvl2pPr marL="354117" indent="-159253" algn="l" rtl="0" eaLnBrk="1" fontAlgn="base" hangingPunct="1">
        <a:spcBef>
          <a:spcPts val="266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5000"/>
        <a:buFont typeface="Arial" charset="0"/>
        <a:buChar char="•"/>
        <a:defRPr sz="1313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2pPr>
      <a:lvl3pPr marL="512428" indent="-149364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4000"/>
        <a:buFont typeface="Lucida Grande" charset="0"/>
        <a:buChar char="-"/>
        <a:defRPr sz="1188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3pPr>
      <a:lvl4pPr marL="683704" indent="-170941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Wingdings" charset="0"/>
        <a:buChar char="§"/>
        <a:defRPr sz="1188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4pPr>
      <a:lvl5pPr marL="820454" indent="-131063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Lucida Grande" charset="0"/>
        <a:buChar char="›"/>
        <a:defRPr sz="875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5pPr>
      <a:lvl6pPr marL="2238094" indent="-203451" algn="l" rtl="0" eaLnBrk="1" fontAlgn="base" hangingPunct="1">
        <a:spcBef>
          <a:spcPct val="20000"/>
        </a:spcBef>
        <a:spcAft>
          <a:spcPct val="0"/>
        </a:spcAft>
        <a:buChar char="»"/>
        <a:defRPr sz="1313">
          <a:solidFill>
            <a:schemeClr val="tx1"/>
          </a:solidFill>
          <a:latin typeface="+mj-lt"/>
          <a:cs typeface="+mn-cs"/>
        </a:defRPr>
      </a:lvl6pPr>
      <a:lvl7pPr marL="2645048" indent="-203451" algn="l" rtl="0" eaLnBrk="1" fontAlgn="base" hangingPunct="1">
        <a:spcBef>
          <a:spcPct val="20000"/>
        </a:spcBef>
        <a:spcAft>
          <a:spcPct val="0"/>
        </a:spcAft>
        <a:buChar char="»"/>
        <a:defRPr sz="1313">
          <a:solidFill>
            <a:schemeClr val="tx1"/>
          </a:solidFill>
          <a:latin typeface="+mj-lt"/>
          <a:cs typeface="+mn-cs"/>
        </a:defRPr>
      </a:lvl7pPr>
      <a:lvl8pPr marL="3051978" indent="-203451" algn="l" rtl="0" eaLnBrk="1" fontAlgn="base" hangingPunct="1">
        <a:spcBef>
          <a:spcPct val="20000"/>
        </a:spcBef>
        <a:spcAft>
          <a:spcPct val="0"/>
        </a:spcAft>
        <a:buChar char="»"/>
        <a:defRPr sz="1313">
          <a:solidFill>
            <a:schemeClr val="tx1"/>
          </a:solidFill>
          <a:latin typeface="+mj-lt"/>
          <a:cs typeface="+mn-cs"/>
        </a:defRPr>
      </a:lvl8pPr>
      <a:lvl9pPr marL="3458912" indent="-203451" algn="l" rtl="0" eaLnBrk="1" fontAlgn="base" hangingPunct="1">
        <a:spcBef>
          <a:spcPct val="20000"/>
        </a:spcBef>
        <a:spcAft>
          <a:spcPct val="0"/>
        </a:spcAft>
        <a:buChar char="»"/>
        <a:defRPr sz="1313">
          <a:solidFill>
            <a:schemeClr val="tx1"/>
          </a:solidFill>
          <a:latin typeface="+mj-lt"/>
          <a:cs typeface="+mn-cs"/>
        </a:defRPr>
      </a:lvl9pPr>
    </p:bodyStyle>
    <p:otherStyle>
      <a:defPPr>
        <a:defRPr lang="en-US"/>
      </a:defPPr>
      <a:lvl1pPr marL="0" algn="l" defTabSz="813869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1pPr>
      <a:lvl2pPr marL="406933" algn="l" defTabSz="813869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2pPr>
      <a:lvl3pPr marL="813869" algn="l" defTabSz="813869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220804" algn="l" defTabSz="813869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4pPr>
      <a:lvl5pPr marL="1627736" algn="l" defTabSz="813869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5pPr>
      <a:lvl6pPr marL="2034658" algn="l" defTabSz="813869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441584" algn="l" defTabSz="813869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848516" algn="l" defTabSz="813869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255472" algn="l" defTabSz="813869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  <a:alpha val="70000"/>
              </a:schemeClr>
            </a:gs>
            <a:gs pos="100000">
              <a:schemeClr val="bg1">
                <a:lumMod val="85000"/>
                <a:alpha val="66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 bwMode="auto">
          <a:xfrm>
            <a:off x="8917989" y="6602365"/>
            <a:ext cx="202282" cy="257255"/>
          </a:xfrm>
          <a:prstGeom prst="rect">
            <a:avLst/>
          </a:prstGeom>
          <a:solidFill>
            <a:srgbClr val="B7BF3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851164" y="0"/>
            <a:ext cx="383565" cy="487805"/>
          </a:xfrm>
          <a:prstGeom prst="rect">
            <a:avLst/>
          </a:prstGeom>
          <a:solidFill>
            <a:srgbClr val="B7BF3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8054585" y="519049"/>
            <a:ext cx="180144" cy="234463"/>
          </a:xfrm>
          <a:prstGeom prst="rect">
            <a:avLst/>
          </a:prstGeom>
          <a:solidFill>
            <a:srgbClr val="3383A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033722" y="0"/>
            <a:ext cx="1795683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980713" y="0"/>
            <a:ext cx="169410" cy="167268"/>
          </a:xfrm>
          <a:prstGeom prst="rect">
            <a:avLst/>
          </a:prstGeom>
          <a:solidFill>
            <a:srgbClr val="D9D9D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t" anchorCtr="0" compatLnSpc="1">
            <a:prstTxWarp prst="textNoShape">
              <a:avLst/>
            </a:prstTxWarp>
          </a:bodyPr>
          <a:lstStyle/>
          <a:p>
            <a:pPr defTabSz="571478" eaLnBrk="1" hangingPunct="1"/>
            <a:endParaRPr lang="en-US" sz="1125" b="1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6489" y="0"/>
            <a:ext cx="702466" cy="935182"/>
          </a:xfrm>
          <a:prstGeom prst="rect">
            <a:avLst/>
          </a:prstGeom>
        </p:spPr>
      </p:pic>
      <p:sp>
        <p:nvSpPr>
          <p:cNvPr id="21" name="TextBox 11"/>
          <p:cNvSpPr txBox="1">
            <a:spLocks noChangeArrowheads="1"/>
          </p:cNvSpPr>
          <p:nvPr/>
        </p:nvSpPr>
        <p:spPr bwMode="auto">
          <a:xfrm>
            <a:off x="8826501" y="6644832"/>
            <a:ext cx="331934" cy="188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634" tIns="40818" rIns="81634" bIns="40818" anchor="ctr" anchorCtr="0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fld id="{7764118D-58D9-484E-865A-9D5019AA1089}" type="slidenum">
              <a:rPr lang="en-US" sz="688" b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688" b="0">
              <a:solidFill>
                <a:srgbClr val="FFFFFF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7063218" y="6600746"/>
            <a:ext cx="1817410" cy="257255"/>
          </a:xfrm>
          <a:prstGeom prst="rect">
            <a:avLst/>
          </a:prstGeom>
          <a:solidFill>
            <a:srgbClr val="005AA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57150" tIns="28575" rIns="57150" bIns="28575" numCol="1" rtlCol="0" anchor="ctr" anchorCtr="0" compatLnSpc="1">
            <a:prstTxWarp prst="textNoShape">
              <a:avLst/>
            </a:prstTxWarp>
          </a:bodyPr>
          <a:lstStyle/>
          <a:p>
            <a:pPr algn="ctr" defTabSz="571478" eaLnBrk="1" hangingPunct="1"/>
            <a:r>
              <a:rPr lang="en-US" sz="688">
                <a:solidFill>
                  <a:srgbClr val="FFFFFF"/>
                </a:solidFill>
                <a:latin typeface="Calibri Light" panose="020F0302020204030204" pitchFamily="34" charset="0"/>
                <a:cs typeface="Arial" charset="0"/>
              </a:rPr>
              <a:t>© 2018 Mellanox Technologies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9412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</p:sldLayoutIdLst>
  <p:txStyles>
    <p:titleStyle>
      <a:lvl1pPr algn="l" rtl="0" eaLnBrk="1" fontAlgn="base" hangingPunct="1">
        <a:lnSpc>
          <a:spcPts val="2524"/>
        </a:lnSpc>
        <a:spcBef>
          <a:spcPct val="0"/>
        </a:spcBef>
        <a:spcAft>
          <a:spcPct val="0"/>
        </a:spcAft>
        <a:defRPr sz="1937" b="0" baseline="0">
          <a:solidFill>
            <a:schemeClr val="bg1"/>
          </a:solidFill>
          <a:latin typeface="+mj-lt"/>
          <a:ea typeface="Arial" pitchFamily="34" charset="0"/>
          <a:cs typeface="Arial" pitchFamily="34" charset="0"/>
        </a:defRPr>
      </a:lvl1pPr>
      <a:lvl2pPr algn="l" rtl="0" eaLnBrk="1" fontAlgn="base" hangingPunct="1">
        <a:lnSpc>
          <a:spcPts val="2524"/>
        </a:lnSpc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2pPr>
      <a:lvl3pPr algn="l" rtl="0" eaLnBrk="1" fontAlgn="base" hangingPunct="1">
        <a:lnSpc>
          <a:spcPts val="2524"/>
        </a:lnSpc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3pPr>
      <a:lvl4pPr algn="l" rtl="0" eaLnBrk="1" fontAlgn="base" hangingPunct="1">
        <a:lnSpc>
          <a:spcPts val="2524"/>
        </a:lnSpc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4pPr>
      <a:lvl5pPr algn="l" rtl="0" eaLnBrk="1" fontAlgn="base" hangingPunct="1">
        <a:lnSpc>
          <a:spcPts val="2524"/>
        </a:lnSpc>
        <a:spcBef>
          <a:spcPct val="0"/>
        </a:spcBef>
        <a:spcAft>
          <a:spcPct val="0"/>
        </a:spcAft>
        <a:defRPr sz="25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5pPr>
      <a:lvl6pPr marL="406917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cs typeface="Arial" charset="0"/>
        </a:defRPr>
      </a:lvl6pPr>
      <a:lvl7pPr marL="813837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cs typeface="Arial" charset="0"/>
        </a:defRPr>
      </a:lvl7pPr>
      <a:lvl8pPr marL="1220756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cs typeface="Arial" charset="0"/>
        </a:defRPr>
      </a:lvl8pPr>
      <a:lvl9pPr marL="1627671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142434" indent="-153823" algn="l" rtl="0" eaLnBrk="1" fontAlgn="base" hangingPunct="1">
        <a:spcBef>
          <a:spcPts val="375"/>
        </a:spcBef>
        <a:spcAft>
          <a:spcPct val="0"/>
        </a:spcAft>
        <a:buClr>
          <a:schemeClr val="bg2">
            <a:lumMod val="75000"/>
          </a:schemeClr>
        </a:buClr>
        <a:buSzPct val="110000"/>
        <a:buFont typeface="Wingdings" charset="0"/>
        <a:buChar char="§"/>
        <a:defRPr sz="1500">
          <a:solidFill>
            <a:schemeClr val="tx2"/>
          </a:solidFill>
          <a:latin typeface="+mn-lt"/>
          <a:ea typeface="ＭＳ Ｐゴシック" charset="0"/>
          <a:cs typeface="Arial" pitchFamily="-108" charset="0"/>
        </a:defRPr>
      </a:lvl1pPr>
      <a:lvl2pPr marL="354103" indent="-159246" algn="l" rtl="0" eaLnBrk="1" fontAlgn="base" hangingPunct="1">
        <a:spcBef>
          <a:spcPts val="266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5000"/>
        <a:buFont typeface="Arial" charset="0"/>
        <a:buChar char="•"/>
        <a:defRPr sz="1313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2pPr>
      <a:lvl3pPr marL="512408" indent="-149358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4000"/>
        <a:buFont typeface="Lucida Grande" charset="0"/>
        <a:buChar char="-"/>
        <a:defRPr sz="1187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3pPr>
      <a:lvl4pPr marL="683677" indent="-170934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Wingdings" charset="0"/>
        <a:buChar char="§"/>
        <a:defRPr sz="1187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4pPr>
      <a:lvl5pPr marL="820421" indent="-131058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Lucida Grande" charset="0"/>
        <a:buChar char="›"/>
        <a:defRPr sz="875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5pPr>
      <a:lvl6pPr marL="2238005" indent="-203443" algn="l" rtl="0" eaLnBrk="1" fontAlgn="base" hangingPunct="1">
        <a:spcBef>
          <a:spcPct val="20000"/>
        </a:spcBef>
        <a:spcAft>
          <a:spcPct val="0"/>
        </a:spcAft>
        <a:buChar char="»"/>
        <a:defRPr sz="1313">
          <a:solidFill>
            <a:schemeClr val="tx1"/>
          </a:solidFill>
          <a:latin typeface="+mj-lt"/>
          <a:cs typeface="+mn-cs"/>
        </a:defRPr>
      </a:lvl6pPr>
      <a:lvl7pPr marL="2644943" indent="-203443" algn="l" rtl="0" eaLnBrk="1" fontAlgn="base" hangingPunct="1">
        <a:spcBef>
          <a:spcPct val="20000"/>
        </a:spcBef>
        <a:spcAft>
          <a:spcPct val="0"/>
        </a:spcAft>
        <a:buChar char="»"/>
        <a:defRPr sz="1313">
          <a:solidFill>
            <a:schemeClr val="tx1"/>
          </a:solidFill>
          <a:latin typeface="+mj-lt"/>
          <a:cs typeface="+mn-cs"/>
        </a:defRPr>
      </a:lvl7pPr>
      <a:lvl8pPr marL="3051856" indent="-203443" algn="l" rtl="0" eaLnBrk="1" fontAlgn="base" hangingPunct="1">
        <a:spcBef>
          <a:spcPct val="20000"/>
        </a:spcBef>
        <a:spcAft>
          <a:spcPct val="0"/>
        </a:spcAft>
        <a:buChar char="»"/>
        <a:defRPr sz="1313">
          <a:solidFill>
            <a:schemeClr val="tx1"/>
          </a:solidFill>
          <a:latin typeface="+mj-lt"/>
          <a:cs typeface="+mn-cs"/>
        </a:defRPr>
      </a:lvl8pPr>
      <a:lvl9pPr marL="3458774" indent="-203443" algn="l" rtl="0" eaLnBrk="1" fontAlgn="base" hangingPunct="1">
        <a:spcBef>
          <a:spcPct val="20000"/>
        </a:spcBef>
        <a:spcAft>
          <a:spcPct val="0"/>
        </a:spcAft>
        <a:buChar char="»"/>
        <a:defRPr sz="1313">
          <a:solidFill>
            <a:schemeClr val="tx1"/>
          </a:solidFill>
          <a:latin typeface="+mj-lt"/>
          <a:cs typeface="+mn-cs"/>
        </a:defRPr>
      </a:lvl9pPr>
    </p:bodyStyle>
    <p:otherStyle>
      <a:defPPr>
        <a:defRPr lang="en-US"/>
      </a:defPPr>
      <a:lvl1pPr marL="0" algn="l" defTabSz="813837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1pPr>
      <a:lvl2pPr marL="406917" algn="l" defTabSz="813837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2pPr>
      <a:lvl3pPr marL="813837" algn="l" defTabSz="813837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220756" algn="l" defTabSz="813837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4pPr>
      <a:lvl5pPr marL="1627671" algn="l" defTabSz="813837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5pPr>
      <a:lvl6pPr marL="2034576" algn="l" defTabSz="813837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441487" algn="l" defTabSz="813837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848403" algn="l" defTabSz="813837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255342" algn="l" defTabSz="813837" rtl="0" eaLnBrk="1" latinLnBrk="0" hangingPunct="1">
        <a:defRPr sz="16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EA2C57-01E3-4023-854C-DB81EF5E7664}" type="datetime8">
              <a:rPr kumimoji="0" lang="he-IL" sz="1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 נובמבר 24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BB9E23-74F4-4D50-984E-1E5F08A89036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5266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  <p:sldLayoutId id="2147483902" r:id="rId18"/>
    <p:sldLayoutId id="2147483903" r:id="rId19"/>
    <p:sldLayoutId id="2147483904" r:id="rId20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20 נובמבר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372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  <p:sldLayoutId id="2147483923" r:id="rId18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themeOverride" Target="../theme/themeOverrid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58.xml"/><Relationship Id="rId1" Type="http://schemas.openxmlformats.org/officeDocument/2006/relationships/themeOverride" Target="../theme/themeOverr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58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58.xml"/><Relationship Id="rId1" Type="http://schemas.openxmlformats.org/officeDocument/2006/relationships/themeOverride" Target="../theme/themeOverride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58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themeOverride" Target="../theme/themeOverride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62.xml"/><Relationship Id="rId1" Type="http://schemas.openxmlformats.org/officeDocument/2006/relationships/themeOverride" Target="../theme/themeOverride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58.xml"/><Relationship Id="rId1" Type="http://schemas.openxmlformats.org/officeDocument/2006/relationships/themeOverride" Target="../theme/themeOverride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57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58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58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56.xml"/><Relationship Id="rId1" Type="http://schemas.openxmlformats.org/officeDocument/2006/relationships/themeOverride" Target="../theme/themeOverride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themeOverride" Target="../theme/themeOverride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8.xml"/><Relationship Id="rId1" Type="http://schemas.openxmlformats.org/officeDocument/2006/relationships/themeOverride" Target="../theme/themeOverr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22333090-DFC8-4218-8AF7-788D56E46815}"/>
              </a:ext>
            </a:extLst>
          </p:cNvPr>
          <p:cNvSpPr>
            <a:spLocks noGrp="1" noChangeArrowheads="1"/>
          </p:cNvSpPr>
          <p:nvPr>
            <p:ph idx="13"/>
          </p:nvPr>
        </p:nvSpPr>
        <p:spPr>
          <a:xfrm>
            <a:off x="307258" y="4580946"/>
            <a:ext cx="5863431" cy="684417"/>
          </a:xfrm>
        </p:spPr>
        <p:txBody>
          <a:bodyPr/>
          <a:lstStyle/>
          <a:p>
            <a:r>
              <a:rPr lang="en-US" altLang="en-US" dirty="0"/>
              <a:t>Dotan Finkelshtein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May 2018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6F8EE86D-154B-4440-AF12-5FBFCAB8A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258" y="3505200"/>
            <a:ext cx="3850722" cy="1075746"/>
          </a:xfrm>
        </p:spPr>
        <p:txBody>
          <a:bodyPr/>
          <a:lstStyle/>
          <a:p>
            <a:br>
              <a:rPr lang="en-US" dirty="0"/>
            </a:br>
            <a:br>
              <a:rPr lang="en-US" altLang="en-US" kern="1200" dirty="0"/>
            </a:br>
            <a:r>
              <a:rPr lang="en-US" dirty="0"/>
              <a:t>Mellanox</a:t>
            </a:r>
            <a:br>
              <a:rPr lang="en-US" altLang="en-US" kern="1200" dirty="0"/>
            </a:br>
            <a:r>
              <a:rPr lang="en-US" altLang="en-US" kern="1200" dirty="0"/>
              <a:t>HDL Good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42949" cy="685800"/>
          </a:xfrm>
        </p:spPr>
        <p:txBody>
          <a:bodyPr/>
          <a:lstStyle/>
          <a:p>
            <a:r>
              <a:rPr lang="en-US" sz="4000" dirty="0"/>
              <a:t>About me…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" y="1524000"/>
            <a:ext cx="8397875" cy="4826000"/>
          </a:xfrm>
          <a:prstGeom prst="rect">
            <a:avLst/>
          </a:prstGeom>
        </p:spPr>
        <p:txBody>
          <a:bodyPr/>
          <a:lstStyle>
            <a:lvl1pPr marL="142439" indent="-153829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bg2">
                  <a:lumMod val="75000"/>
                </a:schemeClr>
              </a:buClr>
              <a:buSzPct val="110000"/>
              <a:buFont typeface="Wingdings" charset="0"/>
              <a:buChar char="§"/>
              <a:defRPr sz="1500">
                <a:solidFill>
                  <a:schemeClr val="tx2"/>
                </a:solidFill>
                <a:latin typeface="+mn-lt"/>
                <a:ea typeface="ＭＳ Ｐゴシック" charset="0"/>
                <a:cs typeface="Arial" pitchFamily="-108" charset="0"/>
              </a:defRPr>
            </a:lvl1pPr>
            <a:lvl2pPr marL="354117" indent="-159253" algn="l" rtl="0" eaLnBrk="1" fontAlgn="base" hangingPunct="1">
              <a:spcBef>
                <a:spcPts val="266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105000"/>
              <a:buFont typeface="Arial" charset="0"/>
              <a:buChar char="•"/>
              <a:defRPr sz="131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Arial" pitchFamily="36" charset="0"/>
                <a:cs typeface="Arial" pitchFamily="-108" charset="0"/>
              </a:defRPr>
            </a:lvl2pPr>
            <a:lvl3pPr marL="512428" indent="-1493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104000"/>
              <a:buFont typeface="Lucida Grande" charset="0"/>
              <a:buChar char="-"/>
              <a:defRPr sz="1188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Arial" pitchFamily="36" charset="0"/>
                <a:cs typeface="Arial" pitchFamily="-108" charset="0"/>
              </a:defRPr>
            </a:lvl3pPr>
            <a:lvl4pPr marL="683704" indent="-17094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Wingdings" charset="0"/>
              <a:buChar char="§"/>
              <a:defRPr sz="1188">
                <a:solidFill>
                  <a:schemeClr val="bg1">
                    <a:lumMod val="50000"/>
                  </a:schemeClr>
                </a:solidFill>
                <a:latin typeface="+mn-lt"/>
                <a:ea typeface="Arial" pitchFamily="36" charset="0"/>
                <a:cs typeface="Arial" pitchFamily="-108" charset="0"/>
              </a:defRPr>
            </a:lvl4pPr>
            <a:lvl5pPr marL="820454" indent="-1310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Font typeface="Lucida Grande" charset="0"/>
              <a:buChar char="›"/>
              <a:defRPr sz="875">
                <a:solidFill>
                  <a:schemeClr val="bg1">
                    <a:lumMod val="50000"/>
                  </a:schemeClr>
                </a:solidFill>
                <a:latin typeface="+mn-lt"/>
                <a:ea typeface="Arial" pitchFamily="36" charset="0"/>
                <a:cs typeface="Arial" pitchFamily="-108" charset="0"/>
              </a:defRPr>
            </a:lvl5pPr>
            <a:lvl6pPr marL="2238094" indent="-20345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13">
                <a:solidFill>
                  <a:schemeClr val="tx1"/>
                </a:solidFill>
                <a:latin typeface="+mj-lt"/>
                <a:cs typeface="+mn-cs"/>
              </a:defRPr>
            </a:lvl6pPr>
            <a:lvl7pPr marL="2645048" indent="-20345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13">
                <a:solidFill>
                  <a:schemeClr val="tx1"/>
                </a:solidFill>
                <a:latin typeface="+mj-lt"/>
                <a:cs typeface="+mn-cs"/>
              </a:defRPr>
            </a:lvl7pPr>
            <a:lvl8pPr marL="3051978" indent="-20345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13">
                <a:solidFill>
                  <a:schemeClr val="tx1"/>
                </a:solidFill>
                <a:latin typeface="+mj-lt"/>
                <a:cs typeface="+mn-cs"/>
              </a:defRPr>
            </a:lvl8pPr>
            <a:lvl9pPr marL="3458912" indent="-20345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13">
                <a:solidFill>
                  <a:schemeClr val="tx1"/>
                </a:solidFill>
                <a:latin typeface="+mj-lt"/>
                <a:cs typeface="+mn-cs"/>
              </a:defRPr>
            </a:lvl9pPr>
          </a:lstStyle>
          <a:p>
            <a:pPr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Dotan Finkelshtein</a:t>
            </a:r>
          </a:p>
          <a:p>
            <a:pPr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</a:pPr>
            <a:endParaRPr lang="en-US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  <a:p>
            <a:pPr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BSc in EE @ BGU</a:t>
            </a:r>
          </a:p>
          <a:p>
            <a:pPr>
              <a:lnSpc>
                <a:spcPct val="80000"/>
              </a:lnSpc>
              <a:buClr>
                <a:srgbClr val="B7C035"/>
              </a:buClr>
              <a:buSzPct val="120000"/>
              <a:buFont typeface="Wingdings" charset="2"/>
              <a:buChar char="§"/>
            </a:pPr>
            <a:endParaRPr lang="en-US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42439" lvl="1" indent="-153829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MBA in the </a:t>
            </a:r>
            <a:r>
              <a:rPr lang="en-US" altLang="en-US" sz="22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Technion</a:t>
            </a:r>
            <a:endParaRPr lang="en-US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42439" lvl="1" indent="-153829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endParaRPr lang="en-US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42439" lvl="1" indent="-153829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&gt;7 years of Chip Design experience</a:t>
            </a:r>
          </a:p>
          <a:p>
            <a:pPr marL="0" lvl="1" indent="0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None/>
            </a:pPr>
            <a:endParaRPr lang="en-US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42439" lvl="1" indent="-153829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Today – Cloud Network Adapter project manager.</a:t>
            </a:r>
          </a:p>
          <a:p>
            <a:pPr marL="142439" lvl="1" indent="-153829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endParaRPr lang="en-US" altLang="en-US" sz="225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42439" lvl="1" indent="-153829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Email - dotanf@mellanox.com</a:t>
            </a:r>
          </a:p>
          <a:p>
            <a:pPr marL="0" indent="0">
              <a:buNone/>
            </a:pPr>
            <a:endParaRPr lang="en-US" altLang="en-US" sz="2250" kern="0" dirty="0"/>
          </a:p>
          <a:p>
            <a:endParaRPr lang="en-US" altLang="en-US" sz="2400" kern="0" dirty="0"/>
          </a:p>
          <a:p>
            <a:endParaRPr lang="en-US" altLang="en-US" sz="2400" kern="0" dirty="0"/>
          </a:p>
          <a:p>
            <a:endParaRPr lang="en-US" kern="0" dirty="0"/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725621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87760"/>
              </p:ext>
            </p:extLst>
          </p:nvPr>
        </p:nvGraphicFramePr>
        <p:xfrm>
          <a:off x="2286000" y="1489868"/>
          <a:ext cx="6858000" cy="4606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×ª××¦××ª ×ª××× × ×¢×××¨ âªMellanox logo transparentâ¬â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32" y="304800"/>
            <a:ext cx="3261732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9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6200" y="2430053"/>
            <a:ext cx="3381835" cy="2725759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136898" y="4836579"/>
            <a:ext cx="930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We Live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6898" y="4800600"/>
            <a:ext cx="19050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 a World of Data</a:t>
            </a:r>
          </a:p>
        </p:txBody>
      </p:sp>
      <p:sp>
        <p:nvSpPr>
          <p:cNvPr id="5" name="Rectangular Callout 4"/>
          <p:cNvSpPr/>
          <p:nvPr/>
        </p:nvSpPr>
        <p:spPr bwMode="auto">
          <a:xfrm>
            <a:off x="304800" y="1923490"/>
            <a:ext cx="1524000" cy="743509"/>
          </a:xfrm>
          <a:prstGeom prst="wedgeRectCallout">
            <a:avLst>
              <a:gd name="adj1" fmla="val 151808"/>
              <a:gd name="adj2" fmla="val 56761"/>
            </a:avLst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1600" b="1">
                <a:solidFill>
                  <a:schemeClr val="tx1"/>
                </a:solidFill>
                <a:latin typeface="Arial" charset="0"/>
                <a:cs typeface="Arial" charset="0"/>
              </a:rPr>
              <a:t>Many people read the code</a:t>
            </a:r>
            <a:endParaRPr lang="he-IL" sz="1600" b="1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ectangular Callout 8"/>
          <p:cNvSpPr/>
          <p:nvPr/>
        </p:nvSpPr>
        <p:spPr bwMode="auto">
          <a:xfrm>
            <a:off x="327398" y="2990291"/>
            <a:ext cx="1714500" cy="616894"/>
          </a:xfrm>
          <a:prstGeom prst="wedgeRectCallout">
            <a:avLst>
              <a:gd name="adj1" fmla="val 149292"/>
              <a:gd name="adj2" fmla="val 87525"/>
            </a:avLst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1600" b="1" dirty="0">
                <a:solidFill>
                  <a:schemeClr val="tx1"/>
                </a:solidFill>
                <a:latin typeface="Arial" charset="0"/>
                <a:cs typeface="Arial" charset="0"/>
              </a:rPr>
              <a:t>Design last for many years</a:t>
            </a:r>
            <a:endParaRPr lang="he-IL" sz="1600" b="1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568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Motivation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en-US" sz="2000" dirty="0"/>
              <a:t>Code will be read many times in the product life cycle</a:t>
            </a:r>
          </a:p>
          <a:p>
            <a:pPr lvl="1"/>
            <a:r>
              <a:rPr lang="en-US" altLang="en-US" sz="2000" dirty="0"/>
              <a:t>Design code review</a:t>
            </a:r>
          </a:p>
          <a:p>
            <a:pPr lvl="1"/>
            <a:r>
              <a:rPr lang="en-US" altLang="en-US" sz="2000" dirty="0"/>
              <a:t>Pre silicon verification debug</a:t>
            </a:r>
          </a:p>
          <a:p>
            <a:pPr lvl="1"/>
            <a:r>
              <a:rPr lang="en-US" altLang="en-US" sz="2000" dirty="0"/>
              <a:t>Post silicon verification / debug</a:t>
            </a:r>
          </a:p>
          <a:p>
            <a:pPr lvl="1"/>
            <a:r>
              <a:rPr lang="en-US" altLang="en-US" sz="2000" dirty="0"/>
              <a:t>Reference code for future projects</a:t>
            </a:r>
          </a:p>
          <a:p>
            <a:pPr lvl="1"/>
            <a:endParaRPr lang="en-US" altLang="en-US" sz="2000" dirty="0"/>
          </a:p>
          <a:p>
            <a:r>
              <a:rPr lang="en-US" altLang="en-US" sz="2000" dirty="0"/>
              <a:t>Code has to be good enough to handle any expected changes</a:t>
            </a:r>
          </a:p>
          <a:p>
            <a:pPr lvl="1"/>
            <a:r>
              <a:rPr lang="en-US" altLang="en-US" sz="2000" dirty="0"/>
              <a:t>Bug fixes during debug stage</a:t>
            </a:r>
          </a:p>
          <a:p>
            <a:pPr lvl="1"/>
            <a:r>
              <a:rPr lang="en-US" altLang="en-US" sz="2000" dirty="0"/>
              <a:t>Feature additions</a:t>
            </a:r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r>
              <a:rPr lang="en-US" altLang="en-US" sz="2250" dirty="0"/>
              <a:t>Code has to work </a:t>
            </a:r>
            <a:r>
              <a:rPr lang="en-US" altLang="en-US" sz="2250" dirty="0">
                <a:sym typeface="Wingdings" panose="05000000000000000000" pitchFamily="2" charset="2"/>
              </a:rPr>
              <a:t></a:t>
            </a:r>
            <a:endParaRPr lang="en-US" altLang="en-US" sz="2250" dirty="0"/>
          </a:p>
          <a:p>
            <a:endParaRPr lang="en-US" altLang="en-US" sz="225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25017" flipH="1">
            <a:off x="5030870" y="3576718"/>
            <a:ext cx="3915537" cy="33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59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Good Coding Style Principles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33400" y="1676400"/>
            <a:ext cx="7162799" cy="38100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en-US" altLang="en-US" sz="2250" dirty="0"/>
          </a:p>
          <a:p>
            <a:endParaRPr lang="en-US" altLang="en-US" sz="2250" dirty="0"/>
          </a:p>
          <a:p>
            <a:r>
              <a:rPr lang="en-US" altLang="en-US" sz="2250" dirty="0"/>
              <a:t>Hierarchies</a:t>
            </a:r>
          </a:p>
          <a:p>
            <a:endParaRPr lang="en-US" altLang="en-US" sz="2250" dirty="0"/>
          </a:p>
          <a:p>
            <a:r>
              <a:rPr lang="en-US" altLang="en-US" sz="2250" dirty="0"/>
              <a:t>Naming conventions</a:t>
            </a:r>
          </a:p>
          <a:p>
            <a:endParaRPr lang="en-US" altLang="en-US" sz="2250" dirty="0"/>
          </a:p>
          <a:p>
            <a:r>
              <a:rPr lang="en-US" altLang="en-US" sz="2250" dirty="0"/>
              <a:t>Comments</a:t>
            </a:r>
          </a:p>
          <a:p>
            <a:endParaRPr lang="en-US" altLang="en-US" sz="2250" dirty="0"/>
          </a:p>
          <a:p>
            <a:r>
              <a:rPr lang="en-US" altLang="en-US" sz="2250" dirty="0"/>
              <a:t>Parameters</a:t>
            </a:r>
          </a:p>
          <a:p>
            <a:endParaRPr lang="en-US" altLang="en-US" sz="2250" dirty="0"/>
          </a:p>
          <a:p>
            <a:r>
              <a:rPr lang="en-US" altLang="en-US" sz="2250" dirty="0"/>
              <a:t>Implementation principles</a:t>
            </a:r>
          </a:p>
          <a:p>
            <a:endParaRPr lang="en-US" altLang="en-US" sz="2250" dirty="0"/>
          </a:p>
          <a:p>
            <a:endParaRPr lang="en-US" altLang="en-US" sz="2250" dirty="0"/>
          </a:p>
          <a:p>
            <a:endParaRPr lang="en-US" altLang="en-US" sz="2250" dirty="0"/>
          </a:p>
          <a:p>
            <a:endParaRPr lang="en-US" altLang="en-US" sz="2250" dirty="0"/>
          </a:p>
          <a:p>
            <a:endParaRPr lang="en-US" altLang="en-US" sz="225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endParaRPr lang="en-US" alt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355203" y="1268397"/>
            <a:ext cx="7442949" cy="54560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 sz="275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algn="l" rtl="0" eaLnBrk="1" fontAlgn="base" hangingPunct="1">
              <a:lnSpc>
                <a:spcPts val="2524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2pPr>
            <a:lvl3pPr algn="l" rtl="0" eaLnBrk="1" fontAlgn="base" hangingPunct="1">
              <a:lnSpc>
                <a:spcPts val="2524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3pPr>
            <a:lvl4pPr algn="l" rtl="0" eaLnBrk="1" fontAlgn="base" hangingPunct="1">
              <a:lnSpc>
                <a:spcPts val="2524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4pPr>
            <a:lvl5pPr algn="l" rtl="0" eaLnBrk="1" fontAlgn="base" hangingPunct="1">
              <a:lnSpc>
                <a:spcPts val="2524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bg1"/>
                </a:solidFill>
                <a:latin typeface="Arial Narrow Bold" pitchFamily="-108" charset="0"/>
                <a:ea typeface="Arial" pitchFamily="36" charset="0"/>
                <a:cs typeface="Arial" charset="0"/>
              </a:defRPr>
            </a:lvl5pPr>
            <a:lvl6pPr marL="406933"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813869"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220804"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627736"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800" kern="0" dirty="0"/>
              <a:t>Agenda:</a:t>
            </a:r>
          </a:p>
        </p:txBody>
      </p:sp>
    </p:spTree>
    <p:extLst>
      <p:ext uri="{BB962C8B-B14F-4D97-AF65-F5344CB8AC3E}">
        <p14:creationId xmlns:p14="http://schemas.microsoft.com/office/powerpoint/2010/main" val="3503268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Hierarchies – modules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en-US" sz="2250" dirty="0"/>
              <a:t>Module name should be meaningful</a:t>
            </a:r>
          </a:p>
          <a:p>
            <a:pPr lvl="1"/>
            <a:r>
              <a:rPr lang="en-US" altLang="en-US" sz="1800" dirty="0"/>
              <a:t>File should have only one module (Verilog)</a:t>
            </a:r>
          </a:p>
          <a:p>
            <a:pPr lvl="1"/>
            <a:r>
              <a:rPr lang="en-US" altLang="en-US" sz="1800" dirty="0"/>
              <a:t>Module name should be the same as file name (Verilog)</a:t>
            </a:r>
          </a:p>
          <a:p>
            <a:pPr lvl="1"/>
            <a:r>
              <a:rPr lang="en-US" altLang="en-US" sz="1800" dirty="0">
                <a:solidFill>
                  <a:srgbClr val="00B050"/>
                </a:solidFill>
              </a:rPr>
              <a:t>Good module name</a:t>
            </a:r>
            <a:r>
              <a:rPr lang="en-US" altLang="en-US" sz="1800" dirty="0"/>
              <a:t>- “</a:t>
            </a:r>
            <a:r>
              <a:rPr lang="en-US" altLang="en-US" sz="1800" dirty="0" err="1"/>
              <a:t>link_state_machine</a:t>
            </a:r>
            <a:r>
              <a:rPr lang="en-US" altLang="en-US" sz="1800" dirty="0"/>
              <a:t>”</a:t>
            </a:r>
          </a:p>
          <a:p>
            <a:pPr lvl="1"/>
            <a:r>
              <a:rPr lang="en-US" altLang="en-US" sz="1800" dirty="0">
                <a:solidFill>
                  <a:srgbClr val="FF0000"/>
                </a:solidFill>
              </a:rPr>
              <a:t>Bad module name</a:t>
            </a:r>
            <a:r>
              <a:rPr lang="en-US" altLang="en-US" sz="1800" dirty="0"/>
              <a:t> – “</a:t>
            </a:r>
            <a:r>
              <a:rPr lang="en-US" altLang="en-US" sz="1800" dirty="0" err="1"/>
              <a:t>yu_led</a:t>
            </a:r>
            <a:r>
              <a:rPr lang="en-US" altLang="en-US" sz="1800" dirty="0"/>
              <a:t>”</a:t>
            </a:r>
          </a:p>
          <a:p>
            <a:pPr lvl="2"/>
            <a:r>
              <a:rPr lang="en-US" altLang="en-US" sz="1550" dirty="0" err="1"/>
              <a:t>Yu_led</a:t>
            </a:r>
            <a:r>
              <a:rPr lang="en-US" altLang="en-US" sz="1550" dirty="0"/>
              <a:t> is a block that implements a shift register protocol. Some of the data that is passed in the SR is related to LED. Most of it don’t </a:t>
            </a:r>
            <a:r>
              <a:rPr lang="en-US" altLang="en-US" sz="1550" dirty="0">
                <a:sym typeface="Wingdings" panose="05000000000000000000" pitchFamily="2" charset="2"/>
              </a:rPr>
              <a:t></a:t>
            </a:r>
            <a:endParaRPr lang="en-US" altLang="en-US" sz="1550" dirty="0"/>
          </a:p>
          <a:p>
            <a:pPr marL="0" indent="0">
              <a:buNone/>
            </a:pPr>
            <a:endParaRPr lang="en-US" altLang="en-US" sz="1000" dirty="0"/>
          </a:p>
          <a:p>
            <a:r>
              <a:rPr lang="en-US" altLang="en-US" sz="2250" dirty="0"/>
              <a:t>Instance name should be the same as the module name or with added postfix for multiple instantiation or generic cells</a:t>
            </a:r>
          </a:p>
          <a:p>
            <a:pPr lvl="1"/>
            <a:r>
              <a:rPr lang="en-US" altLang="en-US" sz="1800" dirty="0"/>
              <a:t>Improved traceability in verification and synthesis</a:t>
            </a:r>
          </a:p>
          <a:p>
            <a:pPr lvl="1"/>
            <a:endParaRPr lang="en-US" altLang="en-US" sz="1800" dirty="0"/>
          </a:p>
          <a:p>
            <a:r>
              <a:rPr lang="en-US" altLang="en-US" sz="2250" dirty="0"/>
              <a:t>Module size should be ~600 Verilog lines (including comments)</a:t>
            </a:r>
          </a:p>
          <a:p>
            <a:pPr marL="0" indent="0">
              <a:buNone/>
            </a:pPr>
            <a:endParaRPr lang="en-US" altLang="en-US" sz="2250" dirty="0"/>
          </a:p>
          <a:p>
            <a:r>
              <a:rPr lang="en-US" altLang="en-US" sz="2400" dirty="0"/>
              <a:t>Related logic should be in a single module</a:t>
            </a:r>
          </a:p>
          <a:p>
            <a:r>
              <a:rPr lang="en-US" altLang="en-US" sz="2250" dirty="0"/>
              <a:t>Most modules should have a single state machine or pipe line</a:t>
            </a:r>
          </a:p>
          <a:p>
            <a:endParaRPr lang="en-US" altLang="en-US" sz="2250" dirty="0"/>
          </a:p>
          <a:p>
            <a:endParaRPr lang="en-US" altLang="en-US" sz="2250" dirty="0"/>
          </a:p>
          <a:p>
            <a:endParaRPr lang="en-US" altLang="en-US" sz="2250" dirty="0"/>
          </a:p>
          <a:p>
            <a:endParaRPr lang="en-US" altLang="en-US" sz="2250" dirty="0"/>
          </a:p>
          <a:p>
            <a:endParaRPr lang="en-US" altLang="en-US" sz="2250" dirty="0"/>
          </a:p>
          <a:p>
            <a:pPr marL="0" indent="0">
              <a:buNone/>
            </a:pPr>
            <a:endParaRPr lang="en-US" altLang="en-US" sz="2250" dirty="0"/>
          </a:p>
          <a:p>
            <a:endParaRPr lang="en-US" altLang="en-US" sz="2250" dirty="0"/>
          </a:p>
        </p:txBody>
      </p:sp>
    </p:spTree>
    <p:extLst>
      <p:ext uri="{BB962C8B-B14F-4D97-AF65-F5344CB8AC3E}">
        <p14:creationId xmlns:p14="http://schemas.microsoft.com/office/powerpoint/2010/main" val="2757792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Hierarchies - interface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en-US" sz="2250" dirty="0"/>
              <a:t>Use small and simple interface</a:t>
            </a:r>
          </a:p>
          <a:p>
            <a:endParaRPr lang="en-US" altLang="en-US" sz="2250" dirty="0"/>
          </a:p>
          <a:p>
            <a:r>
              <a:rPr lang="en-US" altLang="en-US" sz="2250" dirty="0"/>
              <a:t>Interface should have meaningful names</a:t>
            </a:r>
          </a:p>
          <a:p>
            <a:pPr marL="0" indent="0">
              <a:buNone/>
            </a:pPr>
            <a:endParaRPr lang="en-US" altLang="en-US" sz="2250" dirty="0"/>
          </a:p>
          <a:p>
            <a:r>
              <a:rPr lang="en-US" altLang="en-US" sz="2250" dirty="0"/>
              <a:t>Use many remarks on interfaces</a:t>
            </a:r>
          </a:p>
          <a:p>
            <a:endParaRPr lang="en-US" altLang="en-US" sz="2250" dirty="0"/>
          </a:p>
          <a:p>
            <a:r>
              <a:rPr lang="en-US" altLang="en-US" sz="2250" dirty="0"/>
              <a:t>Feed-through (combinatorial path from input to output) should be avoided</a:t>
            </a:r>
          </a:p>
          <a:p>
            <a:endParaRPr lang="en-US" altLang="en-US" sz="2250" dirty="0">
              <a:solidFill>
                <a:srgbClr val="FFFF00"/>
              </a:solidFill>
            </a:endParaRPr>
          </a:p>
          <a:p>
            <a:r>
              <a:rPr lang="en-US" altLang="en-US" sz="2250" dirty="0"/>
              <a:t>Example – I/F of credit management block:</a:t>
            </a:r>
          </a:p>
          <a:p>
            <a:endParaRPr lang="en-US" altLang="en-US" sz="2250" dirty="0"/>
          </a:p>
          <a:p>
            <a:pPr lvl="1"/>
            <a:r>
              <a:rPr lang="en-US" altLang="en-US" sz="1800" i="1" dirty="0">
                <a:solidFill>
                  <a:srgbClr val="7030A0"/>
                </a:solidFill>
              </a:rPr>
              <a:t>input            </a:t>
            </a:r>
            <a:r>
              <a:rPr lang="en-US" altLang="en-US" sz="1800" i="1" dirty="0" err="1">
                <a:solidFill>
                  <a:srgbClr val="7030A0"/>
                </a:solidFill>
              </a:rPr>
              <a:t>clk</a:t>
            </a:r>
            <a:r>
              <a:rPr lang="en-US" altLang="en-US" sz="1800" i="1" dirty="0">
                <a:solidFill>
                  <a:srgbClr val="7030A0"/>
                </a:solidFill>
              </a:rPr>
              <a:t>;</a:t>
            </a:r>
          </a:p>
          <a:p>
            <a:pPr lvl="1"/>
            <a:r>
              <a:rPr lang="en-US" altLang="en-US" sz="1800" i="1" dirty="0">
                <a:solidFill>
                  <a:srgbClr val="7030A0"/>
                </a:solidFill>
              </a:rPr>
              <a:t>input            reset;</a:t>
            </a:r>
          </a:p>
          <a:p>
            <a:pPr lvl="1"/>
            <a:r>
              <a:rPr lang="en-US" altLang="en-US" sz="1800" i="1" dirty="0">
                <a:solidFill>
                  <a:srgbClr val="7030A0"/>
                </a:solidFill>
              </a:rPr>
              <a:t>input            </a:t>
            </a:r>
            <a:r>
              <a:rPr lang="en-US" altLang="en-US" sz="1800" i="1" dirty="0" err="1">
                <a:solidFill>
                  <a:srgbClr val="7030A0"/>
                </a:solidFill>
              </a:rPr>
              <a:t>inc</a:t>
            </a:r>
            <a:r>
              <a:rPr lang="en-US" altLang="en-US" sz="1800" i="1" dirty="0">
                <a:solidFill>
                  <a:srgbClr val="7030A0"/>
                </a:solidFill>
              </a:rPr>
              <a:t>;</a:t>
            </a:r>
          </a:p>
          <a:p>
            <a:pPr lvl="1"/>
            <a:r>
              <a:rPr lang="en-US" altLang="en-US" sz="1800" i="1" dirty="0">
                <a:solidFill>
                  <a:srgbClr val="7030A0"/>
                </a:solidFill>
              </a:rPr>
              <a:t>input            </a:t>
            </a:r>
            <a:r>
              <a:rPr lang="en-US" altLang="en-US" sz="1800" i="1" dirty="0" err="1">
                <a:solidFill>
                  <a:srgbClr val="7030A0"/>
                </a:solidFill>
              </a:rPr>
              <a:t>dec</a:t>
            </a:r>
            <a:r>
              <a:rPr lang="en-US" altLang="en-US" sz="1800" i="1" dirty="0">
                <a:solidFill>
                  <a:srgbClr val="7030A0"/>
                </a:solidFill>
              </a:rPr>
              <a:t>;</a:t>
            </a:r>
          </a:p>
          <a:p>
            <a:pPr lvl="1"/>
            <a:r>
              <a:rPr lang="en-US" altLang="en-US" sz="1800" i="1" dirty="0">
                <a:solidFill>
                  <a:srgbClr val="7030A0"/>
                </a:solidFill>
              </a:rPr>
              <a:t>output           </a:t>
            </a:r>
            <a:r>
              <a:rPr lang="en-US" altLang="en-US" sz="1800" i="1" dirty="0" err="1">
                <a:solidFill>
                  <a:srgbClr val="7030A0"/>
                </a:solidFill>
              </a:rPr>
              <a:t>has_credit</a:t>
            </a:r>
            <a:r>
              <a:rPr lang="en-US" altLang="en-US" sz="1800" i="1" dirty="0">
                <a:solidFill>
                  <a:srgbClr val="7030A0"/>
                </a:solidFill>
              </a:rPr>
              <a:t>;</a:t>
            </a:r>
          </a:p>
          <a:p>
            <a:pPr lvl="1"/>
            <a:r>
              <a:rPr lang="en-US" altLang="en-US" sz="1800" i="1" dirty="0">
                <a:solidFill>
                  <a:srgbClr val="7030A0"/>
                </a:solidFill>
              </a:rPr>
              <a:t>output [WDT-1:0] credit;</a:t>
            </a:r>
          </a:p>
          <a:p>
            <a:endParaRPr lang="en-US" altLang="en-US" sz="2250" dirty="0"/>
          </a:p>
          <a:p>
            <a:endParaRPr lang="en-US" altLang="en-US" sz="2250" dirty="0"/>
          </a:p>
          <a:p>
            <a:endParaRPr lang="en-US" altLang="en-US" sz="2250" dirty="0"/>
          </a:p>
        </p:txBody>
      </p:sp>
    </p:spTree>
    <p:extLst>
      <p:ext uri="{BB962C8B-B14F-4D97-AF65-F5344CB8AC3E}">
        <p14:creationId xmlns:p14="http://schemas.microsoft.com/office/powerpoint/2010/main" val="53843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Naming Conventions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52400" y="838200"/>
            <a:ext cx="8397875" cy="4826000"/>
          </a:xfrm>
        </p:spPr>
        <p:txBody>
          <a:bodyPr/>
          <a:lstStyle/>
          <a:p>
            <a:r>
              <a:rPr lang="en-US" sz="2250" dirty="0"/>
              <a:t>Use meaningful names</a:t>
            </a:r>
            <a:endParaRPr lang="en-US" dirty="0"/>
          </a:p>
          <a:p>
            <a:pPr lvl="1"/>
            <a:r>
              <a:rPr lang="en-US" sz="1800" dirty="0"/>
              <a:t>Avoid abbreviations and acronyms – “arb”, “</a:t>
            </a:r>
            <a:r>
              <a:rPr lang="en-US" sz="1800" dirty="0" err="1"/>
              <a:t>gnt</a:t>
            </a:r>
            <a:r>
              <a:rPr lang="en-US" sz="1800" dirty="0"/>
              <a:t>”, “</a:t>
            </a:r>
            <a:r>
              <a:rPr lang="en-US" sz="1800" dirty="0" err="1"/>
              <a:t>ctl</a:t>
            </a:r>
            <a:r>
              <a:rPr lang="en-US" sz="1800" dirty="0"/>
              <a:t>”</a:t>
            </a:r>
          </a:p>
          <a:p>
            <a:pPr lvl="1"/>
            <a:r>
              <a:rPr lang="en-US" sz="1800" dirty="0"/>
              <a:t>Use long English names for your nets and module names</a:t>
            </a:r>
          </a:p>
          <a:p>
            <a:endParaRPr lang="en-US" sz="1050" dirty="0"/>
          </a:p>
          <a:p>
            <a:r>
              <a:rPr lang="en-US" sz="2050" dirty="0"/>
              <a:t>Avoid name aliasing</a:t>
            </a:r>
          </a:p>
          <a:p>
            <a:pPr lvl="1"/>
            <a:r>
              <a:rPr lang="en-US" sz="1800" i="1" dirty="0">
                <a:solidFill>
                  <a:srgbClr val="7030A0"/>
                </a:solidFill>
              </a:rPr>
              <a:t>wire </a:t>
            </a:r>
            <a:r>
              <a:rPr lang="en-US" sz="1800" i="1" dirty="0" err="1">
                <a:solidFill>
                  <a:srgbClr val="7030A0"/>
                </a:solidFill>
              </a:rPr>
              <a:t>qpc_vld</a:t>
            </a:r>
            <a:r>
              <a:rPr lang="en-US" sz="1800" i="1" dirty="0">
                <a:solidFill>
                  <a:srgbClr val="7030A0"/>
                </a:solidFill>
              </a:rPr>
              <a:t> = </a:t>
            </a:r>
            <a:r>
              <a:rPr lang="en-US" sz="1800" i="1" dirty="0" err="1">
                <a:solidFill>
                  <a:srgbClr val="7030A0"/>
                </a:solidFill>
              </a:rPr>
              <a:t>valid_signal</a:t>
            </a:r>
            <a:r>
              <a:rPr lang="en-US" sz="1800" i="1" dirty="0"/>
              <a:t>; </a:t>
            </a:r>
            <a:r>
              <a:rPr lang="en-US" sz="1800" dirty="0"/>
              <a:t>// </a:t>
            </a:r>
            <a:r>
              <a:rPr lang="en-US" sz="1800" dirty="0">
                <a:solidFill>
                  <a:srgbClr val="FF0000"/>
                </a:solidFill>
              </a:rPr>
              <a:t>bad coding style - rename</a:t>
            </a:r>
          </a:p>
          <a:p>
            <a:pPr lvl="1"/>
            <a:r>
              <a:rPr lang="en-US" sz="1800" i="1" dirty="0" err="1">
                <a:solidFill>
                  <a:srgbClr val="7030A0"/>
                </a:solidFill>
              </a:rPr>
              <a:t>qpc_vld</a:t>
            </a:r>
            <a:r>
              <a:rPr lang="en-US" sz="1800" i="1" dirty="0">
                <a:solidFill>
                  <a:srgbClr val="7030A0"/>
                </a:solidFill>
              </a:rPr>
              <a:t>(</a:t>
            </a:r>
            <a:r>
              <a:rPr lang="en-US" sz="1800" i="1" dirty="0" err="1">
                <a:solidFill>
                  <a:srgbClr val="7030A0"/>
                </a:solidFill>
              </a:rPr>
              <a:t>valid_signal</a:t>
            </a:r>
            <a:r>
              <a:rPr lang="en-US" sz="1800" i="1" dirty="0">
                <a:solidFill>
                  <a:srgbClr val="7030A0"/>
                </a:solidFill>
              </a:rPr>
              <a:t>),</a:t>
            </a:r>
            <a:r>
              <a:rPr lang="en-US" sz="1800" i="1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// bad coding style – rename. Instance preferably should have the same name as the port</a:t>
            </a:r>
          </a:p>
          <a:p>
            <a:pPr lvl="1"/>
            <a:endParaRPr lang="en-US" sz="1050" dirty="0"/>
          </a:p>
          <a:p>
            <a:pPr lvl="0"/>
            <a:r>
              <a:rPr lang="en-US" sz="2050" dirty="0"/>
              <a:t>Use “_d” suffix for saying the signal is delayed</a:t>
            </a:r>
          </a:p>
          <a:p>
            <a:pPr marL="0" lvl="0" indent="0">
              <a:buNone/>
            </a:pPr>
            <a:r>
              <a:rPr lang="en-US" sz="2050" dirty="0"/>
              <a:t>   </a:t>
            </a:r>
            <a:r>
              <a:rPr lang="en-US" sz="1550" i="1" dirty="0">
                <a:solidFill>
                  <a:srgbClr val="7030A0"/>
                </a:solidFill>
              </a:rPr>
              <a:t>input </a:t>
            </a:r>
            <a:r>
              <a:rPr lang="en-US" sz="1550" i="1" dirty="0" err="1">
                <a:solidFill>
                  <a:srgbClr val="7030A0"/>
                </a:solidFill>
              </a:rPr>
              <a:t>qpc_vld</a:t>
            </a:r>
            <a:r>
              <a:rPr lang="en-US" sz="1550" i="1" dirty="0">
                <a:solidFill>
                  <a:srgbClr val="7030A0"/>
                </a:solidFill>
              </a:rPr>
              <a:t>;</a:t>
            </a:r>
          </a:p>
          <a:p>
            <a:pPr marL="194864" lvl="1" indent="0">
              <a:buNone/>
            </a:pPr>
            <a:r>
              <a:rPr lang="en-US" sz="1550" i="1" dirty="0" err="1">
                <a:solidFill>
                  <a:srgbClr val="7030A0"/>
                </a:solidFill>
              </a:rPr>
              <a:t>reg</a:t>
            </a:r>
            <a:r>
              <a:rPr lang="en-US" sz="1550" i="1" dirty="0">
                <a:solidFill>
                  <a:srgbClr val="7030A0"/>
                </a:solidFill>
              </a:rPr>
              <a:t>   </a:t>
            </a:r>
            <a:r>
              <a:rPr lang="en-US" sz="1550" i="1" dirty="0" err="1">
                <a:solidFill>
                  <a:srgbClr val="7030A0"/>
                </a:solidFill>
              </a:rPr>
              <a:t>qpc_vld_d</a:t>
            </a:r>
            <a:r>
              <a:rPr lang="en-US" sz="1550" i="1" dirty="0">
                <a:solidFill>
                  <a:srgbClr val="7030A0"/>
                </a:solidFill>
              </a:rPr>
              <a:t>;</a:t>
            </a:r>
          </a:p>
          <a:p>
            <a:pPr marL="194864" lvl="1" indent="0">
              <a:buNone/>
            </a:pPr>
            <a:r>
              <a:rPr lang="en-US" sz="1550" i="1" dirty="0">
                <a:solidFill>
                  <a:srgbClr val="7030A0"/>
                </a:solidFill>
              </a:rPr>
              <a:t>always @(</a:t>
            </a:r>
            <a:r>
              <a:rPr lang="en-US" sz="1550" i="1" dirty="0" err="1">
                <a:solidFill>
                  <a:srgbClr val="7030A0"/>
                </a:solidFill>
              </a:rPr>
              <a:t>posedge</a:t>
            </a:r>
            <a:r>
              <a:rPr lang="en-US" sz="1550" i="1" dirty="0">
                <a:solidFill>
                  <a:srgbClr val="7030A0"/>
                </a:solidFill>
              </a:rPr>
              <a:t> </a:t>
            </a:r>
            <a:r>
              <a:rPr lang="en-US" sz="1550" i="1" dirty="0" err="1">
                <a:solidFill>
                  <a:srgbClr val="7030A0"/>
                </a:solidFill>
              </a:rPr>
              <a:t>clk</a:t>
            </a:r>
            <a:r>
              <a:rPr lang="en-US" sz="1550" i="1" dirty="0">
                <a:solidFill>
                  <a:srgbClr val="7030A0"/>
                </a:solidFill>
              </a:rPr>
              <a:t>)</a:t>
            </a:r>
          </a:p>
          <a:p>
            <a:pPr marL="194864" lvl="1" indent="0">
              <a:buNone/>
            </a:pPr>
            <a:r>
              <a:rPr lang="en-US" sz="1550" i="1" dirty="0" err="1">
                <a:solidFill>
                  <a:srgbClr val="7030A0"/>
                </a:solidFill>
              </a:rPr>
              <a:t>qpc_vld_d</a:t>
            </a:r>
            <a:r>
              <a:rPr lang="en-US" sz="1550" i="1" dirty="0">
                <a:solidFill>
                  <a:srgbClr val="7030A0"/>
                </a:solidFill>
              </a:rPr>
              <a:t> &lt;= #1 </a:t>
            </a:r>
            <a:r>
              <a:rPr lang="en-US" sz="1550" i="1" dirty="0" err="1">
                <a:solidFill>
                  <a:srgbClr val="7030A0"/>
                </a:solidFill>
              </a:rPr>
              <a:t>qpc_vld</a:t>
            </a:r>
            <a:r>
              <a:rPr lang="en-US" sz="1550" i="1" dirty="0">
                <a:solidFill>
                  <a:srgbClr val="7030A0"/>
                </a:solidFill>
              </a:rPr>
              <a:t>;</a:t>
            </a:r>
          </a:p>
          <a:p>
            <a:endParaRPr lang="en-US" sz="1050" dirty="0"/>
          </a:p>
          <a:p>
            <a:r>
              <a:rPr lang="en-US" sz="2250" dirty="0"/>
              <a:t>Use “_</a:t>
            </a:r>
            <a:r>
              <a:rPr lang="en-US" sz="2250" dirty="0" err="1"/>
              <a:t>ps</a:t>
            </a:r>
            <a:r>
              <a:rPr lang="en-US" sz="2250" dirty="0"/>
              <a:t>, _ns” for state machines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	</a:t>
            </a:r>
            <a:r>
              <a:rPr lang="en-US" altLang="en-US" sz="1550" i="1" dirty="0" err="1">
                <a:solidFill>
                  <a:srgbClr val="7030A0"/>
                </a:solidFill>
              </a:rPr>
              <a:t>reg</a:t>
            </a:r>
            <a:r>
              <a:rPr lang="en-US" altLang="en-US" sz="1550" i="1" dirty="0">
                <a:solidFill>
                  <a:srgbClr val="7030A0"/>
                </a:solidFill>
              </a:rPr>
              <a:t> [1:0] </a:t>
            </a:r>
            <a:r>
              <a:rPr lang="en-US" altLang="en-US" sz="1550" i="1" dirty="0" err="1">
                <a:solidFill>
                  <a:srgbClr val="7030A0"/>
                </a:solidFill>
              </a:rPr>
              <a:t>array_ps</a:t>
            </a:r>
            <a:r>
              <a:rPr lang="en-US" altLang="en-US" sz="1550" i="1" dirty="0">
                <a:solidFill>
                  <a:srgbClr val="7030A0"/>
                </a:solidFill>
              </a:rPr>
              <a:t>;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	</a:t>
            </a:r>
            <a:r>
              <a:rPr lang="en-US" altLang="en-US" sz="1550" i="1" dirty="0" err="1">
                <a:solidFill>
                  <a:srgbClr val="7030A0"/>
                </a:solidFill>
              </a:rPr>
              <a:t>reg</a:t>
            </a:r>
            <a:r>
              <a:rPr lang="en-US" altLang="en-US" sz="1550" i="1" dirty="0">
                <a:solidFill>
                  <a:srgbClr val="7030A0"/>
                </a:solidFill>
              </a:rPr>
              <a:t> [1:0] </a:t>
            </a:r>
            <a:r>
              <a:rPr lang="en-US" altLang="en-US" sz="1550" i="1" dirty="0" err="1">
                <a:solidFill>
                  <a:srgbClr val="7030A0"/>
                </a:solidFill>
              </a:rPr>
              <a:t>array_ns</a:t>
            </a:r>
            <a:r>
              <a:rPr lang="en-US" altLang="en-US" sz="1550" i="1" dirty="0">
                <a:solidFill>
                  <a:srgbClr val="7030A0"/>
                </a:solidFill>
              </a:rPr>
              <a:t>;</a:t>
            </a:r>
          </a:p>
          <a:p>
            <a:pPr lvl="0"/>
            <a:endParaRPr lang="en-US" sz="1050" dirty="0"/>
          </a:p>
          <a:p>
            <a:r>
              <a:rPr lang="en-US" sz="2250" dirty="0"/>
              <a:t>Use postfix “_n” or “_” for inverted logic </a:t>
            </a:r>
          </a:p>
          <a:p>
            <a:pPr lvl="1"/>
            <a:r>
              <a:rPr lang="en-US" sz="2000" dirty="0"/>
              <a:t>Avoid using negative logic if possible!</a:t>
            </a:r>
          </a:p>
          <a:p>
            <a:pPr lvl="1"/>
            <a:r>
              <a:rPr lang="en-US" sz="2000" dirty="0"/>
              <a:t>Exception is ‘</a:t>
            </a:r>
            <a:r>
              <a:rPr lang="en-US" sz="2000" dirty="0" err="1"/>
              <a:t>resetN</a:t>
            </a:r>
            <a:r>
              <a:rPr lang="en-US" sz="2000" dirty="0"/>
              <a:t>’.</a:t>
            </a:r>
          </a:p>
          <a:p>
            <a:pPr marL="194864" lvl="1" indent="0">
              <a:buNone/>
            </a:pPr>
            <a:endParaRPr lang="en-US" sz="1550" i="1" dirty="0">
              <a:solidFill>
                <a:srgbClr val="7030A0"/>
              </a:solidFill>
            </a:endParaRPr>
          </a:p>
          <a:p>
            <a:pPr lvl="1"/>
            <a:endParaRPr lang="en-US" sz="2000" dirty="0"/>
          </a:p>
          <a:p>
            <a:endParaRPr lang="en-US" altLang="en-US" sz="2250" dirty="0"/>
          </a:p>
          <a:p>
            <a:endParaRPr lang="en-US" altLang="en-US" sz="2250" b="1" dirty="0"/>
          </a:p>
          <a:p>
            <a:endParaRPr lang="en-US" altLang="en-US" sz="2250" b="1" dirty="0"/>
          </a:p>
          <a:p>
            <a:endParaRPr lang="en-US" altLang="en-US" sz="2250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2455008" y="4191000"/>
            <a:ext cx="669192" cy="18868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2721708" y="3962400"/>
            <a:ext cx="1371600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200" b="0" dirty="0"/>
              <a:t>#1 is for simulation only</a:t>
            </a:r>
          </a:p>
        </p:txBody>
      </p:sp>
    </p:spTree>
    <p:extLst>
      <p:ext uri="{BB962C8B-B14F-4D97-AF65-F5344CB8AC3E}">
        <p14:creationId xmlns:p14="http://schemas.microsoft.com/office/powerpoint/2010/main" val="722246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Comments – be cheap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04800" y="943842"/>
            <a:ext cx="8397875" cy="4826000"/>
          </a:xfrm>
        </p:spPr>
        <p:txBody>
          <a:bodyPr/>
          <a:lstStyle/>
          <a:p>
            <a:r>
              <a:rPr lang="en-US" sz="2050" dirty="0"/>
              <a:t>Code should be written in a self explanatory way. If you need many comments to describe the code – something might be wrong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// The following code implements a counter. Every clock cycle “</a:t>
            </a:r>
            <a:r>
              <a:rPr lang="en-US" altLang="en-US" sz="1550" i="1" dirty="0" err="1">
                <a:solidFill>
                  <a:srgbClr val="7030A0"/>
                </a:solidFill>
              </a:rPr>
              <a:t>counter_ps</a:t>
            </a:r>
            <a:r>
              <a:rPr lang="en-US" altLang="en-US" sz="1550" i="1" dirty="0">
                <a:solidFill>
                  <a:srgbClr val="7030A0"/>
                </a:solidFill>
              </a:rPr>
              <a:t>” is incremented if event happened.</a:t>
            </a:r>
          </a:p>
          <a:p>
            <a:pPr>
              <a:buNone/>
            </a:pPr>
            <a:r>
              <a:rPr lang="en-US" sz="1550" i="1" dirty="0" err="1">
                <a:solidFill>
                  <a:srgbClr val="7030A0"/>
                </a:solidFill>
              </a:rPr>
              <a:t>reg</a:t>
            </a:r>
            <a:r>
              <a:rPr lang="en-US" sz="1550" i="1" dirty="0">
                <a:solidFill>
                  <a:srgbClr val="7030A0"/>
                </a:solidFill>
              </a:rPr>
              <a:t> [3:0] </a:t>
            </a:r>
            <a:r>
              <a:rPr lang="en-US" sz="1550" i="1" dirty="0" err="1">
                <a:solidFill>
                  <a:srgbClr val="7030A0"/>
                </a:solidFill>
              </a:rPr>
              <a:t>counter_ps</a:t>
            </a:r>
            <a:r>
              <a:rPr lang="en-US" sz="1550" i="1" dirty="0">
                <a:solidFill>
                  <a:srgbClr val="7030A0"/>
                </a:solidFill>
              </a:rPr>
              <a:t>;</a:t>
            </a:r>
          </a:p>
          <a:p>
            <a:pPr>
              <a:buNone/>
            </a:pPr>
            <a:r>
              <a:rPr lang="en-US" sz="1550" i="1" dirty="0">
                <a:solidFill>
                  <a:srgbClr val="7030A0"/>
                </a:solidFill>
              </a:rPr>
              <a:t>wire [3:0] </a:t>
            </a:r>
            <a:r>
              <a:rPr lang="en-US" sz="1550" i="1" dirty="0" err="1">
                <a:solidFill>
                  <a:srgbClr val="7030A0"/>
                </a:solidFill>
              </a:rPr>
              <a:t>counter_ns</a:t>
            </a:r>
            <a:r>
              <a:rPr lang="en-US" sz="1550" i="1" dirty="0">
                <a:solidFill>
                  <a:srgbClr val="7030A0"/>
                </a:solidFill>
              </a:rPr>
              <a:t> = event ? </a:t>
            </a:r>
            <a:r>
              <a:rPr lang="en-US" sz="1550" i="1" dirty="0" err="1">
                <a:solidFill>
                  <a:srgbClr val="7030A0"/>
                </a:solidFill>
              </a:rPr>
              <a:t>counter_ps</a:t>
            </a:r>
            <a:r>
              <a:rPr lang="en-US" sz="1550" i="1" dirty="0">
                <a:solidFill>
                  <a:srgbClr val="7030A0"/>
                </a:solidFill>
              </a:rPr>
              <a:t> + 4’d1 : </a:t>
            </a:r>
            <a:r>
              <a:rPr lang="en-US" sz="1550" i="1" dirty="0" err="1">
                <a:solidFill>
                  <a:srgbClr val="7030A0"/>
                </a:solidFill>
              </a:rPr>
              <a:t>counter_ps</a:t>
            </a:r>
            <a:r>
              <a:rPr lang="en-US" sz="1550" i="1" dirty="0">
                <a:solidFill>
                  <a:srgbClr val="7030A0"/>
                </a:solidFill>
              </a:rPr>
              <a:t>;</a:t>
            </a:r>
          </a:p>
          <a:p>
            <a:pPr>
              <a:buNone/>
            </a:pPr>
            <a:r>
              <a:rPr lang="en-US" sz="1550" i="1" dirty="0">
                <a:solidFill>
                  <a:srgbClr val="7030A0"/>
                </a:solidFill>
              </a:rPr>
              <a:t>Always @(</a:t>
            </a:r>
            <a:r>
              <a:rPr lang="en-US" sz="1550" i="1" dirty="0" err="1">
                <a:solidFill>
                  <a:srgbClr val="7030A0"/>
                </a:solidFill>
              </a:rPr>
              <a:t>posedge</a:t>
            </a:r>
            <a:r>
              <a:rPr lang="en-US" sz="1550" i="1" dirty="0">
                <a:solidFill>
                  <a:srgbClr val="7030A0"/>
                </a:solidFill>
              </a:rPr>
              <a:t> </a:t>
            </a:r>
            <a:r>
              <a:rPr lang="en-US" sz="1550" i="1" dirty="0" err="1">
                <a:solidFill>
                  <a:srgbClr val="7030A0"/>
                </a:solidFill>
              </a:rPr>
              <a:t>clk</a:t>
            </a:r>
            <a:r>
              <a:rPr lang="en-US" sz="1550" i="1" dirty="0">
                <a:solidFill>
                  <a:srgbClr val="7030A0"/>
                </a:solidFill>
              </a:rPr>
              <a:t>)</a:t>
            </a:r>
          </a:p>
          <a:p>
            <a:pPr>
              <a:buNone/>
            </a:pPr>
            <a:r>
              <a:rPr lang="en-US" sz="1550" i="1" dirty="0">
                <a:solidFill>
                  <a:srgbClr val="7030A0"/>
                </a:solidFill>
              </a:rPr>
              <a:t>   </a:t>
            </a:r>
            <a:r>
              <a:rPr lang="en-US" sz="1550" i="1" dirty="0" err="1">
                <a:solidFill>
                  <a:srgbClr val="7030A0"/>
                </a:solidFill>
              </a:rPr>
              <a:t>counter_ps</a:t>
            </a:r>
            <a:r>
              <a:rPr lang="en-US" sz="1550" i="1" dirty="0">
                <a:solidFill>
                  <a:srgbClr val="7030A0"/>
                </a:solidFill>
              </a:rPr>
              <a:t> &lt;= #1 reset ? 4’d0 : </a:t>
            </a:r>
            <a:r>
              <a:rPr lang="en-US" sz="1550" i="1" dirty="0" err="1">
                <a:solidFill>
                  <a:srgbClr val="7030A0"/>
                </a:solidFill>
              </a:rPr>
              <a:t>counter_ns</a:t>
            </a:r>
            <a:r>
              <a:rPr lang="en-US" sz="1550" i="1" dirty="0">
                <a:solidFill>
                  <a:srgbClr val="7030A0"/>
                </a:solidFill>
              </a:rPr>
              <a:t>;</a:t>
            </a:r>
          </a:p>
          <a:p>
            <a:pPr>
              <a:buNone/>
            </a:pPr>
            <a:endParaRPr lang="en-US" sz="2050" dirty="0"/>
          </a:p>
          <a:p>
            <a:r>
              <a:rPr lang="en-US" sz="2050" dirty="0"/>
              <a:t>Comments are not maintained as the code is – When you fix the code, do you remember to also fix the comments ? (Hint – no)</a:t>
            </a:r>
          </a:p>
          <a:p>
            <a:endParaRPr lang="en-US" sz="2050" dirty="0"/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// The following code implements a counter. Every clock cycle “</a:t>
            </a:r>
            <a:r>
              <a:rPr lang="en-US" altLang="en-US" sz="1550" i="1" dirty="0" err="1">
                <a:solidFill>
                  <a:srgbClr val="7030A0"/>
                </a:solidFill>
              </a:rPr>
              <a:t>counter_ps</a:t>
            </a:r>
            <a:r>
              <a:rPr lang="en-US" altLang="en-US" sz="1550" i="1" dirty="0">
                <a:solidFill>
                  <a:srgbClr val="7030A0"/>
                </a:solidFill>
              </a:rPr>
              <a:t>” is </a:t>
            </a:r>
            <a:r>
              <a:rPr lang="en-US" altLang="en-US" sz="1550" i="1" dirty="0">
                <a:solidFill>
                  <a:srgbClr val="FF0000"/>
                </a:solidFill>
              </a:rPr>
              <a:t>incremented</a:t>
            </a:r>
            <a:r>
              <a:rPr lang="en-US" altLang="en-US" sz="1550" i="1" dirty="0">
                <a:solidFill>
                  <a:srgbClr val="7030A0"/>
                </a:solidFill>
              </a:rPr>
              <a:t> if event happened.</a:t>
            </a:r>
          </a:p>
          <a:p>
            <a:pPr>
              <a:buNone/>
            </a:pPr>
            <a:r>
              <a:rPr lang="en-US" sz="1550" i="1" dirty="0" err="1">
                <a:solidFill>
                  <a:srgbClr val="7030A0"/>
                </a:solidFill>
              </a:rPr>
              <a:t>reg</a:t>
            </a:r>
            <a:r>
              <a:rPr lang="en-US" sz="1550" i="1" dirty="0">
                <a:solidFill>
                  <a:srgbClr val="7030A0"/>
                </a:solidFill>
              </a:rPr>
              <a:t> [3:0] </a:t>
            </a:r>
            <a:r>
              <a:rPr lang="en-US" sz="1550" i="1" dirty="0" err="1">
                <a:solidFill>
                  <a:srgbClr val="7030A0"/>
                </a:solidFill>
              </a:rPr>
              <a:t>counter_ps</a:t>
            </a:r>
            <a:r>
              <a:rPr lang="en-US" sz="1550" i="1" dirty="0">
                <a:solidFill>
                  <a:srgbClr val="7030A0"/>
                </a:solidFill>
              </a:rPr>
              <a:t>;</a:t>
            </a:r>
          </a:p>
          <a:p>
            <a:pPr>
              <a:buNone/>
            </a:pPr>
            <a:r>
              <a:rPr lang="en-US" sz="1550" i="1" dirty="0">
                <a:solidFill>
                  <a:srgbClr val="7030A0"/>
                </a:solidFill>
              </a:rPr>
              <a:t>wire [3:0] </a:t>
            </a:r>
            <a:r>
              <a:rPr lang="en-US" sz="1550" i="1" dirty="0" err="1">
                <a:solidFill>
                  <a:srgbClr val="7030A0"/>
                </a:solidFill>
              </a:rPr>
              <a:t>counter_ns</a:t>
            </a:r>
            <a:r>
              <a:rPr lang="en-US" sz="1550" i="1" dirty="0">
                <a:solidFill>
                  <a:srgbClr val="7030A0"/>
                </a:solidFill>
              </a:rPr>
              <a:t> = event ? </a:t>
            </a:r>
            <a:r>
              <a:rPr lang="en-US" sz="1550" i="1" dirty="0" err="1">
                <a:solidFill>
                  <a:srgbClr val="7030A0"/>
                </a:solidFill>
              </a:rPr>
              <a:t>counter_ps</a:t>
            </a:r>
            <a:r>
              <a:rPr lang="en-US" sz="1550" i="1" dirty="0">
                <a:solidFill>
                  <a:srgbClr val="7030A0"/>
                </a:solidFill>
              </a:rPr>
              <a:t> </a:t>
            </a:r>
            <a:r>
              <a:rPr lang="en-US" sz="1550" i="1" dirty="0">
                <a:solidFill>
                  <a:srgbClr val="FF0000"/>
                </a:solidFill>
              </a:rPr>
              <a:t>-</a:t>
            </a:r>
            <a:r>
              <a:rPr lang="en-US" sz="1550" i="1" dirty="0">
                <a:solidFill>
                  <a:srgbClr val="7030A0"/>
                </a:solidFill>
              </a:rPr>
              <a:t> 4’d1 : </a:t>
            </a:r>
            <a:r>
              <a:rPr lang="en-US" sz="1550" i="1" dirty="0" err="1">
                <a:solidFill>
                  <a:srgbClr val="7030A0"/>
                </a:solidFill>
              </a:rPr>
              <a:t>counter_ps</a:t>
            </a:r>
            <a:r>
              <a:rPr lang="en-US" sz="1550" i="1" dirty="0">
                <a:solidFill>
                  <a:srgbClr val="7030A0"/>
                </a:solidFill>
              </a:rPr>
              <a:t>;</a:t>
            </a:r>
          </a:p>
          <a:p>
            <a:pPr>
              <a:buNone/>
            </a:pPr>
            <a:r>
              <a:rPr lang="en-US" sz="1550" i="1" dirty="0">
                <a:solidFill>
                  <a:srgbClr val="7030A0"/>
                </a:solidFill>
              </a:rPr>
              <a:t>Always @(</a:t>
            </a:r>
            <a:r>
              <a:rPr lang="en-US" sz="1550" i="1" dirty="0" err="1">
                <a:solidFill>
                  <a:srgbClr val="7030A0"/>
                </a:solidFill>
              </a:rPr>
              <a:t>posedge</a:t>
            </a:r>
            <a:r>
              <a:rPr lang="en-US" sz="1550" i="1" dirty="0">
                <a:solidFill>
                  <a:srgbClr val="7030A0"/>
                </a:solidFill>
              </a:rPr>
              <a:t> </a:t>
            </a:r>
            <a:r>
              <a:rPr lang="en-US" sz="1550" i="1" dirty="0" err="1">
                <a:solidFill>
                  <a:srgbClr val="7030A0"/>
                </a:solidFill>
              </a:rPr>
              <a:t>clk</a:t>
            </a:r>
            <a:r>
              <a:rPr lang="en-US" sz="1550" i="1" dirty="0">
                <a:solidFill>
                  <a:srgbClr val="7030A0"/>
                </a:solidFill>
              </a:rPr>
              <a:t>)</a:t>
            </a:r>
          </a:p>
          <a:p>
            <a:pPr>
              <a:buNone/>
            </a:pPr>
            <a:r>
              <a:rPr lang="en-US" sz="1550" i="1" dirty="0">
                <a:solidFill>
                  <a:srgbClr val="7030A0"/>
                </a:solidFill>
              </a:rPr>
              <a:t>   </a:t>
            </a:r>
            <a:r>
              <a:rPr lang="en-US" sz="1550" i="1" dirty="0" err="1">
                <a:solidFill>
                  <a:srgbClr val="7030A0"/>
                </a:solidFill>
              </a:rPr>
              <a:t>counter_ps</a:t>
            </a:r>
            <a:r>
              <a:rPr lang="en-US" sz="1550" i="1" dirty="0">
                <a:solidFill>
                  <a:srgbClr val="7030A0"/>
                </a:solidFill>
              </a:rPr>
              <a:t> &lt;= #1 reset ? 4’d0 : </a:t>
            </a:r>
            <a:r>
              <a:rPr lang="en-US" sz="1550" i="1" dirty="0" err="1">
                <a:solidFill>
                  <a:srgbClr val="7030A0"/>
                </a:solidFill>
              </a:rPr>
              <a:t>counter_ns</a:t>
            </a:r>
            <a:r>
              <a:rPr lang="en-US" sz="1550" i="1" dirty="0">
                <a:solidFill>
                  <a:srgbClr val="7030A0"/>
                </a:solidFill>
              </a:rPr>
              <a:t>;</a:t>
            </a:r>
          </a:p>
          <a:p>
            <a:endParaRPr lang="en-US" sz="1800" dirty="0"/>
          </a:p>
          <a:p>
            <a:endParaRPr lang="en-US" sz="2050" dirty="0"/>
          </a:p>
          <a:p>
            <a:pPr lvl="1"/>
            <a:endParaRPr lang="en-US" sz="1350" dirty="0"/>
          </a:p>
          <a:p>
            <a:pPr lvl="1"/>
            <a:endParaRPr lang="en-US" sz="1400" dirty="0"/>
          </a:p>
          <a:p>
            <a:endParaRPr lang="en-US" sz="2250" dirty="0"/>
          </a:p>
          <a:p>
            <a:pPr lvl="1"/>
            <a:endParaRPr lang="en-US" sz="1800" dirty="0"/>
          </a:p>
          <a:p>
            <a:pPr lvl="1"/>
            <a:endParaRPr lang="en-US" sz="2000" dirty="0"/>
          </a:p>
          <a:p>
            <a:endParaRPr lang="en-US" altLang="en-US" sz="2250" dirty="0"/>
          </a:p>
          <a:p>
            <a:endParaRPr lang="en-US" altLang="en-US" sz="2250" b="1" dirty="0"/>
          </a:p>
          <a:p>
            <a:endParaRPr lang="en-US" altLang="en-US" sz="2250" b="1" dirty="0"/>
          </a:p>
          <a:p>
            <a:endParaRPr lang="en-US" altLang="en-US" sz="2250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 flipV="1">
            <a:off x="3886200" y="4953000"/>
            <a:ext cx="1600200" cy="6858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2248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Comments – where to use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46674" y="935216"/>
            <a:ext cx="8397875" cy="5770384"/>
          </a:xfrm>
        </p:spPr>
        <p:txBody>
          <a:bodyPr/>
          <a:lstStyle/>
          <a:p>
            <a:r>
              <a:rPr lang="en-US" sz="2250" dirty="0"/>
              <a:t>Module definition comments</a:t>
            </a:r>
          </a:p>
          <a:p>
            <a:pPr lvl="1"/>
            <a:r>
              <a:rPr lang="en-US" sz="2000" dirty="0"/>
              <a:t>written above the MODULE declaration, defines what is done within this block, and main functionality of the block (~ 3 lines)</a:t>
            </a:r>
          </a:p>
          <a:p>
            <a:pPr>
              <a:buNone/>
            </a:pPr>
            <a:endParaRPr lang="en-US" altLang="en-US" sz="1550" i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// This module implements InfiniBand specification Chapter 3, …. 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// Created 1/5/2018 By ….</a:t>
            </a:r>
          </a:p>
          <a:p>
            <a:pPr>
              <a:buNone/>
            </a:pPr>
            <a:r>
              <a:rPr lang="en-US" sz="1550" i="1" dirty="0">
                <a:solidFill>
                  <a:srgbClr val="7030A0"/>
                </a:solidFill>
              </a:rPr>
              <a:t>module </a:t>
            </a:r>
            <a:r>
              <a:rPr lang="en-US" sz="1550" i="1" dirty="0" err="1">
                <a:solidFill>
                  <a:srgbClr val="7030A0"/>
                </a:solidFill>
              </a:rPr>
              <a:t>ibp_link_state</a:t>
            </a:r>
            <a:r>
              <a:rPr lang="en-US" sz="1550" i="1" dirty="0">
                <a:solidFill>
                  <a:srgbClr val="7030A0"/>
                </a:solidFill>
              </a:rPr>
              <a:t>(…)</a:t>
            </a:r>
          </a:p>
          <a:p>
            <a:endParaRPr lang="en-US" sz="2250" dirty="0"/>
          </a:p>
          <a:p>
            <a:r>
              <a:rPr lang="en-US" sz="2250" dirty="0"/>
              <a:t>Block definition</a:t>
            </a:r>
          </a:p>
          <a:p>
            <a:pPr lvl="1"/>
            <a:r>
              <a:rPr lang="en-US" sz="1750" dirty="0"/>
              <a:t>Before a logic block (few tens of lines performing a well defined functionality) inside a module. This is only if you feel the logic has to be explained (See previous slide), single line comment</a:t>
            </a:r>
          </a:p>
          <a:p>
            <a:pPr marL="194864" lvl="1" indent="0">
              <a:buNone/>
            </a:pPr>
            <a:endParaRPr lang="en-US" sz="1400" dirty="0"/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// The following block removes the header of the packet and replaces it with a header according to predefined rules….</a:t>
            </a:r>
          </a:p>
          <a:p>
            <a:pPr>
              <a:buNone/>
            </a:pPr>
            <a:endParaRPr lang="en-US" altLang="en-US" sz="1550" i="1" dirty="0">
              <a:solidFill>
                <a:srgbClr val="7030A0"/>
              </a:solidFill>
            </a:endParaRPr>
          </a:p>
          <a:p>
            <a:r>
              <a:rPr lang="en-US" sz="2250" dirty="0"/>
              <a:t>TODO/TBD</a:t>
            </a:r>
          </a:p>
          <a:p>
            <a:pPr lvl="1"/>
            <a:r>
              <a:rPr lang="en-US" sz="2000" dirty="0"/>
              <a:t>During coding some open issues may not be closed, so in case we did not finalize all the details a “TODO” must be inserted in a remark.</a:t>
            </a:r>
          </a:p>
          <a:p>
            <a:pPr lvl="1"/>
            <a:r>
              <a:rPr lang="en-US" sz="2000" dirty="0"/>
              <a:t>Use one single keyword for this and be consistent</a:t>
            </a:r>
          </a:p>
          <a:p>
            <a:pPr>
              <a:buNone/>
            </a:pPr>
            <a:endParaRPr lang="en-US" sz="1550" i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sz="1550" i="1" dirty="0">
                <a:solidFill>
                  <a:srgbClr val="7030A0"/>
                </a:solidFill>
              </a:rPr>
              <a:t>assign </a:t>
            </a:r>
            <a:r>
              <a:rPr lang="en-US" sz="1550" i="1" dirty="0" err="1">
                <a:solidFill>
                  <a:srgbClr val="7030A0"/>
                </a:solidFill>
              </a:rPr>
              <a:t>fsm_ps_done</a:t>
            </a:r>
            <a:r>
              <a:rPr lang="en-US" sz="1550" i="1" dirty="0">
                <a:solidFill>
                  <a:srgbClr val="7030A0"/>
                </a:solidFill>
              </a:rPr>
              <a:t> = </a:t>
            </a:r>
            <a:r>
              <a:rPr lang="en-US" sz="1550" i="1" dirty="0" err="1">
                <a:solidFill>
                  <a:srgbClr val="7030A0"/>
                </a:solidFill>
              </a:rPr>
              <a:t>fsm_ps</a:t>
            </a:r>
            <a:r>
              <a:rPr lang="en-US" sz="1550" i="1" dirty="0">
                <a:solidFill>
                  <a:srgbClr val="7030A0"/>
                </a:solidFill>
              </a:rPr>
              <a:t>==DONE; // TODO – or </a:t>
            </a:r>
            <a:r>
              <a:rPr lang="en-US" sz="1550" i="1" dirty="0" err="1">
                <a:solidFill>
                  <a:srgbClr val="7030A0"/>
                </a:solidFill>
              </a:rPr>
              <a:t>fsm</a:t>
            </a:r>
            <a:r>
              <a:rPr lang="en-US" sz="1550" i="1" dirty="0">
                <a:solidFill>
                  <a:srgbClr val="7030A0"/>
                </a:solidFill>
              </a:rPr>
              <a:t> is not needed, check with Arch team</a:t>
            </a:r>
            <a:endParaRPr lang="en-US" sz="1750" dirty="0"/>
          </a:p>
          <a:p>
            <a:pPr marL="0" indent="0">
              <a:buNone/>
            </a:pPr>
            <a:endParaRPr lang="en-US" sz="2250" dirty="0"/>
          </a:p>
          <a:p>
            <a:pPr lvl="1"/>
            <a:endParaRPr lang="en-US" sz="1800" dirty="0"/>
          </a:p>
          <a:p>
            <a:pPr lvl="1"/>
            <a:endParaRPr lang="en-US" sz="2000" dirty="0"/>
          </a:p>
          <a:p>
            <a:endParaRPr lang="en-US" altLang="en-US" sz="2250" dirty="0"/>
          </a:p>
          <a:p>
            <a:endParaRPr lang="en-US" altLang="en-US" sz="2250" b="1" dirty="0"/>
          </a:p>
          <a:p>
            <a:endParaRPr lang="en-US" altLang="en-US" sz="2250" b="1" dirty="0"/>
          </a:p>
          <a:p>
            <a:endParaRPr lang="en-US" altLang="en-US" sz="2250" dirty="0"/>
          </a:p>
        </p:txBody>
      </p:sp>
    </p:spTree>
    <p:extLst>
      <p:ext uri="{BB962C8B-B14F-4D97-AF65-F5344CB8AC3E}">
        <p14:creationId xmlns:p14="http://schemas.microsoft.com/office/powerpoint/2010/main" val="3049346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Parameters types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46674" y="838200"/>
            <a:ext cx="8397875" cy="4826000"/>
          </a:xfrm>
        </p:spPr>
        <p:txBody>
          <a:bodyPr/>
          <a:lstStyle/>
          <a:p>
            <a:r>
              <a:rPr lang="en-US" sz="2250" dirty="0"/>
              <a:t>Integer, may be used only in range definition, and duplication {N{…}}:</a:t>
            </a:r>
          </a:p>
          <a:p>
            <a:pPr marL="0" indent="0">
              <a:buNone/>
            </a:pPr>
            <a:r>
              <a:rPr lang="en-US" sz="1550" i="1" dirty="0">
                <a:solidFill>
                  <a:srgbClr val="7030A0"/>
                </a:solidFill>
              </a:rPr>
              <a:t>parameter ZERO = 0;</a:t>
            </a:r>
          </a:p>
          <a:p>
            <a:pPr marL="0" indent="0">
              <a:buNone/>
            </a:pPr>
            <a:r>
              <a:rPr lang="en-US" sz="1550" i="1" dirty="0">
                <a:solidFill>
                  <a:srgbClr val="7030A0"/>
                </a:solidFill>
              </a:rPr>
              <a:t>parameter MAX_INT16 = 65535;</a:t>
            </a:r>
          </a:p>
          <a:p>
            <a:endParaRPr lang="en-US" sz="2250" dirty="0"/>
          </a:p>
          <a:p>
            <a:r>
              <a:rPr lang="en-US" sz="2250" dirty="0"/>
              <a:t>Based numbers: &lt;width&gt;’&lt;base&gt;&lt;number&gt;</a:t>
            </a:r>
          </a:p>
          <a:p>
            <a:pPr lvl="2"/>
            <a:r>
              <a:rPr lang="en-US" sz="1600" dirty="0"/>
              <a:t>width is the number of bits in this bus (1-infinity)</a:t>
            </a:r>
          </a:p>
          <a:p>
            <a:pPr lvl="2"/>
            <a:r>
              <a:rPr lang="en-US" sz="1600" dirty="0"/>
              <a:t>base may be: Binary, Octal, Decimal, Hexadecimal</a:t>
            </a:r>
          </a:p>
          <a:p>
            <a:pPr lvl="2"/>
            <a:r>
              <a:rPr lang="en-US" sz="1600" dirty="0"/>
              <a:t>number may include: 0-9, a-f, x, z, ‘_’ </a:t>
            </a:r>
          </a:p>
          <a:p>
            <a:pPr lvl="2"/>
            <a:r>
              <a:rPr lang="en-US" sz="1600" dirty="0"/>
              <a:t>‘_’ is a character separator for more readable code   50_000_000  vs 50000000</a:t>
            </a:r>
          </a:p>
          <a:p>
            <a:r>
              <a:rPr lang="en-US" sz="1550" i="1" dirty="0">
                <a:solidFill>
                  <a:srgbClr val="7030A0"/>
                </a:solidFill>
              </a:rPr>
              <a:t>Parameter examples</a:t>
            </a:r>
          </a:p>
          <a:p>
            <a:pPr lvl="1"/>
            <a:r>
              <a:rPr lang="en-US" sz="1300" i="1" dirty="0">
                <a:solidFill>
                  <a:srgbClr val="7030A0"/>
                </a:solidFill>
              </a:rPr>
              <a:t>WORK = 2’b01;</a:t>
            </a:r>
          </a:p>
          <a:p>
            <a:pPr lvl="1"/>
            <a:r>
              <a:rPr lang="en-US" sz="1300" i="1" dirty="0">
                <a:solidFill>
                  <a:srgbClr val="7030A0"/>
                </a:solidFill>
              </a:rPr>
              <a:t>1’b0 </a:t>
            </a:r>
          </a:p>
          <a:p>
            <a:pPr lvl="1"/>
            <a:r>
              <a:rPr lang="en-US" sz="1300" i="1" dirty="0">
                <a:solidFill>
                  <a:srgbClr val="7030A0"/>
                </a:solidFill>
              </a:rPr>
              <a:t>5’h1f </a:t>
            </a:r>
          </a:p>
          <a:p>
            <a:pPr lvl="1"/>
            <a:r>
              <a:rPr lang="en-US" sz="1300" i="1" dirty="0">
                <a:solidFill>
                  <a:srgbClr val="7030A0"/>
                </a:solidFill>
              </a:rPr>
              <a:t>14’d13 </a:t>
            </a:r>
          </a:p>
          <a:p>
            <a:pPr lvl="1"/>
            <a:r>
              <a:rPr lang="en-US" sz="1300" i="1" dirty="0">
                <a:solidFill>
                  <a:srgbClr val="7030A0"/>
                </a:solidFill>
              </a:rPr>
              <a:t>32’hdead_beaf </a:t>
            </a:r>
          </a:p>
          <a:p>
            <a:pPr lvl="1"/>
            <a:r>
              <a:rPr lang="en-US" sz="1300" i="1" dirty="0">
                <a:solidFill>
                  <a:srgbClr val="7030A0"/>
                </a:solidFill>
              </a:rPr>
              <a:t>1’bx</a:t>
            </a:r>
          </a:p>
          <a:p>
            <a:endParaRPr lang="en-US" altLang="en-US" sz="2250" dirty="0"/>
          </a:p>
          <a:p>
            <a:endParaRPr lang="en-US" altLang="en-US" sz="2250" b="1" dirty="0"/>
          </a:p>
          <a:p>
            <a:endParaRPr lang="en-US" altLang="en-US" sz="2250" b="1" dirty="0"/>
          </a:p>
          <a:p>
            <a:endParaRPr lang="en-US" altLang="en-US" sz="2250" dirty="0"/>
          </a:p>
        </p:txBody>
      </p:sp>
    </p:spTree>
    <p:extLst>
      <p:ext uri="{BB962C8B-B14F-4D97-AF65-F5344CB8AC3E}">
        <p14:creationId xmlns:p14="http://schemas.microsoft.com/office/powerpoint/2010/main" val="178320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6438" y="228600"/>
            <a:ext cx="7442949" cy="545601"/>
          </a:xfrm>
        </p:spPr>
        <p:txBody>
          <a:bodyPr/>
          <a:lstStyle/>
          <a:p>
            <a:r>
              <a:rPr lang="en-US" sz="2400" dirty="0"/>
              <a:t>Parameters – enumerated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36438" y="609600"/>
            <a:ext cx="8397875" cy="5791200"/>
          </a:xfrm>
        </p:spPr>
        <p:txBody>
          <a:bodyPr/>
          <a:lstStyle/>
          <a:p>
            <a:endParaRPr lang="en-US" sz="2250" dirty="0">
              <a:solidFill>
                <a:srgbClr val="FFFF00"/>
              </a:solidFill>
            </a:endParaRPr>
          </a:p>
          <a:p>
            <a:r>
              <a:rPr lang="en-US" sz="2250" dirty="0"/>
              <a:t>Improved readability of the code, e.g. state machine</a:t>
            </a:r>
          </a:p>
          <a:p>
            <a:pPr>
              <a:buNone/>
            </a:pPr>
            <a:r>
              <a:rPr lang="en-US" altLang="en-US" sz="1550" i="1" dirty="0" err="1">
                <a:solidFill>
                  <a:srgbClr val="7030A0"/>
                </a:solidFill>
              </a:rPr>
              <a:t>reg</a:t>
            </a:r>
            <a:r>
              <a:rPr lang="en-US" altLang="en-US" sz="1550" i="1" dirty="0">
                <a:solidFill>
                  <a:srgbClr val="7030A0"/>
                </a:solidFill>
              </a:rPr>
              <a:t> [1:0] </a:t>
            </a:r>
            <a:r>
              <a:rPr lang="en-US" altLang="en-US" sz="1550" i="1" dirty="0" err="1">
                <a:solidFill>
                  <a:srgbClr val="7030A0"/>
                </a:solidFill>
              </a:rPr>
              <a:t>array_ps</a:t>
            </a:r>
            <a:r>
              <a:rPr lang="en-US" altLang="en-US" sz="1550" i="1" dirty="0">
                <a:solidFill>
                  <a:srgbClr val="7030A0"/>
                </a:solidFill>
              </a:rPr>
              <a:t>;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parameter   IDLE   = 2'h0; // idle state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parameter   WRITE  = 2'h1; // write the data to the array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parameter   READ   = 2'h2; // read the data from the array</a:t>
            </a:r>
          </a:p>
          <a:p>
            <a:pPr>
              <a:buNone/>
            </a:pPr>
            <a:r>
              <a:rPr lang="en-US" altLang="en-US" sz="1550" i="1" dirty="0" err="1">
                <a:solidFill>
                  <a:srgbClr val="7030A0"/>
                </a:solidFill>
              </a:rPr>
              <a:t>reg</a:t>
            </a:r>
            <a:r>
              <a:rPr lang="en-US" altLang="en-US" sz="1550" i="1" dirty="0">
                <a:solidFill>
                  <a:srgbClr val="7030A0"/>
                </a:solidFill>
              </a:rPr>
              <a:t> [1:0] </a:t>
            </a:r>
            <a:r>
              <a:rPr lang="en-US" altLang="en-US" sz="1550" i="1" dirty="0" err="1">
                <a:solidFill>
                  <a:srgbClr val="7030A0"/>
                </a:solidFill>
              </a:rPr>
              <a:t>array_ns</a:t>
            </a:r>
            <a:r>
              <a:rPr lang="en-US" altLang="en-US" sz="1550" i="1" dirty="0">
                <a:solidFill>
                  <a:srgbClr val="7030A0"/>
                </a:solidFill>
              </a:rPr>
              <a:t>;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always @*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case (</a:t>
            </a:r>
            <a:r>
              <a:rPr lang="en-US" altLang="en-US" sz="1550" i="1" dirty="0" err="1">
                <a:solidFill>
                  <a:srgbClr val="7030A0"/>
                </a:solidFill>
              </a:rPr>
              <a:t>array_ps</a:t>
            </a:r>
            <a:r>
              <a:rPr lang="en-US" altLang="en-US" sz="1550" i="1" dirty="0">
                <a:solidFill>
                  <a:srgbClr val="7030A0"/>
                </a:solidFill>
              </a:rPr>
              <a:t>) 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IDLE : </a:t>
            </a:r>
            <a:r>
              <a:rPr lang="en-US" altLang="en-US" sz="1550" i="1" dirty="0" err="1">
                <a:solidFill>
                  <a:srgbClr val="7030A0"/>
                </a:solidFill>
              </a:rPr>
              <a:t>array_ns</a:t>
            </a:r>
            <a:r>
              <a:rPr lang="en-US" altLang="en-US" sz="1550" i="1" dirty="0">
                <a:solidFill>
                  <a:srgbClr val="7030A0"/>
                </a:solidFill>
              </a:rPr>
              <a:t> = in1 ? READ : 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                  (in2 ^ in4) ? WRITE : IDLE;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READ : </a:t>
            </a:r>
            <a:r>
              <a:rPr lang="en-US" altLang="en-US" sz="1550" i="1" dirty="0" err="1">
                <a:solidFill>
                  <a:srgbClr val="7030A0"/>
                </a:solidFill>
              </a:rPr>
              <a:t>array_ns</a:t>
            </a:r>
            <a:r>
              <a:rPr lang="en-US" altLang="en-US" sz="1550" i="1" dirty="0">
                <a:solidFill>
                  <a:srgbClr val="7030A0"/>
                </a:solidFill>
              </a:rPr>
              <a:t> = (in3 &amp; in2) ? READ : IDLE;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WRITE : </a:t>
            </a:r>
            <a:r>
              <a:rPr lang="en-US" altLang="en-US" sz="1550" i="1" dirty="0" err="1">
                <a:solidFill>
                  <a:srgbClr val="7030A0"/>
                </a:solidFill>
              </a:rPr>
              <a:t>array_ns</a:t>
            </a:r>
            <a:r>
              <a:rPr lang="en-US" altLang="en-US" sz="1550" i="1" dirty="0">
                <a:solidFill>
                  <a:srgbClr val="7030A0"/>
                </a:solidFill>
              </a:rPr>
              <a:t> = in3 ? IDLE : WRITE;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default : </a:t>
            </a:r>
            <a:r>
              <a:rPr lang="en-US" altLang="en-US" sz="1550" i="1" dirty="0" err="1">
                <a:solidFill>
                  <a:srgbClr val="7030A0"/>
                </a:solidFill>
              </a:rPr>
              <a:t>array_ns</a:t>
            </a:r>
            <a:r>
              <a:rPr lang="en-US" altLang="en-US" sz="1550" i="1" dirty="0">
                <a:solidFill>
                  <a:srgbClr val="7030A0"/>
                </a:solidFill>
              </a:rPr>
              <a:t> = {2{1’bx}};</a:t>
            </a:r>
          </a:p>
          <a:p>
            <a:pPr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</a:t>
            </a:r>
            <a:r>
              <a:rPr lang="en-US" altLang="en-US" sz="1550" i="1" dirty="0" err="1">
                <a:solidFill>
                  <a:srgbClr val="7030A0"/>
                </a:solidFill>
              </a:rPr>
              <a:t>endcase</a:t>
            </a:r>
            <a:endParaRPr lang="en-US" altLang="en-US" sz="1550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250" dirty="0"/>
          </a:p>
          <a:p>
            <a:r>
              <a:rPr lang="en-US" sz="2250" dirty="0"/>
              <a:t>Values that may change or have a generic nature</a:t>
            </a:r>
            <a:endParaRPr lang="en-US" sz="2000" dirty="0"/>
          </a:p>
          <a:p>
            <a:pPr marL="0" indent="0">
              <a:buNone/>
            </a:pPr>
            <a:r>
              <a:rPr lang="en-US" sz="1550" i="1" dirty="0">
                <a:solidFill>
                  <a:srgbClr val="7030A0"/>
                </a:solidFill>
              </a:rPr>
              <a:t>parameter WDT= 16;</a:t>
            </a:r>
          </a:p>
          <a:p>
            <a:pPr marL="0" indent="0">
              <a:buNone/>
            </a:pPr>
            <a:r>
              <a:rPr lang="en-US" sz="1550" i="1" dirty="0">
                <a:solidFill>
                  <a:srgbClr val="7030A0"/>
                </a:solidFill>
              </a:rPr>
              <a:t>Input [WDT-1:0] </a:t>
            </a:r>
            <a:r>
              <a:rPr lang="en-US" sz="1550" i="1" dirty="0" err="1">
                <a:solidFill>
                  <a:srgbClr val="7030A0"/>
                </a:solidFill>
              </a:rPr>
              <a:t>busin</a:t>
            </a:r>
            <a:r>
              <a:rPr lang="en-US" sz="1550" i="1" dirty="0">
                <a:solidFill>
                  <a:srgbClr val="7030A0"/>
                </a:solidFill>
              </a:rPr>
              <a:t>;</a:t>
            </a:r>
          </a:p>
          <a:p>
            <a:endParaRPr lang="en-US" sz="2250" dirty="0"/>
          </a:p>
          <a:p>
            <a:r>
              <a:rPr lang="en-US" sz="2250" dirty="0"/>
              <a:t>ENUMERATED example of state machine:</a:t>
            </a:r>
          </a:p>
          <a:p>
            <a:pPr>
              <a:buNone/>
            </a:pPr>
            <a:r>
              <a:rPr lang="en-US" sz="1550" i="1" dirty="0" err="1">
                <a:solidFill>
                  <a:srgbClr val="7030A0"/>
                </a:solidFill>
              </a:rPr>
              <a:t>enum</a:t>
            </a:r>
            <a:r>
              <a:rPr lang="en-US" sz="1550" i="1" dirty="0">
                <a:solidFill>
                  <a:srgbClr val="7030A0"/>
                </a:solidFill>
              </a:rPr>
              <a:t>  logic [2:0] {IDLE_ST,  LOW_CLK_ST, HI_CLK_ST  }  </a:t>
            </a:r>
            <a:r>
              <a:rPr lang="en-US" sz="1550" i="1" dirty="0" err="1">
                <a:solidFill>
                  <a:srgbClr val="7030A0"/>
                </a:solidFill>
              </a:rPr>
              <a:t>nxt_st</a:t>
            </a:r>
            <a:r>
              <a:rPr lang="en-US" sz="1550" i="1" dirty="0">
                <a:solidFill>
                  <a:srgbClr val="7030A0"/>
                </a:solidFill>
              </a:rPr>
              <a:t>, </a:t>
            </a:r>
            <a:r>
              <a:rPr lang="en-US" sz="1550" i="1" dirty="0" err="1">
                <a:solidFill>
                  <a:srgbClr val="7030A0"/>
                </a:solidFill>
              </a:rPr>
              <a:t>cur_st</a:t>
            </a:r>
            <a:r>
              <a:rPr lang="en-US" sz="1550" i="1" dirty="0">
                <a:solidFill>
                  <a:srgbClr val="7030A0"/>
                </a:solidFill>
              </a:rPr>
              <a:t>;   </a:t>
            </a:r>
          </a:p>
          <a:p>
            <a:endParaRPr lang="en-US" altLang="en-US" sz="2250" dirty="0"/>
          </a:p>
          <a:p>
            <a:endParaRPr lang="en-US" altLang="en-US" sz="2250" b="1" dirty="0"/>
          </a:p>
          <a:p>
            <a:endParaRPr lang="en-US" altLang="en-US" sz="2250" b="1" dirty="0"/>
          </a:p>
          <a:p>
            <a:endParaRPr lang="en-US" altLang="en-US" sz="2250" dirty="0"/>
          </a:p>
        </p:txBody>
      </p:sp>
    </p:spTree>
    <p:extLst>
      <p:ext uri="{BB962C8B-B14F-4D97-AF65-F5344CB8AC3E}">
        <p14:creationId xmlns:p14="http://schemas.microsoft.com/office/powerpoint/2010/main" val="2151180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 – Code Sharing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46674" y="838200"/>
            <a:ext cx="8397875" cy="4826000"/>
          </a:xfrm>
        </p:spPr>
        <p:txBody>
          <a:bodyPr/>
          <a:lstStyle/>
          <a:p>
            <a:r>
              <a:rPr lang="en-US" sz="2400" dirty="0"/>
              <a:t>Reuse as much as possible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Ratio between number of bugs and line count is roughly a constant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reducing the number of bugs improves both quality and convergence time</a:t>
            </a:r>
          </a:p>
          <a:p>
            <a:pPr lvl="1">
              <a:lnSpc>
                <a:spcPct val="90000"/>
              </a:lnSpc>
            </a:pPr>
            <a:endParaRPr lang="en-US" altLang="en-US" sz="1800" dirty="0"/>
          </a:p>
          <a:p>
            <a:r>
              <a:rPr lang="en-US" altLang="en-US" sz="2400" dirty="0"/>
              <a:t>Reuse may be done in any of the following ways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Instancing a generic cell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Instancing a cell written somewhere else (previous project, another unit, etc.)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Implementing according to a template (similar MAS to some other block with small differences)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endParaRPr lang="en-US" altLang="en-US" sz="2050" dirty="0"/>
          </a:p>
          <a:p>
            <a:pPr lvl="1"/>
            <a:endParaRPr lang="en-US" sz="1750" dirty="0"/>
          </a:p>
          <a:p>
            <a:pPr lvl="1"/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171932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 – Code Sharing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Avoid Redundancy</a:t>
            </a:r>
          </a:p>
          <a:p>
            <a:pPr lvl="1">
              <a:lnSpc>
                <a:spcPct val="90000"/>
              </a:lnSpc>
            </a:pPr>
            <a:r>
              <a:rPr lang="en-US" altLang="en-US" sz="2150" dirty="0"/>
              <a:t>If you have the same logic written multiple number of times define it as a net, and use the net</a:t>
            </a:r>
          </a:p>
          <a:p>
            <a:pPr lvl="1">
              <a:lnSpc>
                <a:spcPct val="90000"/>
              </a:lnSpc>
            </a:pPr>
            <a:r>
              <a:rPr lang="en-US" altLang="en-US" sz="2150" dirty="0"/>
              <a:t>Reduces area (usually the timing will also improve due to area reduction)</a:t>
            </a:r>
          </a:p>
          <a:p>
            <a:pPr lvl="1">
              <a:lnSpc>
                <a:spcPct val="90000"/>
              </a:lnSpc>
            </a:pPr>
            <a:r>
              <a:rPr lang="en-US" altLang="en-US" sz="2150" dirty="0"/>
              <a:t>Helps ECOs later on</a:t>
            </a:r>
          </a:p>
          <a:p>
            <a:pPr lvl="1">
              <a:lnSpc>
                <a:spcPct val="90000"/>
              </a:lnSpc>
            </a:pPr>
            <a:r>
              <a:rPr lang="en-US" altLang="en-US" sz="2150" dirty="0"/>
              <a:t>Redundancy example:</a:t>
            </a:r>
          </a:p>
          <a:p>
            <a:pPr marL="142439" lvl="1" indent="-153829">
              <a:spcBef>
                <a:spcPts val="375"/>
              </a:spcBef>
              <a:buNone/>
            </a:pPr>
            <a:r>
              <a:rPr lang="en-US" altLang="en-US" sz="2150" dirty="0">
                <a:solidFill>
                  <a:srgbClr val="FFFF00"/>
                </a:solidFill>
              </a:rPr>
              <a:t>		</a:t>
            </a:r>
            <a:r>
              <a:rPr lang="en-US" altLang="en-US" sz="1550" i="1" dirty="0">
                <a:solidFill>
                  <a:srgbClr val="7030A0"/>
                </a:solidFill>
              </a:rPr>
              <a:t>if LOAD = ‘1’ then</a:t>
            </a:r>
          </a:p>
          <a:p>
            <a:pPr marL="142439" lvl="1" indent="-153829">
              <a:spcBef>
                <a:spcPts val="375"/>
              </a:spcBef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			</a:t>
            </a:r>
            <a:r>
              <a:rPr lang="en-US" altLang="en-US" sz="1550" i="1" dirty="0" err="1">
                <a:solidFill>
                  <a:srgbClr val="7030A0"/>
                </a:solidFill>
              </a:rPr>
              <a:t>cnt</a:t>
            </a:r>
            <a:r>
              <a:rPr lang="en-US" altLang="en-US" sz="1550" i="1" dirty="0">
                <a:solidFill>
                  <a:srgbClr val="7030A0"/>
                </a:solidFill>
              </a:rPr>
              <a:t> := din -1;</a:t>
            </a:r>
          </a:p>
          <a:p>
            <a:pPr marL="142439" lvl="1" indent="-153829">
              <a:spcBef>
                <a:spcPts val="375"/>
              </a:spcBef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			</a:t>
            </a:r>
            <a:r>
              <a:rPr lang="en-US" altLang="en-US" sz="1550" i="1" dirty="0" err="1">
                <a:solidFill>
                  <a:srgbClr val="7030A0"/>
                </a:solidFill>
              </a:rPr>
              <a:t>one_sec</a:t>
            </a:r>
            <a:r>
              <a:rPr lang="en-US" altLang="en-US" sz="1550" i="1" dirty="0">
                <a:solidFill>
                  <a:srgbClr val="7030A0"/>
                </a:solidFill>
              </a:rPr>
              <a:t> := </a:t>
            </a:r>
            <a:r>
              <a:rPr lang="en-US" altLang="en-US" sz="1550" i="1" dirty="0" err="1">
                <a:solidFill>
                  <a:srgbClr val="7030A0"/>
                </a:solidFill>
              </a:rPr>
              <a:t>cnt</a:t>
            </a:r>
            <a:r>
              <a:rPr lang="en-US" altLang="en-US" sz="1550" i="1" dirty="0">
                <a:solidFill>
                  <a:srgbClr val="7030A0"/>
                </a:solidFill>
              </a:rPr>
              <a:t>;</a:t>
            </a:r>
          </a:p>
          <a:p>
            <a:pPr marL="142439" lvl="1" indent="-153829">
              <a:spcBef>
                <a:spcPts val="375"/>
              </a:spcBef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		else</a:t>
            </a:r>
          </a:p>
          <a:p>
            <a:pPr marL="142439" lvl="1" indent="-153829">
              <a:spcBef>
                <a:spcPts val="375"/>
              </a:spcBef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			</a:t>
            </a:r>
            <a:r>
              <a:rPr lang="en-US" altLang="en-US" sz="1550" i="1" dirty="0" err="1">
                <a:solidFill>
                  <a:srgbClr val="7030A0"/>
                </a:solidFill>
              </a:rPr>
              <a:t>cnt</a:t>
            </a:r>
            <a:r>
              <a:rPr lang="en-US" altLang="en-US" sz="1550" i="1" dirty="0">
                <a:solidFill>
                  <a:srgbClr val="7030A0"/>
                </a:solidFill>
              </a:rPr>
              <a:t>:= cnt+1;</a:t>
            </a:r>
          </a:p>
          <a:p>
            <a:pPr marL="142439" lvl="1" indent="-153829">
              <a:spcBef>
                <a:spcPts val="375"/>
              </a:spcBef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			</a:t>
            </a:r>
            <a:r>
              <a:rPr lang="en-US" altLang="en-US" sz="1550" i="1" dirty="0" err="1">
                <a:solidFill>
                  <a:srgbClr val="7030A0"/>
                </a:solidFill>
              </a:rPr>
              <a:t>one_sec</a:t>
            </a:r>
            <a:r>
              <a:rPr lang="en-US" altLang="en-US" sz="1550" i="1" dirty="0">
                <a:solidFill>
                  <a:srgbClr val="7030A0"/>
                </a:solidFill>
              </a:rPr>
              <a:t>:= </a:t>
            </a:r>
            <a:r>
              <a:rPr lang="en-US" altLang="en-US" sz="1550" i="1" dirty="0" err="1">
                <a:solidFill>
                  <a:srgbClr val="7030A0"/>
                </a:solidFill>
              </a:rPr>
              <a:t>one_sec</a:t>
            </a:r>
            <a:r>
              <a:rPr lang="en-US" altLang="en-US" sz="1550" i="1" dirty="0">
                <a:solidFill>
                  <a:srgbClr val="7030A0"/>
                </a:solidFill>
              </a:rPr>
              <a:t> + 1;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	end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Examples for shared code</a:t>
            </a:r>
          </a:p>
          <a:p>
            <a:pPr lvl="1">
              <a:lnSpc>
                <a:spcPct val="90000"/>
              </a:lnSpc>
            </a:pPr>
            <a:r>
              <a:rPr lang="en-US" altLang="en-US" sz="2150" dirty="0"/>
              <a:t>Generic counter</a:t>
            </a:r>
          </a:p>
          <a:p>
            <a:pPr lvl="1">
              <a:lnSpc>
                <a:spcPct val="90000"/>
              </a:lnSpc>
            </a:pPr>
            <a:r>
              <a:rPr lang="en-US" altLang="en-US" sz="2150" dirty="0"/>
              <a:t>Generic mux</a:t>
            </a:r>
            <a:endParaRPr lang="en-US" altLang="en-US" sz="2400" dirty="0">
              <a:solidFill>
                <a:srgbClr val="FFFF00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endParaRPr lang="en-US" altLang="en-US" sz="2050" dirty="0"/>
          </a:p>
          <a:p>
            <a:pPr lvl="1"/>
            <a:endParaRPr lang="en-US" sz="1750" dirty="0"/>
          </a:p>
          <a:p>
            <a:pPr lvl="1"/>
            <a:endParaRPr lang="en-US" sz="1750" dirty="0"/>
          </a:p>
        </p:txBody>
      </p:sp>
      <p:sp>
        <p:nvSpPr>
          <p:cNvPr id="2" name="Left Arrow 1"/>
          <p:cNvSpPr/>
          <p:nvPr/>
        </p:nvSpPr>
        <p:spPr bwMode="auto">
          <a:xfrm>
            <a:off x="4876799" y="4038600"/>
            <a:ext cx="2912823" cy="990600"/>
          </a:xfrm>
          <a:prstGeom prst="leftArrow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CNT ===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one_sec</a:t>
            </a:r>
            <a:endParaRPr kumimoji="0" lang="he-IL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355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F266A03-2096-49C7-9558-2D3A4B963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Good Practice – Logic Expressions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9145528-55A1-47FB-8062-EC377E68A84C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In case a logic expression is used more than once, define it as a wire (With good name) and use it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FF0000"/>
                </a:solidFill>
              </a:rPr>
              <a:t>// Bad Code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</a:t>
            </a:r>
            <a:r>
              <a:rPr lang="en-US" altLang="en-US" sz="1550" i="1" dirty="0" err="1">
                <a:solidFill>
                  <a:srgbClr val="7030A0"/>
                </a:solidFill>
              </a:rPr>
              <a:t>counter_enable</a:t>
            </a:r>
            <a:r>
              <a:rPr lang="en-US" altLang="en-US" sz="1550" i="1" dirty="0">
                <a:solidFill>
                  <a:srgbClr val="7030A0"/>
                </a:solidFill>
              </a:rPr>
              <a:t> = </a:t>
            </a:r>
            <a:r>
              <a:rPr lang="en-US" altLang="en-US" sz="1550" i="1" dirty="0" err="1">
                <a:solidFill>
                  <a:srgbClr val="00B0F0"/>
                </a:solidFill>
              </a:rPr>
              <a:t>fsm_ps</a:t>
            </a:r>
            <a:r>
              <a:rPr lang="en-US" altLang="en-US" sz="1550" i="1" dirty="0">
                <a:solidFill>
                  <a:srgbClr val="00B0F0"/>
                </a:solidFill>
              </a:rPr>
              <a:t>==COUNT </a:t>
            </a:r>
            <a:r>
              <a:rPr lang="en-US" altLang="en-US" sz="1550" i="1" dirty="0">
                <a:solidFill>
                  <a:srgbClr val="7030A0"/>
                </a:solidFill>
              </a:rPr>
              <a:t>&amp; timer_64ns;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</a:t>
            </a:r>
            <a:r>
              <a:rPr lang="en-US" altLang="en-US" sz="1550" i="1" dirty="0" err="1">
                <a:solidFill>
                  <a:srgbClr val="7030A0"/>
                </a:solidFill>
              </a:rPr>
              <a:t>counter_done</a:t>
            </a:r>
            <a:r>
              <a:rPr lang="en-US" altLang="en-US" sz="1550" i="1" dirty="0">
                <a:solidFill>
                  <a:srgbClr val="7030A0"/>
                </a:solidFill>
              </a:rPr>
              <a:t> = </a:t>
            </a:r>
            <a:r>
              <a:rPr lang="en-US" altLang="en-US" sz="1550" i="1" dirty="0" err="1">
                <a:solidFill>
                  <a:srgbClr val="00B0F0"/>
                </a:solidFill>
              </a:rPr>
              <a:t>fsm_ps</a:t>
            </a:r>
            <a:r>
              <a:rPr lang="en-US" altLang="en-US" sz="1550" i="1" dirty="0">
                <a:solidFill>
                  <a:srgbClr val="00B0F0"/>
                </a:solidFill>
              </a:rPr>
              <a:t>==COUNT </a:t>
            </a:r>
            <a:r>
              <a:rPr lang="en-US" altLang="en-US" sz="1550" i="1" dirty="0">
                <a:solidFill>
                  <a:srgbClr val="7030A0"/>
                </a:solidFill>
              </a:rPr>
              <a:t>&amp; </a:t>
            </a:r>
            <a:r>
              <a:rPr lang="en-US" altLang="en-US" sz="1550" i="1" dirty="0" err="1">
                <a:solidFill>
                  <a:srgbClr val="7030A0"/>
                </a:solidFill>
              </a:rPr>
              <a:t>counter_done</a:t>
            </a:r>
            <a:r>
              <a:rPr lang="en-US" altLang="en-US" sz="1550" i="1" dirty="0">
                <a:solidFill>
                  <a:srgbClr val="7030A0"/>
                </a:solidFill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1550" i="1" dirty="0">
              <a:solidFill>
                <a:srgbClr val="7030A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1550" i="1" dirty="0">
              <a:solidFill>
                <a:srgbClr val="7030A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00B050"/>
                </a:solidFill>
              </a:rPr>
              <a:t>// Good Code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</a:t>
            </a:r>
            <a:r>
              <a:rPr lang="en-US" altLang="en-US" sz="1550" i="1" dirty="0" err="1">
                <a:solidFill>
                  <a:srgbClr val="7030A0"/>
                </a:solidFill>
              </a:rPr>
              <a:t>fsm_ps_count</a:t>
            </a:r>
            <a:r>
              <a:rPr lang="en-US" altLang="en-US" sz="1550" i="1" dirty="0">
                <a:solidFill>
                  <a:srgbClr val="7030A0"/>
                </a:solidFill>
              </a:rPr>
              <a:t> = </a:t>
            </a:r>
            <a:r>
              <a:rPr lang="en-US" altLang="en-US" sz="1550" i="1" dirty="0" err="1">
                <a:solidFill>
                  <a:srgbClr val="00B0F0"/>
                </a:solidFill>
              </a:rPr>
              <a:t>fsm_ps</a:t>
            </a:r>
            <a:r>
              <a:rPr lang="en-US" altLang="en-US" sz="1550" i="1" dirty="0">
                <a:solidFill>
                  <a:srgbClr val="00B0F0"/>
                </a:solidFill>
              </a:rPr>
              <a:t>==COUNT</a:t>
            </a:r>
            <a:r>
              <a:rPr lang="en-US" altLang="en-US" sz="1550" i="1" dirty="0">
                <a:solidFill>
                  <a:srgbClr val="7030A0"/>
                </a:solidFill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</a:t>
            </a:r>
            <a:r>
              <a:rPr lang="en-US" altLang="en-US" sz="1550" i="1" dirty="0" err="1">
                <a:solidFill>
                  <a:srgbClr val="7030A0"/>
                </a:solidFill>
              </a:rPr>
              <a:t>counter_enable</a:t>
            </a:r>
            <a:r>
              <a:rPr lang="en-US" altLang="en-US" sz="1550" i="1" dirty="0">
                <a:solidFill>
                  <a:srgbClr val="7030A0"/>
                </a:solidFill>
              </a:rPr>
              <a:t> = </a:t>
            </a:r>
            <a:r>
              <a:rPr lang="en-US" altLang="en-US" sz="1550" i="1" dirty="0" err="1">
                <a:solidFill>
                  <a:srgbClr val="7030A0"/>
                </a:solidFill>
              </a:rPr>
              <a:t>fsm_ps_count</a:t>
            </a:r>
            <a:r>
              <a:rPr lang="en-US" altLang="en-US" sz="1550" i="1" dirty="0">
                <a:solidFill>
                  <a:srgbClr val="7030A0"/>
                </a:solidFill>
              </a:rPr>
              <a:t> &amp; timer_64ns;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</a:t>
            </a:r>
            <a:r>
              <a:rPr lang="en-US" altLang="en-US" sz="1550" i="1" dirty="0" err="1">
                <a:solidFill>
                  <a:srgbClr val="7030A0"/>
                </a:solidFill>
              </a:rPr>
              <a:t>counter_done</a:t>
            </a:r>
            <a:r>
              <a:rPr lang="en-US" altLang="en-US" sz="1550" i="1" dirty="0">
                <a:solidFill>
                  <a:srgbClr val="7030A0"/>
                </a:solidFill>
              </a:rPr>
              <a:t> =  </a:t>
            </a:r>
            <a:r>
              <a:rPr lang="en-US" altLang="en-US" sz="1550" i="1" dirty="0" err="1">
                <a:solidFill>
                  <a:srgbClr val="7030A0"/>
                </a:solidFill>
              </a:rPr>
              <a:t>fsm_ps_count</a:t>
            </a:r>
            <a:r>
              <a:rPr lang="en-US" altLang="en-US" sz="1550" i="1" dirty="0">
                <a:solidFill>
                  <a:srgbClr val="7030A0"/>
                </a:solidFill>
              </a:rPr>
              <a:t> &amp; </a:t>
            </a:r>
            <a:r>
              <a:rPr lang="en-US" altLang="en-US" sz="1550" i="1" dirty="0" err="1">
                <a:solidFill>
                  <a:srgbClr val="7030A0"/>
                </a:solidFill>
              </a:rPr>
              <a:t>counter_done</a:t>
            </a:r>
            <a:r>
              <a:rPr lang="en-US" altLang="en-US" sz="1550" i="1" dirty="0">
                <a:solidFill>
                  <a:srgbClr val="7030A0"/>
                </a:solidFill>
              </a:rPr>
              <a:t>;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10493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F266A03-2096-49C7-9558-2D3A4B963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Good Practice – Logic Expressions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9145528-55A1-47FB-8062-EC377E68A84C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>
          <a:xfrm>
            <a:off x="355203" y="1541198"/>
            <a:ext cx="8397875" cy="52596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Long logic expressions</a:t>
            </a:r>
          </a:p>
          <a:p>
            <a:pPr lvl="1">
              <a:lnSpc>
                <a:spcPct val="90000"/>
              </a:lnSpc>
            </a:pPr>
            <a:r>
              <a:rPr lang="en-US" altLang="en-US" sz="2150" dirty="0"/>
              <a:t>Break into sub (meaningful) logic expressions</a:t>
            </a:r>
          </a:p>
          <a:p>
            <a:pPr lvl="1">
              <a:lnSpc>
                <a:spcPct val="90000"/>
              </a:lnSpc>
            </a:pPr>
            <a:r>
              <a:rPr lang="en-US" altLang="en-US" sz="2150" dirty="0"/>
              <a:t>Use brackets or new line for code/debug readability and quality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FF0000"/>
                </a:solidFill>
              </a:rPr>
              <a:t>// Bad (spaghetti) code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[3:0] ns = reset ? 4’d2 : </a:t>
            </a:r>
            <a:r>
              <a:rPr lang="en-US" altLang="en-US" sz="1550" i="1" dirty="0" err="1">
                <a:solidFill>
                  <a:srgbClr val="7030A0"/>
                </a:solidFill>
              </a:rPr>
              <a:t>inc</a:t>
            </a:r>
            <a:r>
              <a:rPr lang="en-US" altLang="en-US" sz="1550" i="1" dirty="0">
                <a:solidFill>
                  <a:srgbClr val="7030A0"/>
                </a:solidFill>
              </a:rPr>
              <a:t> ? (Ps+4’d1 &gt;4’d8) ? 4’d8 : ps+4’d1 : </a:t>
            </a:r>
            <a:r>
              <a:rPr lang="en-US" altLang="en-US" sz="1550" i="1" dirty="0" err="1">
                <a:solidFill>
                  <a:srgbClr val="7030A0"/>
                </a:solidFill>
              </a:rPr>
              <a:t>dec</a:t>
            </a:r>
            <a:r>
              <a:rPr lang="en-US" altLang="en-US" sz="1550" i="1" dirty="0">
                <a:solidFill>
                  <a:srgbClr val="7030A0"/>
                </a:solidFill>
              </a:rPr>
              <a:t> ?  Ps==4’d0 ? 4’d0 : ps-4’d1 : </a:t>
            </a:r>
            <a:r>
              <a:rPr lang="en-US" altLang="en-US" sz="1550" i="1" dirty="0" err="1">
                <a:solidFill>
                  <a:srgbClr val="7030A0"/>
                </a:solidFill>
              </a:rPr>
              <a:t>ps</a:t>
            </a:r>
            <a:r>
              <a:rPr lang="en-US" altLang="en-US" sz="1550" i="1" dirty="0">
                <a:solidFill>
                  <a:srgbClr val="7030A0"/>
                </a:solidFill>
              </a:rPr>
              <a:t>;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00B050"/>
                </a:solidFill>
              </a:rPr>
              <a:t>// Good code: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[3:0] add = Ps+4’d1; 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saturation = add &gt;4’d8;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[3:0] </a:t>
            </a:r>
            <a:r>
              <a:rPr lang="en-US" altLang="en-US" sz="1550" i="1" dirty="0" err="1">
                <a:solidFill>
                  <a:srgbClr val="7030A0"/>
                </a:solidFill>
              </a:rPr>
              <a:t>inc_result</a:t>
            </a:r>
            <a:r>
              <a:rPr lang="en-US" altLang="en-US" sz="1550" i="1" dirty="0">
                <a:solidFill>
                  <a:srgbClr val="7030A0"/>
                </a:solidFill>
              </a:rPr>
              <a:t> = saturation ? 4’d8 :  add;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[3:0] sub = ps-4’d1;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[3:0] </a:t>
            </a:r>
            <a:r>
              <a:rPr lang="en-US" altLang="en-US" sz="1550" i="1" dirty="0" err="1">
                <a:solidFill>
                  <a:srgbClr val="7030A0"/>
                </a:solidFill>
              </a:rPr>
              <a:t>dec_result</a:t>
            </a:r>
            <a:r>
              <a:rPr lang="en-US" altLang="en-US" sz="1550" i="1" dirty="0">
                <a:solidFill>
                  <a:srgbClr val="7030A0"/>
                </a:solidFill>
              </a:rPr>
              <a:t> = </a:t>
            </a:r>
            <a:r>
              <a:rPr lang="en-US" altLang="en-US" sz="1550" i="1" dirty="0" err="1">
                <a:solidFill>
                  <a:srgbClr val="7030A0"/>
                </a:solidFill>
              </a:rPr>
              <a:t>ps</a:t>
            </a:r>
            <a:r>
              <a:rPr lang="en-US" altLang="en-US" sz="1550" i="1" dirty="0">
                <a:solidFill>
                  <a:srgbClr val="7030A0"/>
                </a:solidFill>
              </a:rPr>
              <a:t>==4’d0 ? 4’d0 : sub;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Wire [3:0] ns = reset ? 4’d2 : </a:t>
            </a:r>
            <a:r>
              <a:rPr lang="en-US" altLang="en-US" sz="1550" i="1" dirty="0">
                <a:solidFill>
                  <a:schemeClr val="tx1"/>
                </a:solidFill>
              </a:rPr>
              <a:t>// brackets - Do not leave place for uncertainty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	           </a:t>
            </a:r>
            <a:r>
              <a:rPr lang="en-US" altLang="en-US" sz="1550" i="1" dirty="0" err="1">
                <a:solidFill>
                  <a:srgbClr val="7030A0"/>
                </a:solidFill>
              </a:rPr>
              <a:t>inc</a:t>
            </a:r>
            <a:r>
              <a:rPr lang="en-US" altLang="en-US" sz="1550" i="1" dirty="0">
                <a:solidFill>
                  <a:srgbClr val="7030A0"/>
                </a:solidFill>
              </a:rPr>
              <a:t> ? </a:t>
            </a:r>
            <a:r>
              <a:rPr lang="en-US" altLang="en-US" sz="1550" i="1" dirty="0" err="1">
                <a:solidFill>
                  <a:srgbClr val="7030A0"/>
                </a:solidFill>
              </a:rPr>
              <a:t>inc_result</a:t>
            </a:r>
            <a:r>
              <a:rPr lang="en-US" altLang="en-US" sz="1550" i="1" dirty="0">
                <a:solidFill>
                  <a:srgbClr val="7030A0"/>
                </a:solidFill>
              </a:rPr>
              <a:t> : 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                     	</a:t>
            </a:r>
            <a:r>
              <a:rPr lang="en-US" altLang="en-US" sz="1550" i="1" dirty="0" err="1">
                <a:solidFill>
                  <a:srgbClr val="7030A0"/>
                </a:solidFill>
              </a:rPr>
              <a:t>dec</a:t>
            </a:r>
            <a:r>
              <a:rPr lang="en-US" altLang="en-US" sz="1550" i="1" dirty="0">
                <a:solidFill>
                  <a:srgbClr val="7030A0"/>
                </a:solidFill>
              </a:rPr>
              <a:t> ? </a:t>
            </a:r>
            <a:r>
              <a:rPr lang="en-US" altLang="en-US" sz="1550" i="1" dirty="0" err="1">
                <a:solidFill>
                  <a:srgbClr val="7030A0"/>
                </a:solidFill>
              </a:rPr>
              <a:t>dec_result</a:t>
            </a:r>
            <a:r>
              <a:rPr lang="en-US" altLang="en-US" sz="1550" i="1" dirty="0">
                <a:solidFill>
                  <a:srgbClr val="7030A0"/>
                </a:solidFill>
              </a:rPr>
              <a:t> : 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	           	          </a:t>
            </a:r>
            <a:r>
              <a:rPr lang="en-US" altLang="en-US" sz="1550" i="1" dirty="0" err="1">
                <a:solidFill>
                  <a:srgbClr val="7030A0"/>
                </a:solidFill>
              </a:rPr>
              <a:t>ps</a:t>
            </a:r>
            <a:r>
              <a:rPr lang="en-US" altLang="en-US" sz="1550" i="1" dirty="0">
                <a:solidFill>
                  <a:srgbClr val="7030A0"/>
                </a:solidFill>
              </a:rPr>
              <a:t>;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400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DCAF760C-E67B-4E8E-89E4-C28FCDDA89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629400"/>
            <a:ext cx="1066800" cy="171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00000"/>
              </a:buClr>
              <a:buSzPct val="125000"/>
              <a:buFont typeface="Wingdings" panose="05000000000000000000" pitchFamily="2" charset="2"/>
              <a:buChar char="§"/>
              <a:defRPr sz="2800" b="1">
                <a:solidFill>
                  <a:srgbClr val="000066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0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12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F266A03-2096-49C7-9558-2D3A4B963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Good Practice – Logic Expressions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9145528-55A1-47FB-8062-EC377E68A84C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>
          <a:xfrm>
            <a:off x="355203" y="1541198"/>
            <a:ext cx="8397875" cy="52596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If you have to do long expression, use hierarchical indentation. </a:t>
            </a:r>
          </a:p>
          <a:p>
            <a:pPr marL="194864" lvl="1" indent="0">
              <a:lnSpc>
                <a:spcPct val="90000"/>
              </a:lnSpc>
              <a:buNone/>
            </a:pPr>
            <a:endParaRPr lang="en-US" altLang="en-US" sz="1550" i="1" dirty="0">
              <a:solidFill>
                <a:srgbClr val="FF0000"/>
              </a:solidFill>
            </a:endParaRP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FF0000"/>
                </a:solidFill>
              </a:rPr>
              <a:t>// Bad code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X = a0 &amp; a1 | a2 &amp;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a3 &amp; a4 | a5;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00B050"/>
                </a:solidFill>
              </a:rPr>
              <a:t>        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00B050"/>
                </a:solidFill>
              </a:rPr>
              <a:t>// Good code: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X = a0 &amp; a1 | 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a2  &amp;  a3 &amp;  a4     |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a5;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00B050"/>
                </a:solidFill>
              </a:rPr>
              <a:t>// Good code: brackets 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X = (a0 &amp; a1 ) | 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(a2  &amp;  a3 &amp; a4 )    |</a:t>
            </a:r>
          </a:p>
          <a:p>
            <a:pPr marL="194864" lvl="1" indent="0">
              <a:lnSpc>
                <a:spcPct val="90000"/>
              </a:lnSpc>
              <a:buNone/>
            </a:pPr>
            <a:r>
              <a:rPr lang="en-US" altLang="en-US" sz="1550" i="1" dirty="0">
                <a:solidFill>
                  <a:srgbClr val="7030A0"/>
                </a:solidFill>
              </a:rPr>
              <a:t>      a5;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DCAF760C-E67B-4E8E-89E4-C28FCDDA89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629400"/>
            <a:ext cx="1066800" cy="171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00000"/>
              </a:buClr>
              <a:buSzPct val="125000"/>
              <a:buFont typeface="Wingdings" panose="05000000000000000000" pitchFamily="2" charset="2"/>
              <a:buChar char="§"/>
              <a:defRPr sz="2800" b="1">
                <a:solidFill>
                  <a:srgbClr val="000066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000" b="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078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5849BA0-D32F-46E8-9BD2-97E090E06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Good Practice - State Machines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4B94D44-6BD6-422D-A994-B3C2873A4B88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en-US" sz="2400" dirty="0"/>
              <a:t>State machine should be very simple and readable. Use good names for states, use Parameters/ENUMS</a:t>
            </a:r>
          </a:p>
          <a:p>
            <a:endParaRPr lang="en-US" altLang="en-US" sz="2400" dirty="0"/>
          </a:p>
          <a:p>
            <a:r>
              <a:rPr lang="en-US" altLang="en-US" sz="2400" dirty="0"/>
              <a:t>FSM logic should only include FSM transitions and no other logic, this will be done separately based on FSM_PS</a:t>
            </a:r>
          </a:p>
          <a:p>
            <a:endParaRPr lang="en-US" altLang="en-US" sz="2400" dirty="0"/>
          </a:p>
          <a:p>
            <a:r>
              <a:rPr lang="en-US" altLang="en-US" sz="2400" dirty="0"/>
              <a:t>Try to narrow the number of states as possible. Use sub state machines in case needed</a:t>
            </a:r>
          </a:p>
          <a:p>
            <a:endParaRPr lang="en-US" altLang="en-US" sz="2400" dirty="0"/>
          </a:p>
          <a:p>
            <a:pPr marL="0" indent="0">
              <a:buNone/>
            </a:pPr>
            <a:endParaRPr lang="en-US" altLang="en-US" sz="215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18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 b="0" i="1" dirty="0">
              <a:solidFill>
                <a:schemeClr val="hlin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286250"/>
            <a:ext cx="4700819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0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5849BA0-D32F-46E8-9BD2-97E090E06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Good Practice - State Machines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4B94D44-6BD6-422D-A994-B3C2873A4B88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>
          <a:xfrm>
            <a:off x="346674" y="1066800"/>
            <a:ext cx="8397875" cy="2438400"/>
          </a:xfrm>
        </p:spPr>
        <p:txBody>
          <a:bodyPr/>
          <a:lstStyle/>
          <a:p>
            <a:pPr>
              <a:buNone/>
            </a:pPr>
            <a:r>
              <a:rPr lang="en-US" sz="1700" dirty="0" err="1">
                <a:solidFill>
                  <a:srgbClr val="FF0066"/>
                </a:solidFill>
                <a:latin typeface="Courier New" panose="02070309020205020404" pitchFamily="49" charset="0"/>
              </a:rPr>
              <a:t>enum</a:t>
            </a:r>
            <a:r>
              <a:rPr lang="en-US" sz="1800" i="1" dirty="0">
                <a:solidFill>
                  <a:srgbClr val="7030A0"/>
                </a:solidFill>
              </a:rPr>
              <a:t>  </a:t>
            </a:r>
            <a:r>
              <a:rPr lang="en-US" sz="1700" dirty="0">
                <a:solidFill>
                  <a:srgbClr val="FF0066"/>
                </a:solidFill>
                <a:latin typeface="Courier New" panose="02070309020205020404" pitchFamily="49" charset="0"/>
              </a:rPr>
              <a:t>logic</a:t>
            </a:r>
            <a:r>
              <a:rPr lang="en-US" sz="1700" dirty="0">
                <a:latin typeface="Courier New" panose="02070309020205020404" pitchFamily="49" charset="0"/>
              </a:rPr>
              <a:t> [2:0] {IDLE, WRITE, READ}   </a:t>
            </a:r>
            <a:r>
              <a:rPr lang="en-US" altLang="en-US" sz="1700" dirty="0" err="1">
                <a:latin typeface="Courier New" panose="02070309020205020404" pitchFamily="49" charset="0"/>
              </a:rPr>
              <a:t>array_ps</a:t>
            </a:r>
            <a:r>
              <a:rPr lang="en-US" altLang="en-US" sz="1700" dirty="0">
                <a:latin typeface="Courier New" panose="02070309020205020404" pitchFamily="49" charset="0"/>
              </a:rPr>
              <a:t>, </a:t>
            </a:r>
            <a:r>
              <a:rPr lang="en-US" altLang="en-US" sz="1700" dirty="0" err="1">
                <a:latin typeface="Courier New" panose="02070309020205020404" pitchFamily="49" charset="0"/>
              </a:rPr>
              <a:t>array_ns</a:t>
            </a:r>
            <a:r>
              <a:rPr lang="en-US" altLang="en-US" sz="1700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700" dirty="0">
                <a:solidFill>
                  <a:srgbClr val="FF0066"/>
                </a:solidFill>
                <a:latin typeface="Courier New" panose="02070309020205020404" pitchFamily="49" charset="0"/>
              </a:rPr>
              <a:t>always</a:t>
            </a:r>
            <a:r>
              <a:rPr lang="en-US" altLang="en-US" sz="1700" dirty="0">
                <a:latin typeface="Courier New" panose="02070309020205020404" pitchFamily="49" charset="0"/>
              </a:rPr>
              <a:t> </a:t>
            </a:r>
            <a:r>
              <a:rPr lang="en-US" altLang="en-US" sz="1500" dirty="0">
                <a:latin typeface="Courier New" panose="02070309020205020404" pitchFamily="49" charset="0"/>
              </a:rPr>
              <a:t>@*</a:t>
            </a:r>
            <a:endParaRPr lang="en-US" altLang="en-US" sz="17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   </a:t>
            </a:r>
            <a:r>
              <a:rPr lang="en-US" altLang="en-US" sz="1700" dirty="0">
                <a:solidFill>
                  <a:srgbClr val="FF0066"/>
                </a:solidFill>
                <a:latin typeface="Courier New" panose="02070309020205020404" pitchFamily="49" charset="0"/>
              </a:rPr>
              <a:t>case</a:t>
            </a:r>
            <a:r>
              <a:rPr lang="en-US" altLang="en-US" sz="1700" dirty="0">
                <a:latin typeface="Courier New" panose="02070309020205020404" pitchFamily="49" charset="0"/>
              </a:rPr>
              <a:t> (</a:t>
            </a:r>
            <a:r>
              <a:rPr lang="en-US" altLang="en-US" sz="1700" dirty="0" err="1">
                <a:latin typeface="Courier New" panose="02070309020205020404" pitchFamily="49" charset="0"/>
              </a:rPr>
              <a:t>array_ps</a:t>
            </a:r>
            <a:r>
              <a:rPr lang="en-US" altLang="en-US" sz="1700" dirty="0">
                <a:latin typeface="Courier New" panose="02070309020205020404" pitchFamily="49" charset="0"/>
              </a:rPr>
              <a:t>)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      IDLE : </a:t>
            </a:r>
            <a:r>
              <a:rPr lang="en-US" altLang="en-US" sz="1700" dirty="0" err="1">
                <a:latin typeface="Courier New" panose="02070309020205020404" pitchFamily="49" charset="0"/>
              </a:rPr>
              <a:t>array_ns</a:t>
            </a:r>
            <a:r>
              <a:rPr lang="en-US" altLang="en-US" sz="1700" dirty="0">
                <a:latin typeface="Courier New" panose="02070309020205020404" pitchFamily="49" charset="0"/>
              </a:rPr>
              <a:t> = in1 ? READ :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                        (in2 ^ in4) ? WRITE : IDLE;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      READ : </a:t>
            </a:r>
            <a:r>
              <a:rPr lang="en-US" altLang="en-US" sz="1700" dirty="0" err="1">
                <a:latin typeface="Courier New" panose="02070309020205020404" pitchFamily="49" charset="0"/>
              </a:rPr>
              <a:t>array_ns</a:t>
            </a:r>
            <a:r>
              <a:rPr lang="en-US" altLang="en-US" sz="1700" dirty="0">
                <a:latin typeface="Courier New" panose="02070309020205020404" pitchFamily="49" charset="0"/>
              </a:rPr>
              <a:t> = (in3 &amp; in2) ? READ : IDLE;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700" dirty="0">
                <a:latin typeface="Courier New" panose="02070309020205020404" pitchFamily="49" charset="0"/>
              </a:rPr>
              <a:t>      WRITE : </a:t>
            </a:r>
            <a:r>
              <a:rPr lang="en-US" altLang="en-US" sz="1700" dirty="0" err="1">
                <a:latin typeface="Courier New" panose="02070309020205020404" pitchFamily="49" charset="0"/>
              </a:rPr>
              <a:t>array_ns</a:t>
            </a:r>
            <a:r>
              <a:rPr lang="en-US" altLang="en-US" sz="1700" dirty="0">
                <a:latin typeface="Courier New" panose="02070309020205020404" pitchFamily="49" charset="0"/>
              </a:rPr>
              <a:t> = in1 ? IDLE : WRITE;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700" dirty="0">
                <a:solidFill>
                  <a:srgbClr val="FF0066"/>
                </a:solidFill>
                <a:latin typeface="Courier New" panose="02070309020205020404" pitchFamily="49" charset="0"/>
              </a:rPr>
              <a:t>      default </a:t>
            </a:r>
            <a:r>
              <a:rPr lang="en-US" altLang="en-US" sz="1700" dirty="0">
                <a:latin typeface="Courier New" panose="02070309020205020404" pitchFamily="49" charset="0"/>
              </a:rPr>
              <a:t>: </a:t>
            </a:r>
            <a:r>
              <a:rPr lang="en-US" altLang="en-US" sz="1700" dirty="0" err="1">
                <a:latin typeface="Courier New" panose="02070309020205020404" pitchFamily="49" charset="0"/>
              </a:rPr>
              <a:t>array_ns</a:t>
            </a:r>
            <a:r>
              <a:rPr lang="en-US" altLang="en-US" sz="1700" dirty="0">
                <a:latin typeface="Courier New" panose="02070309020205020404" pitchFamily="49" charset="0"/>
              </a:rPr>
              <a:t> = {2{1’bx}};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700" dirty="0">
                <a:solidFill>
                  <a:srgbClr val="FF0066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700" dirty="0" err="1">
                <a:solidFill>
                  <a:srgbClr val="FF0066"/>
                </a:solidFill>
                <a:latin typeface="Courier New" panose="02070309020205020404" pitchFamily="49" charset="0"/>
              </a:rPr>
              <a:t>endcase</a:t>
            </a:r>
            <a:endParaRPr lang="en-US" altLang="en-US" sz="1700" dirty="0">
              <a:solidFill>
                <a:srgbClr val="FF0066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 dirty="0">
              <a:solidFill>
                <a:srgbClr val="FF0066"/>
              </a:solidFill>
              <a:latin typeface="Courier New" panose="02070309020205020404" pitchFamily="49" charset="0"/>
            </a:endParaRPr>
          </a:p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 b="0" i="1" dirty="0">
              <a:solidFill>
                <a:schemeClr val="hlink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4B94D44-6BD6-422D-A994-B3C2873A4B88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3505200"/>
            <a:ext cx="8397875" cy="31047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142439" indent="-153829" algn="l" rtl="0" eaLnBrk="1" fontAlgn="base" hangingPunct="1">
              <a:lnSpc>
                <a:spcPct val="80000"/>
              </a:lnSpc>
              <a:spcBef>
                <a:spcPts val="375"/>
              </a:spcBef>
              <a:spcAft>
                <a:spcPct val="0"/>
              </a:spcAft>
              <a:buClr>
                <a:srgbClr val="B7C035"/>
              </a:buClr>
              <a:buSzPct val="120000"/>
              <a:buFont typeface="Wingdings" charset="2"/>
              <a:buChar char="§"/>
              <a:defRPr sz="1500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54117" indent="-159253" algn="l" rtl="0" eaLnBrk="1" fontAlgn="base" hangingPunct="1">
              <a:lnSpc>
                <a:spcPct val="80000"/>
              </a:lnSpc>
              <a:spcBef>
                <a:spcPts val="266"/>
              </a:spcBef>
              <a:spcAft>
                <a:spcPct val="0"/>
              </a:spcAft>
              <a:buClr>
                <a:srgbClr val="B7C035"/>
              </a:buClr>
              <a:buSzPct val="120000"/>
              <a:buFont typeface="Wingdings" charset="2"/>
              <a:buChar char="§"/>
              <a:defRPr sz="125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2428" indent="-149364" algn="l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3704" indent="-170941" algn="l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20454" indent="-131063" algn="l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B7C035"/>
              </a:buClr>
              <a:buSzPct val="120000"/>
              <a:buFont typeface="Wingdings" charset="2"/>
              <a:buChar char="§"/>
              <a:defRPr sz="1125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2238094" indent="-20345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13">
                <a:solidFill>
                  <a:schemeClr val="tx1"/>
                </a:solidFill>
                <a:latin typeface="+mj-lt"/>
                <a:cs typeface="+mn-cs"/>
              </a:defRPr>
            </a:lvl6pPr>
            <a:lvl7pPr marL="2645048" indent="-20345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13">
                <a:solidFill>
                  <a:schemeClr val="tx1"/>
                </a:solidFill>
                <a:latin typeface="+mj-lt"/>
                <a:cs typeface="+mn-cs"/>
              </a:defRPr>
            </a:lvl7pPr>
            <a:lvl8pPr marL="3051978" indent="-20345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13">
                <a:solidFill>
                  <a:schemeClr val="tx1"/>
                </a:solidFill>
                <a:latin typeface="+mj-lt"/>
                <a:cs typeface="+mn-cs"/>
              </a:defRPr>
            </a:lvl8pPr>
            <a:lvl9pPr marL="3458912" indent="-20345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313">
                <a:solidFill>
                  <a:schemeClr val="tx1"/>
                </a:solidFill>
                <a:latin typeface="+mj-lt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GB" altLang="en-US" sz="1800" kern="0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wire</a:t>
            </a:r>
            <a:r>
              <a:rPr lang="en-GB" alt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kern="0" dirty="0" err="1">
                <a:latin typeface="Courier New" panose="02070309020205020404" pitchFamily="49" charset="0"/>
              </a:rPr>
              <a:t>cmd</a:t>
            </a:r>
            <a:r>
              <a:rPr lang="en-GB" alt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_idle = in1 ;</a:t>
            </a:r>
            <a:endParaRPr lang="en-GB" altLang="en-US" sz="1800" kern="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en-US" sz="1800" kern="0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wire</a:t>
            </a:r>
            <a:r>
              <a:rPr lang="en-GB" alt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kern="0" dirty="0" err="1">
                <a:latin typeface="Courier New" panose="02070309020205020404" pitchFamily="49" charset="0"/>
              </a:rPr>
              <a:t>cmd</a:t>
            </a:r>
            <a:r>
              <a:rPr lang="en-GB" alt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_write = </a:t>
            </a:r>
            <a:r>
              <a:rPr lang="en-US" altLang="en-US" sz="1800" kern="0" dirty="0">
                <a:latin typeface="Courier New" panose="02070309020205020404" pitchFamily="49" charset="0"/>
              </a:rPr>
              <a:t>(in2 ^ in4) </a:t>
            </a:r>
            <a:r>
              <a:rPr lang="en-GB" alt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GB" altLang="en-US" sz="1800" kern="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en-US" sz="1800" kern="0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wire</a:t>
            </a:r>
            <a:r>
              <a:rPr lang="en-GB" alt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kern="0" dirty="0" err="1">
                <a:latin typeface="Courier New" panose="02070309020205020404" pitchFamily="49" charset="0"/>
              </a:rPr>
              <a:t>cmd</a:t>
            </a:r>
            <a:r>
              <a:rPr lang="en-GB" alt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_read = </a:t>
            </a:r>
            <a:r>
              <a:rPr lang="en-US" altLang="en-US" sz="1800" kern="0" dirty="0">
                <a:latin typeface="Courier New" panose="02070309020205020404" pitchFamily="49" charset="0"/>
              </a:rPr>
              <a:t>(in3 &amp; in2) </a:t>
            </a:r>
            <a:r>
              <a:rPr lang="en-GB" alt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endParaRPr lang="en-GB" altLang="en-US" sz="1800" kern="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buFont typeface="Wingdings" charset="2"/>
              <a:buNone/>
            </a:pPr>
            <a:endParaRPr lang="en-US" altLang="en-US" sz="1700" kern="0" dirty="0">
              <a:solidFill>
                <a:srgbClr val="FF0066"/>
              </a:solidFill>
              <a:latin typeface="Courier New" panose="02070309020205020404" pitchFamily="49" charset="0"/>
            </a:endParaRPr>
          </a:p>
          <a:p>
            <a:pPr>
              <a:buFont typeface="Wingdings" charset="2"/>
              <a:buNone/>
            </a:pPr>
            <a:r>
              <a:rPr lang="en-US" altLang="en-US" sz="1700" kern="0" dirty="0">
                <a:solidFill>
                  <a:srgbClr val="FF0066"/>
                </a:solidFill>
                <a:latin typeface="Courier New" panose="02070309020205020404" pitchFamily="49" charset="0"/>
              </a:rPr>
              <a:t>case</a:t>
            </a:r>
            <a:r>
              <a:rPr lang="en-US" altLang="en-US" sz="1700" kern="0" dirty="0">
                <a:latin typeface="Courier New" panose="02070309020205020404" pitchFamily="49" charset="0"/>
              </a:rPr>
              <a:t> (</a:t>
            </a:r>
            <a:r>
              <a:rPr lang="en-US" altLang="en-US" sz="1700" kern="0" dirty="0" err="1">
                <a:latin typeface="Courier New" panose="02070309020205020404" pitchFamily="49" charset="0"/>
              </a:rPr>
              <a:t>array_ps</a:t>
            </a:r>
            <a:r>
              <a:rPr lang="en-US" altLang="en-US" sz="1700" kern="0" dirty="0">
                <a:latin typeface="Courier New" panose="02070309020205020404" pitchFamily="49" charset="0"/>
              </a:rPr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00" kern="0" dirty="0">
                <a:latin typeface="Courier New" panose="02070309020205020404" pitchFamily="49" charset="0"/>
              </a:rPr>
              <a:t>      IDLE : </a:t>
            </a:r>
            <a:r>
              <a:rPr lang="en-US" altLang="en-US" sz="1700" kern="0" dirty="0" err="1">
                <a:latin typeface="Courier New" panose="02070309020205020404" pitchFamily="49" charset="0"/>
              </a:rPr>
              <a:t>array_ns</a:t>
            </a:r>
            <a:r>
              <a:rPr lang="en-US" altLang="en-US" sz="1700" kern="0" dirty="0">
                <a:latin typeface="Courier New" panose="02070309020205020404" pitchFamily="49" charset="0"/>
              </a:rPr>
              <a:t> = </a:t>
            </a:r>
            <a:r>
              <a:rPr lang="en-US" altLang="en-US" sz="1600" kern="0" dirty="0" err="1">
                <a:latin typeface="Courier New" panose="02070309020205020404" pitchFamily="49" charset="0"/>
              </a:rPr>
              <a:t>cmd</a:t>
            </a:r>
            <a:r>
              <a:rPr lang="en-GB" altLang="en-US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_idle</a:t>
            </a:r>
            <a:r>
              <a:rPr lang="en-US" altLang="en-US" sz="1700" kern="0" dirty="0">
                <a:latin typeface="Courier New" panose="02070309020205020404" pitchFamily="49" charset="0"/>
              </a:rPr>
              <a:t> ? READ 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00" kern="0" dirty="0">
                <a:latin typeface="Courier New" panose="02070309020205020404" pitchFamily="49" charset="0"/>
              </a:rPr>
              <a:t> 					      </a:t>
            </a:r>
            <a:r>
              <a:rPr lang="en-US" altLang="en-US" sz="1600" kern="0" dirty="0" err="1">
                <a:latin typeface="Courier New" panose="02070309020205020404" pitchFamily="49" charset="0"/>
              </a:rPr>
              <a:t>cmd</a:t>
            </a:r>
            <a:r>
              <a:rPr lang="en-GB" altLang="en-US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_write</a:t>
            </a:r>
            <a:r>
              <a:rPr lang="en-US" altLang="en-US" sz="1700" kern="0" dirty="0">
                <a:latin typeface="Courier New" panose="02070309020205020404" pitchFamily="49" charset="0"/>
              </a:rPr>
              <a:t>? WRITE : IDLE;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00" kern="0" dirty="0">
                <a:latin typeface="Courier New" panose="02070309020205020404" pitchFamily="49" charset="0"/>
              </a:rPr>
              <a:t>      READ : </a:t>
            </a:r>
            <a:r>
              <a:rPr lang="en-US" altLang="en-US" sz="1700" kern="0" dirty="0" err="1">
                <a:latin typeface="Courier New" panose="02070309020205020404" pitchFamily="49" charset="0"/>
              </a:rPr>
              <a:t>array_ns</a:t>
            </a:r>
            <a:r>
              <a:rPr lang="en-US" altLang="en-US" sz="1700" kern="0" dirty="0">
                <a:latin typeface="Courier New" panose="02070309020205020404" pitchFamily="49" charset="0"/>
              </a:rPr>
              <a:t> = </a:t>
            </a:r>
            <a:r>
              <a:rPr lang="en-US" altLang="en-US" sz="1600" kern="0" dirty="0" err="1">
                <a:latin typeface="Courier New" panose="02070309020205020404" pitchFamily="49" charset="0"/>
              </a:rPr>
              <a:t>cmd</a:t>
            </a:r>
            <a:r>
              <a:rPr lang="en-GB" altLang="en-US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_read</a:t>
            </a:r>
            <a:r>
              <a:rPr lang="en-US" altLang="en-US" sz="1700" kern="0" dirty="0">
                <a:latin typeface="Courier New" panose="02070309020205020404" pitchFamily="49" charset="0"/>
              </a:rPr>
              <a:t> ? READ : IDLE;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00" kern="0" dirty="0">
                <a:latin typeface="Courier New" panose="02070309020205020404" pitchFamily="49" charset="0"/>
              </a:rPr>
              <a:t>      WRITE : </a:t>
            </a:r>
            <a:r>
              <a:rPr lang="en-US" altLang="en-US" sz="1700" kern="0" dirty="0" err="1">
                <a:latin typeface="Courier New" panose="02070309020205020404" pitchFamily="49" charset="0"/>
              </a:rPr>
              <a:t>array_ns</a:t>
            </a:r>
            <a:r>
              <a:rPr lang="en-US" altLang="en-US" sz="1700" kern="0" dirty="0">
                <a:latin typeface="Courier New" panose="02070309020205020404" pitchFamily="49" charset="0"/>
              </a:rPr>
              <a:t> = </a:t>
            </a:r>
            <a:r>
              <a:rPr lang="en-US" altLang="en-US" sz="1800" kern="0" dirty="0" err="1">
                <a:latin typeface="Courier New" panose="02070309020205020404" pitchFamily="49" charset="0"/>
              </a:rPr>
              <a:t>cmd</a:t>
            </a:r>
            <a:r>
              <a:rPr lang="en-GB" altLang="en-US" sz="18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_idle</a:t>
            </a:r>
            <a:r>
              <a:rPr lang="en-US" altLang="en-US" sz="1700" kern="0" dirty="0">
                <a:latin typeface="Courier New" panose="02070309020205020404" pitchFamily="49" charset="0"/>
              </a:rPr>
              <a:t> ? IDLE : WRITE;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00" kern="0" dirty="0">
                <a:solidFill>
                  <a:srgbClr val="FF0066"/>
                </a:solidFill>
                <a:latin typeface="Courier New" panose="02070309020205020404" pitchFamily="49" charset="0"/>
              </a:rPr>
              <a:t>      default </a:t>
            </a:r>
            <a:r>
              <a:rPr lang="en-US" altLang="en-US" sz="1700" kern="0" dirty="0">
                <a:latin typeface="Courier New" panose="02070309020205020404" pitchFamily="49" charset="0"/>
              </a:rPr>
              <a:t>: </a:t>
            </a:r>
            <a:r>
              <a:rPr lang="en-US" altLang="en-US" sz="1700" kern="0" dirty="0" err="1">
                <a:latin typeface="Courier New" panose="02070309020205020404" pitchFamily="49" charset="0"/>
              </a:rPr>
              <a:t>array_ns</a:t>
            </a:r>
            <a:r>
              <a:rPr lang="en-US" altLang="en-US" sz="1700" kern="0" dirty="0">
                <a:latin typeface="Courier New" panose="02070309020205020404" pitchFamily="49" charset="0"/>
              </a:rPr>
              <a:t> = {2{1’bx}};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700" kern="0" dirty="0">
                <a:solidFill>
                  <a:srgbClr val="FF0066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700" kern="0" dirty="0" err="1">
                <a:solidFill>
                  <a:srgbClr val="FF0066"/>
                </a:solidFill>
                <a:latin typeface="Courier New" panose="02070309020205020404" pitchFamily="49" charset="0"/>
              </a:rPr>
              <a:t>endcase</a:t>
            </a:r>
            <a:endParaRPr lang="en-US" altLang="en-US" sz="1700" kern="0" dirty="0">
              <a:solidFill>
                <a:srgbClr val="FF0066"/>
              </a:solidFill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1700" kern="0" dirty="0">
              <a:solidFill>
                <a:srgbClr val="FF0066"/>
              </a:solidFill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1700" kern="0" dirty="0">
              <a:solidFill>
                <a:srgbClr val="FF0066"/>
              </a:solidFill>
              <a:latin typeface="Courier New" panose="02070309020205020404" pitchFamily="49" charset="0"/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en-US" sz="1700" i="1" kern="0" dirty="0">
              <a:solidFill>
                <a:schemeClr val="hlink"/>
              </a:solidFill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en-US" sz="1700" i="1" kern="0" dirty="0">
              <a:solidFill>
                <a:schemeClr val="hlink"/>
              </a:solidFill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en-US" sz="1700" i="1" kern="0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141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5849BA0-D32F-46E8-9BD2-97E090E06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37011"/>
            <a:ext cx="7442949" cy="545601"/>
          </a:xfrm>
        </p:spPr>
        <p:txBody>
          <a:bodyPr/>
          <a:lstStyle/>
          <a:p>
            <a:r>
              <a:rPr lang="en-US" altLang="en-US" dirty="0"/>
              <a:t>Summary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4B94D44-6BD6-422D-A994-B3C2873A4B88}"/>
              </a:ext>
            </a:extLst>
          </p:cNvPr>
          <p:cNvSpPr txBox="1">
            <a:spLocks noChangeArrowheads="1"/>
          </p:cNvSpPr>
          <p:nvPr/>
        </p:nvSpPr>
        <p:spPr>
          <a:xfrm>
            <a:off x="386918" y="1193800"/>
            <a:ext cx="3673475" cy="5435600"/>
          </a:xfr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142439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Hierarchies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Good name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One module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&lt;600 lines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Clear I/F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endParaRPr lang="en-US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</a:endParaRPr>
          </a:p>
          <a:p>
            <a:pPr marL="142439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Naming convention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Meaningful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No alias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Lower case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endParaRPr lang="en-US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</a:endParaRPr>
          </a:p>
          <a:p>
            <a:pPr marL="142439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Comments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Be cheap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No maintained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Only when must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Why and not how.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 i="1" dirty="0">
              <a:solidFill>
                <a:schemeClr val="hlink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4B94D44-6BD6-422D-A994-B3C2873A4B88}"/>
              </a:ext>
            </a:extLst>
          </p:cNvPr>
          <p:cNvSpPr txBox="1">
            <a:spLocks noChangeArrowheads="1"/>
          </p:cNvSpPr>
          <p:nvPr/>
        </p:nvSpPr>
        <p:spPr>
          <a:xfrm>
            <a:off x="4026274" y="1193800"/>
            <a:ext cx="4279526" cy="5435600"/>
          </a:xfr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142439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Parameters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Improve readability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Good for state machines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endParaRPr lang="en-US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</a:endParaRP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endParaRPr lang="en-US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</a:endParaRP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endParaRPr lang="en-US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</a:endParaRPr>
          </a:p>
          <a:p>
            <a:pPr marL="142439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Good practice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Code sharing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Break complex code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Use brackets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</a:rPr>
              <a:t>Avoid code redundancy</a:t>
            </a:r>
          </a:p>
          <a:p>
            <a:pPr marL="599639" lvl="1" indent="-153829" eaLnBrk="1" hangingPunct="1">
              <a:lnSpc>
                <a:spcPct val="80000"/>
              </a:lnSpc>
              <a:spcBef>
                <a:spcPts val="375"/>
              </a:spcBef>
              <a:buClr>
                <a:srgbClr val="B7C035"/>
              </a:buClr>
              <a:buSzPct val="120000"/>
              <a:buFont typeface="Wingdings" charset="2"/>
              <a:buChar char="§"/>
            </a:pPr>
            <a:endParaRPr lang="en-US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Calibri" charset="0"/>
            </a:endParaRP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 i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864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685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80" y="381561"/>
            <a:ext cx="5917546" cy="932752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פרויקט – הדרכה כללית - מנהלות  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74225" y="1697456"/>
          <a:ext cx="6792416" cy="4365752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79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מעבדה 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u="none" dirty="0"/>
                        <a:t>הדרכה כללית מנהלות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מה עושים כל שבוע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22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400" u="none" strike="noStrike" kern="1200" baseline="0" dirty="0"/>
                        <a:t>Good Practice (Mellanox) </a:t>
                      </a:r>
                      <a:endParaRPr lang="he-IL" sz="2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יעילות בקוד ובעבודה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87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הדוח הסופי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2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2400" u="none" dirty="0"/>
                        <a:t>הדרכה טכנית כללית (מצגת נפרדת)</a:t>
                      </a:r>
                      <a:endParaRPr lang="en-US" sz="2400" u="none" dirty="0"/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3200" u="none" strike="noStrike" dirty="0"/>
                        <a:t>סרטונים מהמודל  </a:t>
                      </a:r>
                      <a:r>
                        <a:rPr lang="he-IL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סרטונים להבהרת </a:t>
                      </a:r>
                      <a:r>
                        <a:rPr lang="he-IL" sz="1800" b="0" i="0" u="sng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השמוש</a:t>
                      </a:r>
                      <a:r>
                        <a:rPr lang="he-IL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ב- </a:t>
                      </a:r>
                      <a:r>
                        <a:rPr lang="en-US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VGA, </a:t>
                      </a:r>
                      <a:r>
                        <a:rPr lang="he-IL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מחולקים לפי נושא</a:t>
                      </a:r>
                      <a:endParaRPr lang="he-IL" sz="3200" u="none" strike="noStrike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602395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/>
                        <a:t>הפרויקטים של הסמסטר - מצגת נפרדת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7226" y="3429000"/>
            <a:ext cx="7416824" cy="432048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48679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תכן הירארכי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980728"/>
            <a:ext cx="7416824" cy="4137860"/>
          </a:xfrm>
        </p:spPr>
        <p:txBody>
          <a:bodyPr anchor="t">
            <a:normAutofit/>
          </a:bodyPr>
          <a:lstStyle/>
          <a:p>
            <a:r>
              <a:rPr lang="he-IL" dirty="0">
                <a:solidFill>
                  <a:schemeClr val="bg2"/>
                </a:solidFill>
              </a:rPr>
              <a:t>להימנע מבלוקים ענקיים , לעשות הירארכיה (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he-IL" dirty="0">
                <a:solidFill>
                  <a:schemeClr val="bg2"/>
                </a:solidFill>
              </a:rPr>
              <a:t>רבע גמר, חצי גמר, גמר)</a:t>
            </a:r>
            <a:r>
              <a:rPr lang="en-US" dirty="0">
                <a:solidFill>
                  <a:schemeClr val="bg2"/>
                </a:solidFill>
              </a:rPr>
              <a:t> </a:t>
            </a:r>
            <a:endParaRPr lang="he-IL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725983"/>
            <a:ext cx="7316505" cy="339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33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תכן הירארכי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980728"/>
            <a:ext cx="7416824" cy="4137860"/>
          </a:xfrm>
        </p:spPr>
        <p:txBody>
          <a:bodyPr anchor="t">
            <a:normAutofit/>
          </a:bodyPr>
          <a:lstStyle/>
          <a:p>
            <a:r>
              <a:rPr lang="he-IL" dirty="0">
                <a:solidFill>
                  <a:schemeClr val="bg2"/>
                </a:solidFill>
              </a:rPr>
              <a:t>להימנע משכפול</a:t>
            </a:r>
          </a:p>
          <a:p>
            <a:r>
              <a:rPr lang="he-IL" dirty="0">
                <a:solidFill>
                  <a:schemeClr val="bg2"/>
                </a:solidFill>
              </a:rPr>
              <a:t> עדיף לולאת </a:t>
            </a:r>
            <a:r>
              <a:rPr lang="en-US" dirty="0">
                <a:solidFill>
                  <a:schemeClr val="bg2"/>
                </a:solidFill>
              </a:rPr>
              <a:t>FOR</a:t>
            </a:r>
            <a:r>
              <a:rPr lang="he-IL" dirty="0">
                <a:solidFill>
                  <a:schemeClr val="bg2"/>
                </a:solidFill>
              </a:rPr>
              <a:t> </a:t>
            </a:r>
          </a:p>
          <a:p>
            <a:r>
              <a:rPr lang="he-IL" dirty="0">
                <a:solidFill>
                  <a:schemeClr val="bg2"/>
                </a:solidFill>
              </a:rPr>
              <a:t>או לעשות זאת בטקסט בהירארכית </a:t>
            </a:r>
            <a:r>
              <a:rPr lang="en-US" dirty="0">
                <a:solidFill>
                  <a:schemeClr val="bg2"/>
                </a:solidFill>
              </a:rPr>
              <a:t>SV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41492"/>
            <a:ext cx="2372056" cy="66874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2386" y="2504728"/>
            <a:ext cx="4363059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95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3333CC"/>
                </a:solidFill>
              </a:rPr>
              <a:t>CODE REVIEW 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980728"/>
            <a:ext cx="7416824" cy="4137860"/>
          </a:xfrm>
        </p:spPr>
        <p:txBody>
          <a:bodyPr anchor="t">
            <a:normAutofit/>
          </a:bodyPr>
          <a:lstStyle/>
          <a:p>
            <a:r>
              <a:rPr lang="he-IL" dirty="0">
                <a:solidFill>
                  <a:schemeClr val="bg2"/>
                </a:solidFill>
              </a:rPr>
              <a:t>אנו נבחן במפגש את איכות הקוד</a:t>
            </a:r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340768"/>
            <a:ext cx="5008038" cy="531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872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איכות קוד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667404"/>
            <a:ext cx="7416824" cy="4137860"/>
          </a:xfrm>
        </p:spPr>
        <p:txBody>
          <a:bodyPr anchor="t">
            <a:normAutofit/>
          </a:bodyPr>
          <a:lstStyle/>
          <a:p>
            <a:r>
              <a:rPr lang="he-IL" dirty="0">
                <a:solidFill>
                  <a:schemeClr val="bg2"/>
                </a:solidFill>
              </a:rPr>
              <a:t>יש לשים בדוח קוד קריא </a:t>
            </a:r>
          </a:p>
          <a:p>
            <a:pPr lvl="1"/>
            <a:r>
              <a:rPr lang="he-IL" dirty="0">
                <a:solidFill>
                  <a:schemeClr val="bg2"/>
                </a:solidFill>
              </a:rPr>
              <a:t>לא צילומי מסך </a:t>
            </a:r>
          </a:p>
          <a:p>
            <a:pPr lvl="1"/>
            <a:r>
              <a:rPr lang="he-IL" dirty="0">
                <a:solidFill>
                  <a:schemeClr val="bg2"/>
                </a:solidFill>
              </a:rPr>
              <a:t>לא טקסט שחור לבן 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429093"/>
            <a:ext cx="3626594" cy="2137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59" y="3442651"/>
            <a:ext cx="4153903" cy="2179273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79963" y="2924944"/>
            <a:ext cx="2854252" cy="3517379"/>
          </a:xfrm>
          <a:prstGeom prst="line">
            <a:avLst/>
          </a:prstGeom>
          <a:ln w="28575">
            <a:solidFill>
              <a:srgbClr val="FF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610882" y="3082755"/>
            <a:ext cx="2854252" cy="3489788"/>
          </a:xfrm>
          <a:prstGeom prst="line">
            <a:avLst/>
          </a:prstGeom>
          <a:ln w="28575">
            <a:solidFill>
              <a:srgbClr val="FF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789253" y="3068960"/>
            <a:ext cx="2854252" cy="3517379"/>
          </a:xfrm>
          <a:prstGeom prst="line">
            <a:avLst/>
          </a:prstGeom>
          <a:ln w="28575">
            <a:solidFill>
              <a:srgbClr val="FF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4789255" y="3068960"/>
            <a:ext cx="2854252" cy="3489788"/>
          </a:xfrm>
          <a:prstGeom prst="line">
            <a:avLst/>
          </a:prstGeom>
          <a:ln w="28575">
            <a:solidFill>
              <a:srgbClr val="FF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32" y="1169501"/>
            <a:ext cx="4026954" cy="175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7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404664"/>
            <a:ext cx="5917546" cy="932752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פרויקט – הדרכה כללית - מנהלות   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74225" y="1697456"/>
          <a:ext cx="6792416" cy="4365752"/>
        </p:xfrm>
        <a:graphic>
          <a:graphicData uri="http://schemas.openxmlformats.org/drawingml/2006/table">
            <a:tbl>
              <a:tblPr rtl="1" firstRow="1" bandRow="1">
                <a:tableStyleId>{F5AB1C69-6EDB-4FF4-983F-18BD219EF322}</a:tableStyleId>
              </a:tblPr>
              <a:tblGrid>
                <a:gridCol w="679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מעבדה 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u="none" dirty="0"/>
                        <a:t>הדרכה כללית מנהלות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מה עושים כל שבוע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222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r" defTabSz="457200" rtl="1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400" u="none" strike="noStrike" kern="1200" baseline="0" dirty="0"/>
                        <a:t>Good Practice (Mellanox) </a:t>
                      </a:r>
                      <a:endParaRPr lang="he-IL" sz="240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יעילות בקוד ובעבודה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87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הדוח הסופי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2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2400" u="none" dirty="0"/>
                        <a:t>הדרכה טכנית כללית (מצגת נפרדת)</a:t>
                      </a:r>
                      <a:endParaRPr lang="en-US" sz="2400" u="none" dirty="0"/>
                    </a:p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3200" u="none" strike="noStrike" dirty="0"/>
                        <a:t>סרטונים מהמודל  </a:t>
                      </a:r>
                      <a:r>
                        <a:rPr lang="he-IL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סרטונים להבהרת </a:t>
                      </a:r>
                      <a:r>
                        <a:rPr lang="he-IL" sz="1800" b="0" i="0" u="sng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השמוש</a:t>
                      </a:r>
                      <a:r>
                        <a:rPr lang="he-IL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ב- </a:t>
                      </a:r>
                      <a:r>
                        <a:rPr lang="en-US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VGA, </a:t>
                      </a:r>
                      <a:r>
                        <a:rPr lang="he-IL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מחולקים לפי נושא</a:t>
                      </a:r>
                      <a:endParaRPr lang="he-IL" sz="2400" u="none" strike="noStrike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602395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e-IL" sz="2400" u="none" kern="1200" dirty="0"/>
                        <a:t>הפרויקטים של הסמסטר - מצגת נפרדת </a:t>
                      </a:r>
                      <a:endParaRPr lang="he-IL" sz="240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2021" y="3933056"/>
            <a:ext cx="7416824" cy="432048"/>
          </a:xfrm>
          <a:prstGeom prst="rect">
            <a:avLst/>
          </a:prstGeom>
          <a:solidFill>
            <a:schemeClr val="accent2">
              <a:lumMod val="75000"/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13746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142844" y="142852"/>
            <a:ext cx="8858312" cy="65722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6" name="כותרת 1"/>
          <p:cNvSpPr>
            <a:spLocks noGrp="1"/>
          </p:cNvSpPr>
          <p:nvPr>
            <p:ph type="title"/>
          </p:nvPr>
        </p:nvSpPr>
        <p:spPr>
          <a:xfrm>
            <a:off x="1115616" y="404664"/>
            <a:ext cx="7500990" cy="785818"/>
          </a:xfrm>
        </p:spPr>
        <p:txBody>
          <a:bodyPr>
            <a:normAutofit/>
          </a:bodyPr>
          <a:lstStyle/>
          <a:p>
            <a:pPr algn="ctr" rtl="1"/>
            <a:r>
              <a:rPr lang="he-IL" u="sng" dirty="0">
                <a:solidFill>
                  <a:schemeClr val="bg2"/>
                </a:solidFill>
              </a:rPr>
              <a:t>דוח סופי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-320" b="54762"/>
          <a:stretch/>
        </p:blipFill>
        <p:spPr>
          <a:xfrm>
            <a:off x="827583" y="3101655"/>
            <a:ext cx="4218012" cy="13681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15616" y="1319049"/>
            <a:ext cx="65882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התחילו למלא את הדוח כבר השבוע,  ולא אחרי שתגמרו את הפרוייקט, הוא מכיל חלקים , שתאספו במהלך העבודה </a:t>
            </a: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srgbClr val="146194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SIGNAL TAP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- כלי חשוב,  חלק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מהפרוייקט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,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העזרו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בו</a:t>
            </a: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srgbClr val="146194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סימולציה -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שמרו את התוצאות  - תצטרכו אותם לדוח </a:t>
            </a: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srgbClr val="146194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82324" y="5105831"/>
            <a:ext cx="4179349" cy="120032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הדוח נועד לעזור </a:t>
            </a:r>
            <a:r>
              <a:rPr kumimoji="0" lang="he-IL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לכם למימוש </a:t>
            </a:r>
            <a:endParaRPr kumimoji="0" lang="he-IL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אל תצאו ידי חובה </a:t>
            </a:r>
          </a:p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בסימולציות מיותרות ברגע האחרון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72" y="4594136"/>
            <a:ext cx="4572000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146194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יעילות זה לעבוד קצת כל יום על הדו"ח  </a:t>
            </a:r>
          </a:p>
        </p:txBody>
      </p:sp>
    </p:spTree>
    <p:extLst>
      <p:ext uri="{BB962C8B-B14F-4D97-AF65-F5344CB8AC3E}">
        <p14:creationId xmlns:p14="http://schemas.microsoft.com/office/powerpoint/2010/main" val="1546689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9557" y="215674"/>
            <a:ext cx="2789302" cy="1231484"/>
          </a:xfrm>
        </p:spPr>
        <p:txBody>
          <a:bodyPr/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מלוי הדו"ח</a:t>
            </a:r>
            <a:br>
              <a:rPr lang="en-US" b="1" u="sng" dirty="0">
                <a:solidFill>
                  <a:srgbClr val="3333CC"/>
                </a:solidFill>
              </a:rPr>
            </a:br>
            <a:r>
              <a:rPr lang="he-IL" b="1" u="sng" dirty="0">
                <a:solidFill>
                  <a:srgbClr val="3333CC"/>
                </a:solidFill>
              </a:rPr>
              <a:t> בשלבים</a:t>
            </a:r>
            <a:endParaRPr lang="he-IL" dirty="0"/>
          </a:p>
        </p:txBody>
      </p:sp>
      <p:sp>
        <p:nvSpPr>
          <p:cNvPr id="6" name="Pentagon 5"/>
          <p:cNvSpPr/>
          <p:nvPr/>
        </p:nvSpPr>
        <p:spPr>
          <a:xfrm flipH="1">
            <a:off x="5568136" y="1288676"/>
            <a:ext cx="3024336" cy="316963"/>
          </a:xfrm>
          <a:prstGeom prst="homePlat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קבלת הנושא ב-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VGA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9" name="Pentagon 8"/>
          <p:cNvSpPr/>
          <p:nvPr/>
        </p:nvSpPr>
        <p:spPr>
          <a:xfrm>
            <a:off x="81341" y="3188926"/>
            <a:ext cx="1911961" cy="385610"/>
          </a:xfrm>
          <a:prstGeom prst="homePlat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אינטגרציה  - לפני </a:t>
            </a:r>
          </a:p>
        </p:txBody>
      </p:sp>
      <p:sp>
        <p:nvSpPr>
          <p:cNvPr id="11" name="Pentagon 10"/>
          <p:cNvSpPr/>
          <p:nvPr/>
        </p:nvSpPr>
        <p:spPr>
          <a:xfrm flipH="1">
            <a:off x="5568136" y="6348255"/>
            <a:ext cx="2100208" cy="385610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הגשה והצגה</a:t>
            </a:r>
          </a:p>
        </p:txBody>
      </p:sp>
      <p:sp>
        <p:nvSpPr>
          <p:cNvPr id="12" name="Pentagon 11"/>
          <p:cNvSpPr/>
          <p:nvPr/>
        </p:nvSpPr>
        <p:spPr>
          <a:xfrm>
            <a:off x="16910" y="1836221"/>
            <a:ext cx="1817439" cy="385610"/>
          </a:xfrm>
          <a:prstGeom prst="homePlat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סעיפים ל-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VGA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47522" y="3977216"/>
            <a:ext cx="1979598" cy="385610"/>
          </a:xfrm>
          <a:prstGeom prst="homePlat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אינטגרציה  - אחרי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964FED-C339-4070-ABAF-A92883D1D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311" y="1234016"/>
            <a:ext cx="35528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597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0704" y="960762"/>
            <a:ext cx="6702137" cy="394746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>
                <a:solidFill>
                  <a:schemeClr val="bg2"/>
                </a:solidFill>
              </a:rPr>
              <a:t> הערות למצגת ולדוח –</a:t>
            </a:r>
            <a:br>
              <a:rPr lang="he-IL" dirty="0">
                <a:solidFill>
                  <a:schemeClr val="bg2"/>
                </a:solidFill>
              </a:rPr>
            </a:br>
            <a:r>
              <a:rPr lang="he-IL" dirty="0" err="1">
                <a:solidFill>
                  <a:schemeClr val="bg2"/>
                </a:solidFill>
              </a:rPr>
              <a:t>להמנע</a:t>
            </a:r>
            <a:r>
              <a:rPr lang="he-IL" dirty="0">
                <a:solidFill>
                  <a:schemeClr val="bg2"/>
                </a:solidFill>
              </a:rPr>
              <a:t> מפונטים קטנים מדי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0034" t="-986" r="9476" b="-1"/>
          <a:stretch/>
        </p:blipFill>
        <p:spPr>
          <a:xfrm>
            <a:off x="4810991" y="1586366"/>
            <a:ext cx="3834245" cy="35351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7887" t="-599" r="28765"/>
          <a:stretch/>
        </p:blipFill>
        <p:spPr>
          <a:xfrm>
            <a:off x="529936" y="1300006"/>
            <a:ext cx="3688773" cy="45569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416" y="4814272"/>
            <a:ext cx="685896" cy="6144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990" y="4405454"/>
            <a:ext cx="521567" cy="39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21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80" y="299407"/>
            <a:ext cx="6554867" cy="1524000"/>
          </a:xfrm>
        </p:spPr>
        <p:txBody>
          <a:bodyPr/>
          <a:lstStyle/>
          <a:p>
            <a:pPr algn="ctr"/>
            <a:r>
              <a:rPr lang="he-IL" dirty="0">
                <a:solidFill>
                  <a:schemeClr val="bg2"/>
                </a:solidFill>
              </a:rPr>
              <a:t> הערות למצגת ולדוח –</a:t>
            </a:r>
            <a:br>
              <a:rPr lang="he-IL" dirty="0">
                <a:solidFill>
                  <a:schemeClr val="bg2"/>
                </a:solidFill>
              </a:rPr>
            </a:br>
            <a:r>
              <a:rPr lang="he-IL" dirty="0">
                <a:solidFill>
                  <a:schemeClr val="bg2"/>
                </a:solidFill>
              </a:rPr>
              <a:t>סימולציה ברורה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766" y="4100414"/>
            <a:ext cx="6094469" cy="14003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304" y="1834823"/>
            <a:ext cx="4851284" cy="2107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817" y="4762318"/>
            <a:ext cx="685896" cy="6144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247" y="2916359"/>
            <a:ext cx="521567" cy="39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82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0"/>
            <a:ext cx="7274947" cy="1524000"/>
          </a:xfrm>
        </p:spPr>
        <p:txBody>
          <a:bodyPr/>
          <a:lstStyle/>
          <a:p>
            <a:r>
              <a:rPr lang="he-IL" dirty="0">
                <a:solidFill>
                  <a:schemeClr val="bg2"/>
                </a:solidFill>
              </a:rPr>
              <a:t>הערות למצגת ולדוח – סכמת מלבנים </a:t>
            </a:r>
            <a:r>
              <a:rPr lang="en-US" dirty="0">
                <a:solidFill>
                  <a:schemeClr val="bg2"/>
                </a:solidFill>
              </a:rPr>
              <a:t>TOP </a:t>
            </a:r>
            <a:r>
              <a:rPr lang="he-IL" dirty="0">
                <a:solidFill>
                  <a:schemeClr val="bg2"/>
                </a:solidFill>
              </a:rPr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9632" y="987027"/>
            <a:ext cx="6430272" cy="31532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92" y="3228229"/>
            <a:ext cx="4143953" cy="27007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20" y="5838172"/>
            <a:ext cx="685896" cy="6144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9527" y="4663918"/>
            <a:ext cx="521567" cy="39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91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188640"/>
            <a:ext cx="5269474" cy="932752"/>
          </a:xfrm>
        </p:spPr>
        <p:txBody>
          <a:bodyPr anchor="t"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מועד הגשת הפרויקטים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1392"/>
            <a:ext cx="7815487" cy="5127011"/>
          </a:xfrm>
        </p:spPr>
        <p:txBody>
          <a:bodyPr anchor="t"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he-IL" b="1" dirty="0">
                <a:solidFill>
                  <a:srgbClr val="FF0000"/>
                </a:solidFill>
              </a:rPr>
              <a:t> במפגש המעבדה האחרון תתקיים </a:t>
            </a:r>
            <a:r>
              <a:rPr lang="he-IL" sz="2000" b="1" dirty="0">
                <a:solidFill>
                  <a:srgbClr val="FF0000"/>
                </a:solidFill>
              </a:rPr>
              <a:t>הצגה והדגמה של ה</a:t>
            </a:r>
            <a:r>
              <a:rPr lang="he-IL" b="1" dirty="0">
                <a:solidFill>
                  <a:srgbClr val="FF0000"/>
                </a:solidFill>
              </a:rPr>
              <a:t>פרויקטים </a:t>
            </a:r>
          </a:p>
          <a:p>
            <a:pPr marL="457200" indent="-457200">
              <a:buFont typeface="+mj-lt"/>
              <a:buAutoNum type="arabicPeriod"/>
            </a:pPr>
            <a:r>
              <a:rPr lang="he-IL" b="1" dirty="0">
                <a:solidFill>
                  <a:srgbClr val="FF0000"/>
                </a:solidFill>
              </a:rPr>
              <a:t>ההדגמה תיקח כדקה ותהיה לכל הסטודנטים מאותו יום </a:t>
            </a:r>
          </a:p>
          <a:p>
            <a:pPr marL="457200" indent="-457200">
              <a:buFont typeface="+mj-lt"/>
              <a:buAutoNum type="arabicPeriod"/>
            </a:pPr>
            <a:r>
              <a:rPr lang="he-IL" b="1" dirty="0">
                <a:solidFill>
                  <a:srgbClr val="FF0000"/>
                </a:solidFill>
              </a:rPr>
              <a:t>להצגת הפרויקט שני חלקים של שעה כל אחד. </a:t>
            </a:r>
          </a:p>
          <a:p>
            <a:pPr marL="457200" indent="-457200">
              <a:buFont typeface="+mj-lt"/>
              <a:buAutoNum type="arabicPeriod"/>
            </a:pPr>
            <a:r>
              <a:rPr lang="he-IL" b="1" dirty="0">
                <a:solidFill>
                  <a:srgbClr val="FF0000"/>
                </a:solidFill>
              </a:rPr>
              <a:t>ההצגה תתקיים לפני כל חברי הקבוצה  (8 אנשים)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he-IL" b="1" dirty="0">
                <a:solidFill>
                  <a:srgbClr val="FF0000"/>
                </a:solidFill>
              </a:rPr>
              <a:t>ושני מדריכים בוחנים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he-IL" b="1" dirty="0">
                <a:solidFill>
                  <a:srgbClr val="FF0000"/>
                </a:solidFill>
              </a:rPr>
              <a:t>שלב זה מוגבל ל- 10 דקות לזוג.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he-IL" b="1" dirty="0">
                <a:solidFill>
                  <a:srgbClr val="FF0000"/>
                </a:solidFill>
              </a:rPr>
              <a:t>היא גם באה לתרגל אותכם להצגה מול קהל, וללמוד מטעויות של אחרים.</a:t>
            </a:r>
          </a:p>
          <a:p>
            <a:pPr marL="0" indent="0">
              <a:buNone/>
            </a:pPr>
            <a:br>
              <a:rPr lang="en-US" b="1" dirty="0">
                <a:solidFill>
                  <a:srgbClr val="FF0000"/>
                </a:solidFill>
              </a:rPr>
            </a:br>
            <a:r>
              <a:rPr lang="he-IL" b="1" dirty="0">
                <a:solidFill>
                  <a:srgbClr val="FF0000"/>
                </a:solidFill>
              </a:rPr>
              <a:t>	ההצגה תכיל: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he-IL" b="1" dirty="0">
                <a:solidFill>
                  <a:srgbClr val="FF0000"/>
                </a:solidFill>
              </a:rPr>
              <a:t> הקרנת המצגת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he-IL" b="1" dirty="0">
                <a:solidFill>
                  <a:srgbClr val="FF0000"/>
                </a:solidFill>
              </a:rPr>
              <a:t>הפעלה והדגמה של הפרוייקט 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he-IL" b="1" dirty="0">
                <a:solidFill>
                  <a:srgbClr val="FF0000"/>
                </a:solidFill>
              </a:rPr>
              <a:t>סרטון של כדקה שהכנתם ומתאר את הפרוייקט </a:t>
            </a:r>
          </a:p>
          <a:p>
            <a:pPr marL="457200" lvl="1" indent="0">
              <a:buNone/>
            </a:pPr>
            <a:r>
              <a:rPr lang="he-IL" b="1" dirty="0">
                <a:solidFill>
                  <a:srgbClr val="FF0000"/>
                </a:solidFill>
              </a:rPr>
              <a:t>הערה: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he-IL" b="1" dirty="0">
                <a:solidFill>
                  <a:srgbClr val="FF0000"/>
                </a:solidFill>
              </a:rPr>
              <a:t>שני בני הזוג צריכים להופיע באופן פעיל בכל החלקים 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he-IL" sz="2100" b="1" dirty="0">
                <a:solidFill>
                  <a:srgbClr val="FF0000"/>
                </a:solidFill>
              </a:rPr>
              <a:t>קוד </a:t>
            </a:r>
            <a:r>
              <a:rPr lang="he-IL" sz="2100" b="1" dirty="0" err="1">
                <a:solidFill>
                  <a:srgbClr val="FF0000"/>
                </a:solidFill>
              </a:rPr>
              <a:t>רוויו</a:t>
            </a:r>
            <a:r>
              <a:rPr lang="he-IL" sz="2100" b="1" dirty="0">
                <a:solidFill>
                  <a:srgbClr val="FF0000"/>
                </a:solidFill>
              </a:rPr>
              <a:t> פרטני - זוג מול מדריך  בו אתם מציגים את הקוד, את האיכות שלו  המדריך שואל את שני בני הזוג שאלות עם אופן התכנון, כתיבה נכונה וכו'   גם כ 10  דקות לזוג </a:t>
            </a:r>
          </a:p>
          <a:p>
            <a:pPr marL="457200" lvl="1" indent="0">
              <a:buNone/>
            </a:pPr>
            <a:r>
              <a:rPr lang="he-IL" b="1" dirty="0">
                <a:solidFill>
                  <a:srgbClr val="FF0000"/>
                </a:solidFill>
              </a:rPr>
              <a:t>בהצלחה </a:t>
            </a:r>
          </a:p>
          <a:p>
            <a:pPr marL="0" indent="0" fontAlgn="auto">
              <a:buNone/>
            </a:pPr>
            <a:r>
              <a:rPr lang="he-IL" sz="2100" b="1" dirty="0">
                <a:solidFill>
                  <a:srgbClr val="FF0000"/>
                </a:solidFill>
              </a:rPr>
              <a:t>התהליך </a:t>
            </a:r>
            <a:r>
              <a:rPr lang="he-IL" sz="2100" b="1" dirty="0" err="1">
                <a:solidFill>
                  <a:srgbClr val="FF0000"/>
                </a:solidFill>
              </a:rPr>
              <a:t>יקח</a:t>
            </a:r>
            <a:r>
              <a:rPr lang="he-IL" sz="2100" b="1" dirty="0">
                <a:solidFill>
                  <a:srgbClr val="FF0000"/>
                </a:solidFill>
              </a:rPr>
              <a:t> כשעתיים מתוך הארבע של המפגש,  </a:t>
            </a:r>
          </a:p>
          <a:p>
            <a:pPr marL="857250" lvl="2" indent="0">
              <a:buNone/>
            </a:pPr>
            <a:r>
              <a:rPr lang="he-IL" b="1" dirty="0">
                <a:solidFill>
                  <a:srgbClr val="FF0000"/>
                </a:solidFill>
              </a:rPr>
              <a:t>ראשונות או אחרונות, נדע רק ברגע האחרון </a:t>
            </a:r>
          </a:p>
          <a:p>
            <a:pPr marL="857250" lvl="2" indent="0">
              <a:buNone/>
            </a:pPr>
            <a:r>
              <a:rPr lang="he-IL" b="1" dirty="0">
                <a:solidFill>
                  <a:srgbClr val="FF0000"/>
                </a:solidFill>
              </a:rPr>
              <a:t>שינויים ובקשות </a:t>
            </a:r>
            <a:r>
              <a:rPr lang="he-IL" b="1">
                <a:solidFill>
                  <a:srgbClr val="FF0000"/>
                </a:solidFill>
              </a:rPr>
              <a:t>מיוחדות לזהבית </a:t>
            </a:r>
            <a:endParaRPr lang="he-IL" b="1" dirty="0">
              <a:solidFill>
                <a:srgbClr val="FF0000"/>
              </a:solidFill>
            </a:endParaRPr>
          </a:p>
          <a:p>
            <a:pPr marL="457200" indent="-457200" fontAlgn="auto">
              <a:buFont typeface="+mj-lt"/>
              <a:buAutoNum type="arabicPeriod"/>
            </a:pPr>
            <a:endParaRPr lang="he-IL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3944" y="6162837"/>
            <a:ext cx="6876256" cy="369332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ניתן לבקש לשנות או להקדים מועדים באותו שבוע - אם יש לכם בחינה</a:t>
            </a:r>
          </a:p>
        </p:txBody>
      </p:sp>
    </p:spTree>
    <p:extLst>
      <p:ext uri="{BB962C8B-B14F-4D97-AF65-F5344CB8AC3E}">
        <p14:creationId xmlns:p14="http://schemas.microsoft.com/office/powerpoint/2010/main" val="3594746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260648"/>
            <a:ext cx="5269474" cy="932752"/>
          </a:xfrm>
        </p:spPr>
        <p:txBody>
          <a:bodyPr anchor="t">
            <a:normAutofit/>
          </a:bodyPr>
          <a:lstStyle/>
          <a:p>
            <a:pPr algn="r"/>
            <a:r>
              <a:rPr lang="he-IL" b="1" u="sng" dirty="0">
                <a:solidFill>
                  <a:srgbClr val="3333CC"/>
                </a:solidFill>
              </a:rPr>
              <a:t>הסרטון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978" y="1484784"/>
            <a:ext cx="6952671" cy="3888432"/>
          </a:xfrm>
        </p:spPr>
        <p:txBody>
          <a:bodyPr anchor="t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he-IL" b="1" dirty="0">
                <a:solidFill>
                  <a:srgbClr val="FF0000"/>
                </a:solidFill>
              </a:rPr>
              <a:t>מטרת הסרטון לסכם בדקה את פעילותכם: </a:t>
            </a:r>
          </a:p>
          <a:p>
            <a:pPr marL="457200" indent="-457200">
              <a:buFont typeface="+mj-lt"/>
              <a:buAutoNum type="arabicPeriod"/>
            </a:pPr>
            <a:r>
              <a:rPr lang="he-IL" b="1" dirty="0">
                <a:solidFill>
                  <a:srgbClr val="FF0000"/>
                </a:solidFill>
              </a:rPr>
              <a:t>ניתן להעלותו ליוטיוב –ולשים </a:t>
            </a:r>
            <a:r>
              <a:rPr lang="en-US" b="1" dirty="0">
                <a:solidFill>
                  <a:srgbClr val="FF0000"/>
                </a:solidFill>
              </a:rPr>
              <a:t>LINK </a:t>
            </a:r>
            <a:r>
              <a:rPr lang="he-IL" b="1" dirty="0">
                <a:solidFill>
                  <a:srgbClr val="FF0000"/>
                </a:solidFill>
              </a:rPr>
              <a:t> באתר המעבדה </a:t>
            </a:r>
          </a:p>
          <a:p>
            <a:pPr marL="457200" indent="-457200">
              <a:buFont typeface="+mj-lt"/>
              <a:buAutoNum type="arabicPeriod"/>
            </a:pPr>
            <a:r>
              <a:rPr lang="he-IL" b="1" dirty="0">
                <a:solidFill>
                  <a:srgbClr val="FF0000"/>
                </a:solidFill>
              </a:rPr>
              <a:t>ניתן להשתמש בו בראיון עבודה, 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he-IL" b="1" dirty="0">
                <a:solidFill>
                  <a:srgbClr val="FF0000"/>
                </a:solidFill>
              </a:rPr>
              <a:t>        כל מראיין יסכים לראות סרטון של דקה</a:t>
            </a:r>
          </a:p>
          <a:p>
            <a:pPr marL="457200" indent="-457200">
              <a:buFont typeface="+mj-lt"/>
              <a:buAutoNum type="arabicPeriod"/>
            </a:pPr>
            <a:r>
              <a:rPr lang="he-IL" b="1" dirty="0">
                <a:solidFill>
                  <a:srgbClr val="FF0000"/>
                </a:solidFill>
              </a:rPr>
              <a:t>במשך כדקה עליכם להסביר מה הוא עושה ולעשות הדגמה קטנה שלו </a:t>
            </a:r>
          </a:p>
          <a:p>
            <a:pPr marL="457200" indent="-457200">
              <a:buFont typeface="+mj-lt"/>
              <a:buAutoNum type="arabicPeriod"/>
            </a:pPr>
            <a:r>
              <a:rPr lang="he-IL" b="1" dirty="0">
                <a:solidFill>
                  <a:srgbClr val="FF0000"/>
                </a:solidFill>
              </a:rPr>
              <a:t>ניתן להראות ברקע מסך עם המצגת </a:t>
            </a:r>
          </a:p>
          <a:p>
            <a:pPr marL="457200" indent="-457200">
              <a:buFont typeface="+mj-lt"/>
              <a:buAutoNum type="arabicPeriod"/>
            </a:pPr>
            <a:r>
              <a:rPr lang="he-IL" b="1" dirty="0">
                <a:solidFill>
                  <a:srgbClr val="FF0000"/>
                </a:solidFill>
              </a:rPr>
              <a:t>הקדישו להפקת הסרטון זמן "סביר" ניתן לצלם בפלאפון.</a:t>
            </a:r>
          </a:p>
          <a:p>
            <a:pPr marL="457200" indent="-457200">
              <a:buFont typeface="+mj-lt"/>
              <a:buAutoNum type="arabicPeriod"/>
            </a:pPr>
            <a:endParaRPr lang="he-IL" b="1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he-IL" b="1" dirty="0" err="1">
                <a:solidFill>
                  <a:srgbClr val="FF0000"/>
                </a:solidFill>
              </a:rPr>
              <a:t>השארו</a:t>
            </a:r>
            <a:r>
              <a:rPr lang="he-IL" b="1" dirty="0">
                <a:solidFill>
                  <a:srgbClr val="FF0000"/>
                </a:solidFill>
              </a:rPr>
              <a:t> תמציתיים – אסור לסרטון להמשך יותר מ-90 שניות </a:t>
            </a:r>
          </a:p>
          <a:p>
            <a:pPr marL="457200" indent="-457200">
              <a:buFont typeface="+mj-lt"/>
              <a:buAutoNum type="arabicPeriod"/>
            </a:pPr>
            <a:endParaRPr lang="he-IL" b="1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he-IL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859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>
                <a:solidFill>
                  <a:schemeClr val="bg2">
                    <a:lumMod val="60000"/>
                    <a:lumOff val="40000"/>
                  </a:schemeClr>
                </a:solidFill>
              </a:rPr>
              <a:t>סיכום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31085"/>
            <a:ext cx="8568952" cy="4835627"/>
          </a:xfrm>
        </p:spPr>
        <p:txBody>
          <a:bodyPr>
            <a:normAutofit fontScale="70000" lnSpcReduction="20000"/>
          </a:bodyPr>
          <a:lstStyle/>
          <a:p>
            <a:r>
              <a:rPr lang="he-IL" dirty="0">
                <a:solidFill>
                  <a:schemeClr val="bg2">
                    <a:lumMod val="60000"/>
                    <a:lumOff val="40000"/>
                  </a:schemeClr>
                </a:solidFill>
              </a:rPr>
              <a:t>שקט במעבדה - </a:t>
            </a:r>
            <a:r>
              <a:rPr lang="he-IL" dirty="0"/>
              <a:t>יש לדבג </a:t>
            </a:r>
            <a:r>
              <a:rPr lang="he-IL" b="1" dirty="0"/>
              <a:t> רוב הזמן </a:t>
            </a:r>
            <a:r>
              <a:rPr lang="he-IL" dirty="0"/>
              <a:t> בלי רמקול – השתמשו באוזניות</a:t>
            </a:r>
          </a:p>
          <a:p>
            <a:r>
              <a:rPr lang="he-IL" dirty="0"/>
              <a:t>עבדו ביעילות –</a:t>
            </a:r>
          </a:p>
          <a:p>
            <a:pPr lvl="1"/>
            <a:r>
              <a:rPr lang="he-IL" dirty="0"/>
              <a:t>יש לבחור את סוג הקומפילציה (אנליזה, סינתזה, מלאה) בהתאם לשלב בו מבצעים קומפילציה, על מנת לחסוך בזמן.</a:t>
            </a:r>
          </a:p>
          <a:p>
            <a:pPr lvl="1"/>
            <a:r>
              <a:rPr lang="he-IL" dirty="0"/>
              <a:t>תכננו את עבודתכם, השתמשו בנייר ועפרון, אל תתחילו לכתוב קוד</a:t>
            </a:r>
          </a:p>
          <a:p>
            <a:pPr lvl="1"/>
            <a:r>
              <a:rPr lang="he-IL" dirty="0"/>
              <a:t>התקדמו בשלבים, כל שלב לדבג </a:t>
            </a:r>
            <a:r>
              <a:rPr lang="he-IL" dirty="0" err="1"/>
              <a:t>ולסמלט</a:t>
            </a:r>
            <a:r>
              <a:rPr lang="he-IL" dirty="0"/>
              <a:t>,  לא לקפוץ מהר לסוף </a:t>
            </a:r>
          </a:p>
          <a:p>
            <a:r>
              <a:rPr lang="he-IL" dirty="0"/>
              <a:t>יש </a:t>
            </a:r>
            <a:r>
              <a:rPr lang="he-IL" dirty="0" err="1"/>
              <a:t>לסמלט</a:t>
            </a:r>
            <a:r>
              <a:rPr lang="he-IL" dirty="0"/>
              <a:t>  במידת האפשר בבית ולבוא למעבדה רק כדי להריץ ולדבג</a:t>
            </a:r>
          </a:p>
          <a:p>
            <a:r>
              <a:rPr lang="he-IL" dirty="0"/>
              <a:t>כל סטודנט קיבל כרטיס </a:t>
            </a:r>
            <a:r>
              <a:rPr lang="en-US" dirty="0"/>
              <a:t>FPGA</a:t>
            </a:r>
            <a:r>
              <a:rPr lang="he-IL" dirty="0"/>
              <a:t> , מקלדת , מסך וכבלי </a:t>
            </a:r>
            <a:r>
              <a:rPr lang="he-IL"/>
              <a:t>חיבור ,אנא </a:t>
            </a:r>
            <a:r>
              <a:rPr lang="he-IL" dirty="0"/>
              <a:t>השתמשו בהם בבית </a:t>
            </a:r>
            <a:r>
              <a:rPr lang="he-IL" strike="sngStrike" dirty="0"/>
              <a:t>ומנעו עומס במעבדה</a:t>
            </a:r>
          </a:p>
          <a:p>
            <a:pPr lvl="1"/>
            <a:r>
              <a:rPr lang="he-IL" dirty="0"/>
              <a:t>(וכמובן שמרו עליהם למען הדורות הבאים)</a:t>
            </a:r>
            <a:r>
              <a:rPr lang="en-US" dirty="0"/>
              <a:t> </a:t>
            </a:r>
            <a:r>
              <a:rPr lang="he-IL" dirty="0"/>
              <a:t> </a:t>
            </a:r>
          </a:p>
          <a:p>
            <a:r>
              <a:rPr lang="he-IL" dirty="0"/>
              <a:t>הדוחות אינם לצאת ידי חובה !!!!</a:t>
            </a:r>
          </a:p>
          <a:p>
            <a:pPr lvl="1"/>
            <a:r>
              <a:rPr lang="he-IL" dirty="0"/>
              <a:t>השתמשו ב</a:t>
            </a:r>
            <a:r>
              <a:rPr lang="en-US" dirty="0"/>
              <a:t> SIGNAL TAP </a:t>
            </a:r>
            <a:r>
              <a:rPr lang="he-IL" dirty="0"/>
              <a:t>ובסימולציה, - ולא רק כדי למלא בדו"ח</a:t>
            </a:r>
          </a:p>
          <a:p>
            <a:pPr lvl="1"/>
            <a:r>
              <a:rPr lang="he-IL" dirty="0"/>
              <a:t>התחילו למלא את הדוח </a:t>
            </a:r>
            <a:r>
              <a:rPr lang="he-IL" sz="2400" b="1" dirty="0">
                <a:solidFill>
                  <a:srgbClr val="FF0000"/>
                </a:solidFill>
              </a:rPr>
              <a:t>מיד</a:t>
            </a:r>
            <a:r>
              <a:rPr lang="he-IL" sz="2400" dirty="0">
                <a:solidFill>
                  <a:srgbClr val="FF0000"/>
                </a:solidFill>
              </a:rPr>
              <a:t> </a:t>
            </a:r>
            <a:r>
              <a:rPr lang="he-IL" dirty="0"/>
              <a:t>עם תחילת העבודה על הפרויקט</a:t>
            </a:r>
          </a:p>
          <a:p>
            <a:r>
              <a:rPr lang="he-IL" dirty="0"/>
              <a:t>שמות קבצים וספריות – רק באנגלית וללא רווחים או - </a:t>
            </a:r>
          </a:p>
          <a:p>
            <a:r>
              <a:rPr lang="he-IL" dirty="0"/>
              <a:t>עבודה ב</a:t>
            </a:r>
            <a:r>
              <a:rPr lang="en-US" dirty="0"/>
              <a:t>DESKTOP </a:t>
            </a:r>
            <a:r>
              <a:rPr lang="he-IL" dirty="0"/>
              <a:t> למהירות </a:t>
            </a:r>
          </a:p>
          <a:p>
            <a:r>
              <a:rPr lang="he-IL" dirty="0"/>
              <a:t>לא לשכוח גיבוי, ובכמה מקומות  - בכל סמסטר למישהו נמחקים הקבצים </a:t>
            </a:r>
          </a:p>
          <a:p>
            <a:r>
              <a:rPr lang="he-IL" dirty="0"/>
              <a:t>לא לשכוח לישון,  עבודה של 24 שעות רצופות אינה יעילה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985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ellanoxTheme">
  <a:themeElements>
    <a:clrScheme name="mellanox2018_">
      <a:dk1>
        <a:srgbClr val="000000"/>
      </a:dk1>
      <a:lt1>
        <a:srgbClr val="FFFFFF"/>
      </a:lt1>
      <a:dk2>
        <a:srgbClr val="000000"/>
      </a:dk2>
      <a:lt2>
        <a:srgbClr val="FEFFFF"/>
      </a:lt2>
      <a:accent1>
        <a:srgbClr val="B7BF35"/>
      </a:accent1>
      <a:accent2>
        <a:srgbClr val="0059AB"/>
      </a:accent2>
      <a:accent3>
        <a:srgbClr val="3282AA"/>
      </a:accent3>
      <a:accent4>
        <a:srgbClr val="D8D8D8"/>
      </a:accent4>
      <a:accent5>
        <a:srgbClr val="F8921F"/>
      </a:accent5>
      <a:accent6>
        <a:srgbClr val="5F80C2"/>
      </a:accent6>
      <a:hlink>
        <a:srgbClr val="2D68B4"/>
      </a:hlink>
      <a:folHlink>
        <a:srgbClr val="005AA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>
          <a:noFill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 anchor="ctr" anchorCtr="0">
        <a:spAutoFit/>
      </a:bodyPr>
      <a:lstStyle>
        <a:defPPr algn="ctr">
          <a:defRPr sz="1200" b="0" dirty="0"/>
        </a:defPPr>
      </a:lstStyle>
    </a:txDef>
  </a:objectDefaults>
  <a:extraClrSchemeLst>
    <a:extraClrScheme>
      <a:clrScheme name="mlnx_new_temp_200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3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14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E78A2D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ellanox Template JAN2018 (004)" id="{2C78E2E4-B16E-4044-AE9F-393874944357}" vid="{17C8F753-5DA9-44BD-AC67-F68F5D42F910}"/>
    </a:ext>
  </a:extLst>
</a:theme>
</file>

<file path=ppt/theme/theme2.xml><?xml version="1.0" encoding="utf-8"?>
<a:theme xmlns:a="http://schemas.openxmlformats.org/drawingml/2006/main" name="1_MellanoxTheme">
  <a:themeElements>
    <a:clrScheme name="Custom 1">
      <a:dk1>
        <a:srgbClr val="000000"/>
      </a:dk1>
      <a:lt1>
        <a:srgbClr val="FFFFFF"/>
      </a:lt1>
      <a:dk2>
        <a:srgbClr val="002B60"/>
      </a:dk2>
      <a:lt2>
        <a:srgbClr val="50A1D6"/>
      </a:lt2>
      <a:accent1>
        <a:srgbClr val="00518E"/>
      </a:accent1>
      <a:accent2>
        <a:srgbClr val="5DA533"/>
      </a:accent2>
      <a:accent3>
        <a:srgbClr val="EF9314"/>
      </a:accent3>
      <a:accent4>
        <a:srgbClr val="FF5A00"/>
      </a:accent4>
      <a:accent5>
        <a:srgbClr val="E33D12"/>
      </a:accent5>
      <a:accent6>
        <a:srgbClr val="49305F"/>
      </a:accent6>
      <a:hlink>
        <a:srgbClr val="00518E"/>
      </a:hlink>
      <a:folHlink>
        <a:srgbClr val="4E575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>
          <a:noFill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 anchor="ctr" anchorCtr="0">
        <a:spAutoFit/>
      </a:bodyPr>
      <a:lstStyle>
        <a:defPPr algn="ctr">
          <a:defRPr sz="1200" b="0" dirty="0"/>
        </a:defPPr>
      </a:lstStyle>
    </a:txDef>
  </a:objectDefaults>
  <a:extraClrSchemeLst>
    <a:extraClrScheme>
      <a:clrScheme name="mlnx_new_temp_200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3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14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E78A2D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ellanox Template JAN2018 (004)" id="{2C78E2E4-B16E-4044-AE9F-393874944357}" vid="{17C8F753-5DA9-44BD-AC67-F68F5D42F910}"/>
    </a:ext>
  </a:extLst>
</a:theme>
</file>

<file path=ppt/theme/theme3.xml><?xml version="1.0" encoding="utf-8"?>
<a:theme xmlns:a="http://schemas.openxmlformats.org/drawingml/2006/main" name="1_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4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9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0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6F57573BD25243A62908E1884C8878" ma:contentTypeVersion="18" ma:contentTypeDescription="Create a new document." ma:contentTypeScope="" ma:versionID="caa4132f00120a272b3a77d25d839687">
  <xsd:schema xmlns:xsd="http://www.w3.org/2001/XMLSchema" xmlns:xs="http://www.w3.org/2001/XMLSchema" xmlns:p="http://schemas.microsoft.com/office/2006/metadata/properties" xmlns:ns2="794b8cc0-54bb-4020-a405-f315b09fbb7d" xmlns:ns3="906d636b-5ebb-44d3-a352-63ed8f961290" targetNamespace="http://schemas.microsoft.com/office/2006/metadata/properties" ma:root="true" ma:fieldsID="c774f638c6281742061b83eb57a90e9d" ns2:_="" ns3:_="">
    <xsd:import namespace="794b8cc0-54bb-4020-a405-f315b09fbb7d"/>
    <xsd:import namespace="906d636b-5ebb-44d3-a352-63ed8f96129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TaxCatchAll" minOccurs="0"/>
                <xsd:element ref="ns3:DOC_x0020_Number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4b8cc0-54bb-4020-a405-f315b09fbb7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TaxCatchAll" ma:index="11" nillable="true" ma:displayName="Taxonomy Catch All Column" ma:hidden="true" ma:list="{d5e73155-0922-4b3d-a566-76c575894d94}" ma:internalName="TaxCatchAll" ma:showField="CatchAllData" ma:web="794b8cc0-54bb-4020-a405-f315b09fbb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6d636b-5ebb-44d3-a352-63ed8f961290" elementFormDefault="qualified">
    <xsd:import namespace="http://schemas.microsoft.com/office/2006/documentManagement/types"/>
    <xsd:import namespace="http://schemas.microsoft.com/office/infopath/2007/PartnerControls"/>
    <xsd:element name="DOC_x0020_Number" ma:index="12" nillable="true" ma:displayName="DOC Number" ma:hidden="true" ma:internalName="DOC_x0020_Number" ma:readOnly="fals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LongProperties xmlns="http://schemas.microsoft.com/office/2006/metadata/longProperties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_x0020_Number xmlns="906d636b-5ebb-44d3-a352-63ed8f961290">DOC21436</DOC_x0020_Number>
    <_dlc_DocId xmlns="794b8cc0-54bb-4020-a405-f315b09fbb7d">MLNX5-22367079-115</_dlc_DocId>
    <_dlc_DocIdUrl xmlns="794b8cc0-54bb-4020-a405-f315b09fbb7d">
      <Url>https://mellanox365.sharepoint.com/sites/chipdesign/_layouts/15/DocIdRedir.aspx?ID=MLNX5-22367079-115</Url>
      <Description>MLNX5-22367079-115</Description>
    </_dlc_DocIdUrl>
    <TaxCatchAll xmlns="794b8cc0-54bb-4020-a405-f315b09fbb7d"/>
    <_dlc_DocIdPersistId xmlns="794b8cc0-54bb-4020-a405-f315b09fbb7d" xsi:nil="true"/>
  </documentManagement>
</p:properties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9811AFF9-CD1D-4946-B23A-C7BC4C60CA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4b8cc0-54bb-4020-a405-f315b09fbb7d"/>
    <ds:schemaRef ds:uri="906d636b-5ebb-44d3-a352-63ed8f9612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ADE4E03-4817-46D2-9083-9FF8FC8A444C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8325F0FE-0924-4AE3-A8B5-FAFD92646B2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63E8D87-0B32-43C0-AF21-021BFB827644}">
  <ds:schemaRefs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906d636b-5ebb-44d3-a352-63ed8f961290"/>
    <ds:schemaRef ds:uri="http://schemas.microsoft.com/office/infopath/2007/PartnerControls"/>
    <ds:schemaRef ds:uri="http://schemas.microsoft.com/office/2006/documentManagement/types"/>
    <ds:schemaRef ds:uri="794b8cc0-54bb-4020-a405-f315b09fbb7d"/>
    <ds:schemaRef ds:uri="http://www.w3.org/XML/1998/namespace"/>
    <ds:schemaRef ds:uri="http://purl.org/dc/dcmitype/"/>
  </ds:schemaRefs>
</ds:datastoreItem>
</file>

<file path=customXml/itemProps5.xml><?xml version="1.0" encoding="utf-8"?>
<ds:datastoreItem xmlns:ds="http://schemas.openxmlformats.org/officeDocument/2006/customXml" ds:itemID="{76A62F03-AEFD-4BA5-B879-C18E4EFF769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Ardbeg Nano Controller</Template>
  <TotalTime>4402</TotalTime>
  <Words>2771</Words>
  <Application>Microsoft Office PowerPoint</Application>
  <PresentationFormat>On-screen Show (4:3)</PresentationFormat>
  <Paragraphs>469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Arial</vt:lpstr>
      <vt:lpstr>Arial Narrow Bold</vt:lpstr>
      <vt:lpstr>Calibri</vt:lpstr>
      <vt:lpstr>Calibri Light</vt:lpstr>
      <vt:lpstr>Century Gothic</vt:lpstr>
      <vt:lpstr>Courier New</vt:lpstr>
      <vt:lpstr>Lucida Grande</vt:lpstr>
      <vt:lpstr>Tahoma</vt:lpstr>
      <vt:lpstr>Times New Roman</vt:lpstr>
      <vt:lpstr>Wingdings</vt:lpstr>
      <vt:lpstr>Wingdings 3</vt:lpstr>
      <vt:lpstr>MellanoxTheme</vt:lpstr>
      <vt:lpstr>1_MellanoxTheme</vt:lpstr>
      <vt:lpstr>1_Slice</vt:lpstr>
      <vt:lpstr>Slice</vt:lpstr>
      <vt:lpstr>  Mellanox HDL Good Practice</vt:lpstr>
      <vt:lpstr>About me…</vt:lpstr>
      <vt:lpstr>PowerPoint Presentation</vt:lpstr>
      <vt:lpstr>Motivation</vt:lpstr>
      <vt:lpstr>Good Coding Style Principles</vt:lpstr>
      <vt:lpstr>Hierarchies – modules</vt:lpstr>
      <vt:lpstr>Hierarchies - interface</vt:lpstr>
      <vt:lpstr>Naming Conventions</vt:lpstr>
      <vt:lpstr>Comments – be cheap</vt:lpstr>
      <vt:lpstr>Comments – where to use 1</vt:lpstr>
      <vt:lpstr>Parameters types</vt:lpstr>
      <vt:lpstr>Parameters – enumerated</vt:lpstr>
      <vt:lpstr>General guidelines – Code Sharing</vt:lpstr>
      <vt:lpstr>General guidelines – Code Sharing</vt:lpstr>
      <vt:lpstr>Good Practice – Logic Expressions</vt:lpstr>
      <vt:lpstr>Good Practice – Logic Expressions</vt:lpstr>
      <vt:lpstr>Good Practice – Logic Expressions</vt:lpstr>
      <vt:lpstr>Good Practice - State Machines</vt:lpstr>
      <vt:lpstr>Good Practice - State Machines</vt:lpstr>
      <vt:lpstr>Summary</vt:lpstr>
      <vt:lpstr>PowerPoint Presentation</vt:lpstr>
      <vt:lpstr>פרויקט – הדרכה כללית - מנהלות   </vt:lpstr>
      <vt:lpstr>תכן הירארכי </vt:lpstr>
      <vt:lpstr>תכן הירארכי </vt:lpstr>
      <vt:lpstr>CODE REVIEW </vt:lpstr>
      <vt:lpstr>איכות קוד</vt:lpstr>
      <vt:lpstr>פרויקט – הדרכה כללית - מנהלות   </vt:lpstr>
      <vt:lpstr>דוח סופי</vt:lpstr>
      <vt:lpstr>מלוי הדו"ח  בשלבים</vt:lpstr>
      <vt:lpstr> הערות למצגת ולדוח – להמנע מפונטים קטנים מדי</vt:lpstr>
      <vt:lpstr> הערות למצגת ולדוח – סימולציה ברורה </vt:lpstr>
      <vt:lpstr>הערות למצגת ולדוח – סכמת מלבנים TOP  </vt:lpstr>
      <vt:lpstr>מועד הגשת הפרויקטים</vt:lpstr>
      <vt:lpstr>הסרטון</vt:lpstr>
      <vt:lpstr>סיכום</vt:lpstr>
    </vt:vector>
  </TitlesOfParts>
  <Company>Mellanox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verilog_methodology.ppt</dc:title>
  <dc:creator>hani</dc:creator>
  <cp:lastModifiedBy>Eyal Lev</cp:lastModifiedBy>
  <cp:revision>265</cp:revision>
  <dcterms:created xsi:type="dcterms:W3CDTF">2009-03-29T12:17:36Z</dcterms:created>
  <dcterms:modified xsi:type="dcterms:W3CDTF">2024-11-20T09:19:57Z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MLNX5-111-9</vt:lpwstr>
  </property>
  <property fmtid="{D5CDD505-2E9C-101B-9397-08002B2CF9AE}" pid="3" name="_dlc_DocIdItemGuid">
    <vt:lpwstr>67a3b69a-cfa3-4296-8c4f-4589fb39172b</vt:lpwstr>
  </property>
  <property fmtid="{D5CDD505-2E9C-101B-9397-08002B2CF9AE}" pid="4" name="_dlc_DocIdUrl">
    <vt:lpwstr>https://mellanox365.sharepoint.com/_layouts/15/DocIdRedir.aspx?ID=MLNX5-111-9, MLNX5-111-9</vt:lpwstr>
  </property>
  <property fmtid="{D5CDD505-2E9C-101B-9397-08002B2CF9AE}" pid="5" name="display_urn:schemas-microsoft-com:office:office#Editor">
    <vt:lpwstr>Irit Granovsky</vt:lpwstr>
  </property>
  <property fmtid="{D5CDD505-2E9C-101B-9397-08002B2CF9AE}" pid="6" name="ApprovalOutcome">
    <vt:lpwstr/>
  </property>
  <property fmtid="{D5CDD505-2E9C-101B-9397-08002B2CF9AE}" pid="7" name="lc15ae86e2914bd38ef0beeaac5fd0f8">
    <vt:lpwstr/>
  </property>
  <property fmtid="{D5CDD505-2E9C-101B-9397-08002B2CF9AE}" pid="8" name="gb7abbf445624acab0945d5162548443">
    <vt:lpwstr/>
  </property>
  <property fmtid="{D5CDD505-2E9C-101B-9397-08002B2CF9AE}" pid="9" name="display_urn:schemas-microsoft-com:office:office#Author">
    <vt:lpwstr>Hillel Chapman</vt:lpwstr>
  </property>
  <property fmtid="{D5CDD505-2E9C-101B-9397-08002B2CF9AE}" pid="10" name="i3c7b412a0c043c5aa4ce8272439ba40">
    <vt:lpwstr/>
  </property>
  <property fmtid="{D5CDD505-2E9C-101B-9397-08002B2CF9AE}" pid="11" name="Product_x0020_Category">
    <vt:lpwstr/>
  </property>
  <property fmtid="{D5CDD505-2E9C-101B-9397-08002B2CF9AE}" pid="12" name="Product_x0020_Family">
    <vt:lpwstr/>
  </property>
  <property fmtid="{D5CDD505-2E9C-101B-9397-08002B2CF9AE}" pid="13" name="Document_x0020_Type">
    <vt:lpwstr/>
  </property>
  <property fmtid="{D5CDD505-2E9C-101B-9397-08002B2CF9AE}" pid="14" name="Approvers">
    <vt:lpwstr/>
  </property>
  <property fmtid="{D5CDD505-2E9C-101B-9397-08002B2CF9AE}" pid="15" name="URL">
    <vt:lpwstr/>
  </property>
  <property fmtid="{D5CDD505-2E9C-101B-9397-08002B2CF9AE}" pid="16" name="Product_x0020_Name">
    <vt:lpwstr/>
  </property>
  <property fmtid="{D5CDD505-2E9C-101B-9397-08002B2CF9AE}" pid="17" name="ob0f2669c25f4d35b84445d1e0d91f54">
    <vt:lpwstr/>
  </property>
  <property fmtid="{D5CDD505-2E9C-101B-9397-08002B2CF9AE}" pid="18" name="DOC Number">
    <vt:lpwstr>DOC21436</vt:lpwstr>
  </property>
  <property fmtid="{D5CDD505-2E9C-101B-9397-08002B2CF9AE}" pid="19" name="TaxCatchAll">
    <vt:lpwstr/>
  </property>
  <property fmtid="{D5CDD505-2E9C-101B-9397-08002B2CF9AE}" pid="20" name="IconOverlay">
    <vt:lpwstr/>
  </property>
  <property fmtid="{D5CDD505-2E9C-101B-9397-08002B2CF9AE}" pid="21" name="Product Category">
    <vt:lpwstr/>
  </property>
  <property fmtid="{D5CDD505-2E9C-101B-9397-08002B2CF9AE}" pid="22" name="ContentTypeId">
    <vt:lpwstr>0x010100D76F57573BD25243A62908E1884C8878</vt:lpwstr>
  </property>
  <property fmtid="{D5CDD505-2E9C-101B-9397-08002B2CF9AE}" pid="23" name="Document Type">
    <vt:lpwstr/>
  </property>
  <property fmtid="{D5CDD505-2E9C-101B-9397-08002B2CF9AE}" pid="24" name="Product Name">
    <vt:lpwstr/>
  </property>
  <property fmtid="{D5CDD505-2E9C-101B-9397-08002B2CF9AE}" pid="25" name="Product Family">
    <vt:lpwstr/>
  </property>
</Properties>
</file>